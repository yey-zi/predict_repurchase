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9f459885744b8f" /><Relationship Type="http://schemas.openxmlformats.org/officeDocument/2006/relationships/extended-properties" Target="/docProps/app.xml" Id="R33d0373998e440b3" /><Relationship Type="http://schemas.openxmlformats.org/officeDocument/2006/relationships/officeDocument" Target="/ppt/presentation.xml" Id="Rf2691852de604b79" /></Relationships>
</file>

<file path=ppt/presentation.xml><?xml version="1.0" encoding="utf-8"?>
<p:presentation xmlns:p="http://schemas.openxmlformats.org/presentationml/2006/main">
  <p:sldMasterIdLst>
    <p:sldMasterId xmlns:r="http://schemas.openxmlformats.org/officeDocument/2006/relationships" id="2147483648" r:id="Re866ed8e131d4bb8"/>
  </p:sldMasterIdLst>
  <p:notesMasterIdLst>
    <p:notesMasterId xmlns:r="http://schemas.openxmlformats.org/officeDocument/2006/relationships" r:id="R96215953aa8a4448"/>
  </p:notesMasterIdLst>
  <p:sldIdLst>
    <p:sldId xmlns:r="http://schemas.openxmlformats.org/officeDocument/2006/relationships" id="256" r:id="Rf046ad0ee4db40ed"/>
    <p:sldId xmlns:r="http://schemas.openxmlformats.org/officeDocument/2006/relationships" id="257" r:id="R4416a2f1291a4867"/>
    <p:sldId xmlns:r="http://schemas.openxmlformats.org/officeDocument/2006/relationships" id="258" r:id="R776e6312c4584968"/>
    <p:sldId xmlns:r="http://schemas.openxmlformats.org/officeDocument/2006/relationships" id="259" r:id="R11a4b775595a4333"/>
    <p:sldId xmlns:r="http://schemas.openxmlformats.org/officeDocument/2006/relationships" id="260" r:id="R68ea84b77a0d4fe6"/>
    <p:sldId xmlns:r="http://schemas.openxmlformats.org/officeDocument/2006/relationships" id="261" r:id="R254955d11e0b4a6d"/>
    <p:sldId xmlns:r="http://schemas.openxmlformats.org/officeDocument/2006/relationships" id="262" r:id="R3ba7d8ce8187479f"/>
    <p:sldId xmlns:r="http://schemas.openxmlformats.org/officeDocument/2006/relationships" id="263" r:id="R66853c0ad7a545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204e8e3dce4291" /><Relationship Type="http://schemas.openxmlformats.org/officeDocument/2006/relationships/slideMaster" Target="/ppt/slideMasters/slideMaster1.xml" Id="Re866ed8e131d4bb8" /><Relationship Type="http://schemas.openxmlformats.org/officeDocument/2006/relationships/notesMaster" Target="/ppt/notesMasters/notesMaster1.xml" Id="R96215953aa8a4448" /><Relationship Type="http://schemas.openxmlformats.org/officeDocument/2006/relationships/presProps" Target="/ppt/presProps.xml" Id="R9ee0226d7b3f4bcc" /><Relationship Type="http://schemas.openxmlformats.org/officeDocument/2006/relationships/tableStyles" Target="/ppt/tableStyles.xml" Id="R09b143103d4947fe" /><Relationship Type="http://schemas.openxmlformats.org/officeDocument/2006/relationships/slide" Target="/ppt/slides/slide1.xml" Id="Rf046ad0ee4db40ed" /><Relationship Type="http://schemas.openxmlformats.org/officeDocument/2006/relationships/slide" Target="/ppt/slides/slide2.xml" Id="R4416a2f1291a4867" /><Relationship Type="http://schemas.openxmlformats.org/officeDocument/2006/relationships/slide" Target="/ppt/slides/slide3.xml" Id="R776e6312c4584968" /><Relationship Type="http://schemas.openxmlformats.org/officeDocument/2006/relationships/slide" Target="/ppt/slides/slide4.xml" Id="R11a4b775595a4333" /><Relationship Type="http://schemas.openxmlformats.org/officeDocument/2006/relationships/slide" Target="/ppt/slides/slide5.xml" Id="R68ea84b77a0d4fe6" /><Relationship Type="http://schemas.openxmlformats.org/officeDocument/2006/relationships/slide" Target="/ppt/slides/slide6.xml" Id="R254955d11e0b4a6d" /><Relationship Type="http://schemas.openxmlformats.org/officeDocument/2006/relationships/slide" Target="/ppt/slides/slide7.xml" Id="R3ba7d8ce8187479f" /><Relationship Type="http://schemas.openxmlformats.org/officeDocument/2006/relationships/slide" Target="/ppt/slides/slide8.xml" Id="R66853c0ad7a545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36afe02a134d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0af125e4df4a15" /><Relationship Type="http://schemas.openxmlformats.org/officeDocument/2006/relationships/notesMaster" Target="/ppt/notesMasters/notesMaster1.xml" Id="R59059884246e43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c7bd78138543e6" /><Relationship Type="http://schemas.openxmlformats.org/officeDocument/2006/relationships/notesMaster" Target="/ppt/notesMasters/notesMaster1.xml" Id="R141afdb5a2e84d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b2e4c2043c4b72" /><Relationship Type="http://schemas.openxmlformats.org/officeDocument/2006/relationships/notesMaster" Target="/ppt/notesMasters/notesMaster1.xml" Id="R755538dc83ea44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101817f76f49ff" /><Relationship Type="http://schemas.openxmlformats.org/officeDocument/2006/relationships/notesMaster" Target="/ppt/notesMasters/notesMaster1.xml" Id="Reae4753259544f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c2c6cb3d0c4cec" /><Relationship Type="http://schemas.openxmlformats.org/officeDocument/2006/relationships/notesMaster" Target="/ppt/notesMasters/notesMaster1.xml" Id="Rc56b4ab679e14c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3ec0d6ed804151" /><Relationship Type="http://schemas.openxmlformats.org/officeDocument/2006/relationships/notesMaster" Target="/ppt/notesMasters/notesMaster1.xml" Id="Re91e064833a04d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5b8f3f250246d9" /><Relationship Type="http://schemas.openxmlformats.org/officeDocument/2006/relationships/notesMaster" Target="/ppt/notesMasters/notesMaster1.xml" Id="Re82ba202811245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87ac75085a42d9" /><Relationship Type="http://schemas.openxmlformats.org/officeDocument/2006/relationships/notesMaster" Target="/ppt/notesMasters/notesMaster1.xml" Id="Rd640265e4fb741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TALK TRACK</a:t>
            </a:r>
          </a:p>
          <a:p xmlns:a="http://schemas.openxmlformats.org/drawingml/2006/main">
            <a:r>
              <a:t>We studied whether historical Olist orders help rank existing customers by observed repurchase in the next 90 days. The model has modest ranking value. Customer segments reveal useful differences, but their labels did not improve the later test. This is not evidence that contacting customers causes additional purchases.</a:t>
            </a:r>
          </a:p>
          <a:p xmlns:a="http://schemas.openxmlformats.org/drawingml/2006/main">
            <a:r>
              <a:t/>
            </a:r>
          </a:p>
          <a:p xmlns:a="http://schemas.openxmlformats.org/drawingml/2006/main">
            <a:r>
              <a:t>中文讲解</a:t>
            </a:r>
          </a:p>
          <a:p xmlns:a="http://schemas.openxmlformats.org/drawingml/2006/main">
            <a:r>
              <a:t>研究问题是用过去六个月订单预测未来90天是否再次出现合格订单。结论要分开：有有限排序信号，分群能描述行为，但把群标记加到预测中并没有在后期测试保持提升。</a:t>
            </a:r>
          </a:p>
          <a:p xmlns:a="http://schemas.openxmlformats.org/drawingml/2006/main">
            <a:r>
              <a:t/>
            </a:r>
          </a:p>
          <a:p xmlns:a="http://schemas.openxmlformats.org/drawingml/2006/main">
            <a:r>
              <a:t>Sources</a:t>
            </a:r>
          </a:p>
          <a:p xmlns:a="http://schemas.openxmlformats.org/drawingml/2006/main">
            <a:r>
              <a:t>https://github.com/YeY-zi/Predict_repurchase/blob/main/docs/09-feedback-and-cleaning.md</a:t>
            </a:r>
          </a:p>
          <a:p xmlns:a="http://schemas.openxmlformats.org/drawingml/2006/main">
            <a:r>
              <a:t>https://www.kaggle.com/datasets/olistbr/brazilian-ecommerce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TALK TRACK</a:t>
            </a:r>
          </a:p>
          <a:p xmlns:a="http://schemas.openxmlformats.org/drawingml/2006/main">
            <a:r>
              <a:t>The proposed use is to prioritize a fixed-size list for review. The outcome is an observed new approved, positive-value order in 90 days. We cannot estimate incremental marketing return because these data have no treatment or contact records.</a:t>
            </a:r>
          </a:p>
          <a:p xmlns:a="http://schemas.openxmlformats.org/drawingml/2006/main">
            <a:r>
              <a:t/>
            </a:r>
          </a:p>
          <a:p xmlns:a="http://schemas.openxmlformats.org/drawingml/2006/main">
            <a:r>
              <a:t>中文讲解</a:t>
            </a:r>
          </a:p>
          <a:p xmlns:a="http://schemas.openxmlformats.org/drawingml/2006/main">
            <a:r>
              <a:t>把前10%名单理解为资源有限时的候选名单。标签口径是批准且商品金额大于零的新订单，不是最终净销售，也不是营销增量。</a:t>
            </a:r>
          </a:p>
          <a:p xmlns:a="http://schemas.openxmlformats.org/drawingml/2006/main">
            <a:r>
              <a:t/>
            </a:r>
          </a:p>
          <a:p xmlns:a="http://schemas.openxmlformats.org/drawingml/2006/main">
            <a:r>
              <a:t>Sources</a:t>
            </a:r>
          </a:p>
          <a:p xmlns:a="http://schemas.openxmlformats.org/drawingml/2006/main">
            <a:r>
              <a:t>https://github.com/YeY-zi/Predict_repurchase/blob/main/docs/03-methodology.md</a:t>
            </a:r>
          </a:p>
          <a:p xmlns:a="http://schemas.openxmlformats.org/drawingml/2006/main">
            <a:r>
              <a:t>https://github.com/YeY-zi/Predict_repurchase/blob/main/docs/09-feedback-and-cleaning.md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TALK TRACK</a:t>
            </a:r>
          </a:p>
          <a:p xmlns:a="http://schemas.openxmlformats.org/drawingml/2006/main">
            <a:r>
              <a:t>The three core tables hold 99,441 orders, 112,650 item rows and 99,441 customer records. We validate their hashes and keys. We sum items to order level before joining, then identify buyers using customer_unique_id. The approval-based eligibility rule leaves 98,652 orders. The 160 missing approval times and 775 orders without item rows overlap, so the excluded count is 789, not their sum. We keep raw files unchanged and do not filter on later final status.</a:t>
            </a:r>
          </a:p>
          <a:p xmlns:a="http://schemas.openxmlformats.org/drawingml/2006/main">
            <a:r>
              <a:t/>
            </a:r>
          </a:p>
          <a:p xmlns:a="http://schemas.openxmlformats.org/drawingml/2006/main">
            <a:r>
              <a:t>中文讲解</a:t>
            </a:r>
          </a:p>
          <a:p xmlns:a="http://schemas.openxmlformats.org/drawingml/2006/main">
            <a:r>
              <a:t>清洗重点是先将商品明细按订单汇总，避免一单多行放大金额或订单次数。160个无批准时间与775个无明细订单有交集，总排除789个。最终状态可能是事后信息，所以不用它筛历史样本。</a:t>
            </a:r>
          </a:p>
          <a:p xmlns:a="http://schemas.openxmlformats.org/drawingml/2006/main">
            <a:r>
              <a:t/>
            </a:r>
          </a:p>
          <a:p xmlns:a="http://schemas.openxmlformats.org/drawingml/2006/main">
            <a:r>
              <a:t>Sources</a:t>
            </a:r>
          </a:p>
          <a:p xmlns:a="http://schemas.openxmlformats.org/drawingml/2006/main">
            <a:r>
              <a:t>https://github.com/YeY-zi/Predict_repurchase/blob/main/results/cleaning-audit.json</a:t>
            </a:r>
          </a:p>
          <a:p xmlns:a="http://schemas.openxmlformats.org/drawingml/2006/main">
            <a:r>
              <a:t>https://github.com/YeY-zi/Predict_repurchase/blob/main/scripts/audit_cleaning.py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TALK TRACK</a:t>
            </a:r>
          </a:p>
          <a:p xmlns:a="http://schemas.openxmlformats.org/drawingml/2006/main">
            <a:r>
              <a:t>All features are available before each snapshot date. Training, validation and test use three later dates with non-overlapping 90-day target windows. We choose model variants by validation average precision. The April 2018 cohort was already published by the earlier project, so it cannot be presented as a fresh independent holdout for this extension.</a:t>
            </a:r>
          </a:p>
          <a:p xmlns:a="http://schemas.openxmlformats.org/drawingml/2006/main">
            <a:r>
              <a:t/>
            </a:r>
          </a:p>
          <a:p xmlns:a="http://schemas.openxmlformats.org/drawingml/2006/main">
            <a:r>
              <a:t>中文讲解</a:t>
            </a:r>
          </a:p>
          <a:p xmlns:a="http://schemas.openxmlformats.org/drawingml/2006/main">
            <a:r>
              <a:t>三个快照按时间推进，历史六个月与未来90天严格分开。测试季度以前已经出现在旧实验，新增反馈结果只能算探索性的后期检查。</a:t>
            </a:r>
          </a:p>
          <a:p xmlns:a="http://schemas.openxmlformats.org/drawingml/2006/main">
            <a:r>
              <a:t/>
            </a:r>
          </a:p>
          <a:p xmlns:a="http://schemas.openxmlformats.org/drawingml/2006/main">
            <a:r>
              <a:t>Sources</a:t>
            </a:r>
          </a:p>
          <a:p xmlns:a="http://schemas.openxmlformats.org/drawingml/2006/main">
            <a:r>
              <a:t>https://github.com/YeY-zi/Predict_repurchase/blob/main/results/classification/results.json</a:t>
            </a:r>
          </a:p>
          <a:p xmlns:a="http://schemas.openxmlformats.org/drawingml/2006/main">
            <a:r>
              <a:t>https://github.com/YeY-zi/Predict_repurchase/blob/main/docs/09-feedback-and-cleaning.md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TALK TRACK</a:t>
            </a:r>
          </a:p>
          <a:p xmlns:a="http://schemas.openxmlformats.org/drawingml/2006/main">
            <a:r>
              <a:t>The single-period exploratory comparison used the same 37,813 test customers and a fixed top-decile list of 3,782. Logistic regression found 73 repeaters, versus 45 for the simple recent-purchase ranking. Random forest has the highest overall AP among these candidates, but fewer hits in the chosen 10% list. Metric choice matters. None of these hits are incremental purchases caused by outreach.</a:t>
            </a:r>
          </a:p>
          <a:p xmlns:a="http://schemas.openxmlformats.org/drawingml/2006/main">
            <a:r>
              <a:t/>
            </a:r>
          </a:p>
          <a:p xmlns:a="http://schemas.openxmlformats.org/drawingml/2006/main">
            <a:r>
              <a:t>中文讲解</a:t>
            </a:r>
          </a:p>
          <a:p xmlns:a="http://schemas.openxmlformats.org/drawingml/2006/main">
            <a:r>
              <a:t>同一测试样本比较不同算法。随机森林的整体 AP 略高，但前10%名单命中少于逻辑回归；业务若只能选10%客户，就必须同时看名单指标。</a:t>
            </a:r>
          </a:p>
          <a:p xmlns:a="http://schemas.openxmlformats.org/drawingml/2006/main">
            <a:r>
              <a:t/>
            </a:r>
          </a:p>
          <a:p xmlns:a="http://schemas.openxmlformats.org/drawingml/2006/main">
            <a:r>
              <a:t>Sources</a:t>
            </a:r>
          </a:p>
          <a:p xmlns:a="http://schemas.openxmlformats.org/drawingml/2006/main">
            <a:r>
              <a:t>https://github.com/YeY-zi/Predict_repurchase/blob/main/results/classification/model-comparison.json</a:t>
            </a:r>
          </a:p>
          <a:p xmlns:a="http://schemas.openxmlformats.org/drawingml/2006/main">
            <a:r>
              <a:t>https://github.com/YeY-zi/Predict_repurchase/blob/main/docs/05-results.md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TALK TRACK</a:t>
            </a:r>
          </a:p>
          <a:p xmlns:a="http://schemas.openxmlformats.org/drawingml/2006/main">
            <a:r>
              <a:t>We fit four K-means groups using only training-snapshot RFM, then assign validation and test customers. On validation, Group 3 contains 703 people and 28 observed repeaters. It has a median of two historical orders; other groups have one. The group is descriptively different, but its higher category coverage may partly arise from having more chances to buy. The baseline top-decile list already caught 27 of its 28 repeaters, which hints that a group flag may be redundant.</a:t>
            </a:r>
          </a:p>
          <a:p xmlns:a="http://schemas.openxmlformats.org/drawingml/2006/main">
            <a:r>
              <a:t/>
            </a:r>
          </a:p>
          <a:p xmlns:a="http://schemas.openxmlformats.org/drawingml/2006/main">
            <a:r>
              <a:t>中文讲解</a:t>
            </a:r>
          </a:p>
          <a:p xmlns:a="http://schemas.openxmlformats.org/drawingml/2006/main">
            <a:r>
              <a:t>群3较小，703人，验证复购28人，占3.98%；它的历史 F 中位数为2。初版名单已命中该群28名复购者中的27名，因此群标记可能重复频次信息。</a:t>
            </a:r>
          </a:p>
          <a:p xmlns:a="http://schemas.openxmlformats.org/drawingml/2006/main">
            <a:r>
              <a:t/>
            </a:r>
          </a:p>
          <a:p xmlns:a="http://schemas.openxmlformats.org/drawingml/2006/main">
            <a:r>
              <a:t>Sources</a:t>
            </a:r>
          </a:p>
          <a:p xmlns:a="http://schemas.openxmlformats.org/drawingml/2006/main">
            <a:r>
              <a:t>https://github.com/YeY-zi/Predict_repurchase/blob/main/results/feedback/validation-groups.csv</a:t>
            </a:r>
          </a:p>
          <a:p xmlns:a="http://schemas.openxmlformats.org/drawingml/2006/main">
            <a:r>
              <a:t>https://github.com/YeY-zi/Predict_repurchase/blob/main/results/feedback/results.json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TALK TRACK</a:t>
            </a:r>
          </a:p>
          <a:p xmlns:a="http://schemas.openxmlformats.org/drawingml/2006/main">
            <a:r>
              <a:t>We tested four predefined input variants on validation. The segment-only variant had the highest validation AP, from 0.02596 to 0.02851. After refitting on training plus validation, the previously published April test cohort moved the other way: AP declined from 0.02158 to 0.02094 and top-decile hits declined from 73 to 68. We report the full result and retain the original classifier for demonstration. This is an exploratory extension, not an untouched confirmatory test.</a:t>
            </a:r>
          </a:p>
          <a:p xmlns:a="http://schemas.openxmlformats.org/drawingml/2006/main">
            <a:r>
              <a:t/>
            </a:r>
          </a:p>
          <a:p xmlns:a="http://schemas.openxmlformats.org/drawingml/2006/main">
            <a:r>
              <a:t>中文讲解</a:t>
            </a:r>
          </a:p>
          <a:p xmlns:a="http://schemas.openxmlformats.org/drawingml/2006/main">
            <a:r>
              <a:t>这是最重要的诚实结论：验证期增加群标签看似提升，但后期测试反而下降。保留初版模型，不宣称分群提高了预测。要做真正确认，需要新时期数据或多时间评估。</a:t>
            </a:r>
          </a:p>
          <a:p xmlns:a="http://schemas.openxmlformats.org/drawingml/2006/main">
            <a:r>
              <a:t/>
            </a:r>
          </a:p>
          <a:p xmlns:a="http://schemas.openxmlformats.org/drawingml/2006/main">
            <a:r>
              <a:t>Sources</a:t>
            </a:r>
          </a:p>
          <a:p xmlns:a="http://schemas.openxmlformats.org/drawingml/2006/main">
            <a:r>
              <a:t>https://github.com/YeY-zi/Predict_repurchase/blob/main/results/feedback/model-comparison.csv</a:t>
            </a:r>
          </a:p>
          <a:p xmlns:a="http://schemas.openxmlformats.org/drawingml/2006/main">
            <a:r>
              <a:t>https://github.com/YeY-zi/Predict_repurchase/blob/main/results/feedback/results.json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TALK TRACK</a:t>
            </a:r>
          </a:p>
          <a:p xmlns:a="http://schemas.openxmlformats.org/drawingml/2006/main">
            <a:r>
              <a:t>The model may help prioritize investigation, but even the best current top-decile precision is low because repurchase is rare. We can use group profiles to form service and category-content hypotheses. The next decision requires a randomized outreach test or another credible incremental design, with contact cost and downstream value recorded. Historical 2016 to 2018 orders cannot establish today's performance.</a:t>
            </a:r>
          </a:p>
          <a:p xmlns:a="http://schemas.openxmlformats.org/drawingml/2006/main">
            <a:r>
              <a:t/>
            </a:r>
          </a:p>
          <a:p xmlns:a="http://schemas.openxmlformats.org/drawingml/2006/main">
            <a:r>
              <a:t>中文讲解</a:t>
            </a:r>
          </a:p>
          <a:p xmlns:a="http://schemas.openxmlformats.org/drawingml/2006/main">
            <a:r>
              <a:t>业务建议是形成假设并检验：排名可作为候选名单；历史多单客户可测试不同服务内容；需要随机对照记录接触成本与增量订单。旧数据不能直接部署在今日业务。</a:t>
            </a:r>
          </a:p>
          <a:p xmlns:a="http://schemas.openxmlformats.org/drawingml/2006/main">
            <a:r>
              <a:t/>
            </a:r>
          </a:p>
          <a:p xmlns:a="http://schemas.openxmlformats.org/drawingml/2006/main">
            <a:r>
              <a:t>Sources</a:t>
            </a:r>
          </a:p>
          <a:p xmlns:a="http://schemas.openxmlformats.org/drawingml/2006/main">
            <a:r>
              <a:t>https://github.com/YeY-zi/Predict_repurchase/blob/main/docs/09-feedback-and-cleaning.md</a:t>
            </a:r>
          </a:p>
          <a:p xmlns:a="http://schemas.openxmlformats.org/drawingml/2006/main">
            <a:r>
              <a:t>https://www.kaggle.com/datasets/olistbr/brazilian-ecommerce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04a76fcbca49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03c98c6f3847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45b9297b804c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3ed1964cab4e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df77e5c258d4a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96d7ac26c049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1E4BA2-ADEE-4618-98E7-2EEE8248990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D54968-1892-4C37-AF0B-1A3EB05FA5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3C87FA3-0195-409D-A7BA-6946279B0A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F553C8-925B-4272-845D-C1FDCE5A4C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413590-89E9-4D1D-B006-A4568572555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92BA22-F90A-46DF-A1B0-05F69C490A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EAD423-93DC-466B-AD44-F8A86BE1F19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6C5F69A-2F72-43FA-AD92-BFDF01827A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DC9395-4EB3-41E2-A784-EB986DD9AC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599EDF-C7A7-4755-84D1-8F751BAB47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6a5dce573640e7" /><Relationship Type="http://schemas.openxmlformats.org/officeDocument/2006/relationships/slideLayout" Target="/ppt/slideLayouts/slideLayout1.xml" Id="R9c57948a603048bb" /><Relationship Type="http://schemas.openxmlformats.org/officeDocument/2006/relationships/slideLayout" Target="/ppt/slideLayouts/slideLayout2.xml" Id="R85556b16a2b7432f" /><Relationship Type="http://schemas.openxmlformats.org/officeDocument/2006/relationships/slideLayout" Target="/ppt/slideLayouts/slideLayout3.xml" Id="Rff330dbcf4ac4e69" /><Relationship Type="http://schemas.openxmlformats.org/officeDocument/2006/relationships/slideLayout" Target="/ppt/slideLayouts/slideLayout4.xml" Id="R5e0b6b1e90c84071" /><Relationship Type="http://schemas.openxmlformats.org/officeDocument/2006/relationships/slideLayout" Target="/ppt/slideLayouts/slideLayout5.xml" Id="R269c827a1415401e" /><Relationship Type="http://schemas.openxmlformats.org/officeDocument/2006/relationships/slideLayout" Target="/ppt/slideLayouts/slideLayout6.xml" Id="R10ac2614124e49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57948a603048bb"/>
    <p:sldLayoutId xmlns:r="http://schemas.openxmlformats.org/officeDocument/2006/relationships" id="2147483650" r:id="R85556b16a2b7432f"/>
    <p:sldLayoutId xmlns:r="http://schemas.openxmlformats.org/officeDocument/2006/relationships" id="2147483651" r:id="Rff330dbcf4ac4e69"/>
    <p:sldLayoutId xmlns:r="http://schemas.openxmlformats.org/officeDocument/2006/relationships" id="2147483652" r:id="R5e0b6b1e90c84071"/>
    <p:sldLayoutId xmlns:r="http://schemas.openxmlformats.org/officeDocument/2006/relationships" id="2147483653" r:id="R269c827a1415401e"/>
    <p:sldLayoutId xmlns:r="http://schemas.openxmlformats.org/officeDocument/2006/relationships" id="2147483654" r:id="R10ac2614124e49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b769224eff4d05" /><Relationship Type="http://schemas.openxmlformats.org/officeDocument/2006/relationships/notesSlide" Target="/ppt/notesSlides/notesSlide1.xml" Id="R69220119c09945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28654ed80094d4a" /><Relationship Type="http://schemas.openxmlformats.org/officeDocument/2006/relationships/notesSlide" Target="/ppt/notesSlides/notesSlide2.xml" Id="Rf11d7fccc06a4e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da90021be2b4961" /><Relationship Type="http://schemas.openxmlformats.org/officeDocument/2006/relationships/notesSlide" Target="/ppt/notesSlides/notesSlide3.xml" Id="R7214ef850eb64e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7a7b025698545ca" /><Relationship Type="http://schemas.openxmlformats.org/officeDocument/2006/relationships/notesSlide" Target="/ppt/notesSlides/notesSlide4.xml" Id="R989195ac4c0b49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3ff00169144f35" /><Relationship Type="http://schemas.openxmlformats.org/officeDocument/2006/relationships/notesSlide" Target="/ppt/notesSlides/notesSlide5.xml" Id="Rd2c5157c8aa544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06014c0de574395" /><Relationship Type="http://schemas.openxmlformats.org/officeDocument/2006/relationships/notesSlide" Target="/ppt/notesSlides/notesSlide6.xml" Id="Rd731a28b22f449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9f8c269c81449bc" /><Relationship Type="http://schemas.openxmlformats.org/officeDocument/2006/relationships/notesSlide" Target="/ppt/notesSlides/notesSlide7.xml" Id="R5c5fcec257f448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041f89315554666" /><Relationship Type="http://schemas.openxmlformats.org/officeDocument/2006/relationships/notesSlide" Target="/ppt/notesSlides/notesSlide8.xml" Id="Rb0ed18691faf4ed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yebrow-1">
            <a:extLst xmlns:a="http://schemas.openxmlformats.org/drawingml/2006/main">
              <a:ext uri="{FF2B5EF4-FFF2-40B4-BE49-F238E27FC236}">
                <a16:creationId xmlns:a16="http://schemas.microsoft.com/office/drawing/2014/main" id="{70B3FFAA-01D3-408B-9AEF-CA302AA20CFA}"/>
              </a:ext>
            </a:extLst>
          </p:cNvPr>
          <p:cNvSpPr>
            <a:spLocks xmlns:a="http://schemas.openxmlformats.org/drawingml/2006/main" noGrp="1"/>
          </p:cNvSpPr>
          <p:nvPr/>
        </p:nvSpPr>
        <p:spPr>
          <a:xfrm xmlns:a="http://schemas.openxmlformats.org/drawingml/2006/main">
            <a:off x="647700" y="2667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46895"/>
                </a:solidFill>
                <a:latin typeface="Arial"/>
                <a:ea typeface="Arial"/>
                <a:cs typeface="Arial"/>
              </a:defRPr>
            </a:defPPr>
            <a:lvl1pPr algn="l">
              <a:defRPr sz="1200" b="1">
                <a:solidFill>
                  <a:srgbClr val="246895"/>
                </a:solidFill>
                <a:latin typeface="Arial"/>
                <a:ea typeface="Arial"/>
                <a:cs typeface="Arial"/>
              </a:defRPr>
            </a:lvl1pPr>
            <a:lvl2pPr algn="l">
              <a:defRPr sz="1200" b="1">
                <a:solidFill>
                  <a:srgbClr val="246895"/>
                </a:solidFill>
                <a:latin typeface="Arial"/>
                <a:ea typeface="Arial"/>
                <a:cs typeface="Arial"/>
              </a:defRPr>
            </a:lvl2pPr>
            <a:lvl3pPr algn="l">
              <a:defRPr sz="1200" b="1">
                <a:solidFill>
                  <a:srgbClr val="246895"/>
                </a:solidFill>
                <a:latin typeface="Arial"/>
                <a:ea typeface="Arial"/>
                <a:cs typeface="Arial"/>
              </a:defRPr>
            </a:lvl3pPr>
            <a:lvl4pPr algn="l">
              <a:defRPr sz="1200" b="1">
                <a:solidFill>
                  <a:srgbClr val="246895"/>
                </a:solidFill>
                <a:latin typeface="Arial"/>
                <a:ea typeface="Arial"/>
                <a:cs typeface="Arial"/>
              </a:defRPr>
            </a:lvl4pPr>
            <a:lvl5pPr algn="l">
              <a:defRPr sz="1200" b="1">
                <a:solidFill>
                  <a:srgbClr val="246895"/>
                </a:solidFill>
                <a:latin typeface="Arial"/>
                <a:ea typeface="Arial"/>
                <a:cs typeface="Arial"/>
              </a:defRPr>
            </a:lvl5pPr>
            <a:lvl6pPr algn="l">
              <a:defRPr sz="1200" b="1">
                <a:solidFill>
                  <a:srgbClr val="246895"/>
                </a:solidFill>
                <a:latin typeface="Arial"/>
                <a:ea typeface="Arial"/>
                <a:cs typeface="Arial"/>
              </a:defRPr>
            </a:lvl6pPr>
            <a:lvl7pPr algn="l">
              <a:defRPr sz="1200" b="1">
                <a:solidFill>
                  <a:srgbClr val="246895"/>
                </a:solidFill>
                <a:latin typeface="Arial"/>
                <a:ea typeface="Arial"/>
                <a:cs typeface="Arial"/>
              </a:defRPr>
            </a:lvl7pPr>
            <a:lvl8pPr algn="l">
              <a:defRPr sz="1200" b="1">
                <a:solidFill>
                  <a:srgbClr val="246895"/>
                </a:solidFill>
                <a:latin typeface="Arial"/>
                <a:ea typeface="Arial"/>
                <a:cs typeface="Arial"/>
              </a:defRPr>
            </a:lvl8pPr>
            <a:lvl9pPr algn="l">
              <a:defRPr sz="1200" b="1">
                <a:solidFill>
                  <a:srgbClr val="246895"/>
                </a:solidFill>
                <a:latin typeface="Arial"/>
                <a:ea typeface="Arial"/>
                <a:cs typeface="Arial"/>
              </a:defRPr>
            </a:lvl9pPr>
          </a:lstStyle>
          <a:p xmlns:a="http://schemas.openxmlformats.org/drawingml/2006/main">
            <a:pPr algn="l">
              <a:defRPr sz="1200" b="1">
                <a:solidFill>
                  <a:srgbClr val="246895"/>
                </a:solidFill>
                <a:latin typeface="Arial"/>
                <a:ea typeface="Arial"/>
                <a:cs typeface="Arial"/>
              </a:defRPr>
            </a:pPr>
            <a:r>
              <a:rPr sz="1200" b="1">
                <a:solidFill>
                  <a:srgbClr val="246895"/>
                </a:solidFill>
                <a:latin typeface="Arial"/>
                <a:ea typeface="Arial"/>
                <a:cs typeface="Arial"/>
              </a:rPr>
              <a:t>IS6400  /  OLIST REPURCHASE</a:t>
            </a:r>
          </a:p>
        </p:txBody>
      </p:sp>
      <p:sp>
        <p:nvSpPr>
          <p:cNvPr id="2" name="title-1">
            <a:extLst xmlns:a="http://schemas.openxmlformats.org/drawingml/2006/main">
              <a:ext uri="{FF2B5EF4-FFF2-40B4-BE49-F238E27FC236}">
                <a16:creationId xmlns:a16="http://schemas.microsoft.com/office/drawing/2014/main" id="{B7B7645A-41FB-499C-B686-691B6E0C0C47}"/>
              </a:ext>
            </a:extLst>
          </p:cNvPr>
          <p:cNvSpPr>
            <a:spLocks xmlns:a="http://schemas.openxmlformats.org/drawingml/2006/main" noGrp="1"/>
          </p:cNvSpPr>
          <p:nvPr/>
        </p:nvSpPr>
        <p:spPr>
          <a:xfrm xmlns:a="http://schemas.openxmlformats.org/drawingml/2006/main">
            <a:off x="647700" y="6667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23452"/>
                </a:solidFill>
                <a:latin typeface="Arial"/>
                <a:ea typeface="Arial"/>
                <a:cs typeface="Arial"/>
              </a:defRPr>
            </a:defPPr>
            <a:lvl1pPr algn="l">
              <a:defRPr sz="3225" b="1">
                <a:solidFill>
                  <a:srgbClr val="123452"/>
                </a:solidFill>
                <a:latin typeface="Arial"/>
                <a:ea typeface="Arial"/>
                <a:cs typeface="Arial"/>
              </a:defRPr>
            </a:lvl1pPr>
            <a:lvl2pPr algn="l">
              <a:defRPr sz="3225" b="1">
                <a:solidFill>
                  <a:srgbClr val="123452"/>
                </a:solidFill>
                <a:latin typeface="Arial"/>
                <a:ea typeface="Arial"/>
                <a:cs typeface="Arial"/>
              </a:defRPr>
            </a:lvl2pPr>
            <a:lvl3pPr algn="l">
              <a:defRPr sz="3225" b="1">
                <a:solidFill>
                  <a:srgbClr val="123452"/>
                </a:solidFill>
                <a:latin typeface="Arial"/>
                <a:ea typeface="Arial"/>
                <a:cs typeface="Arial"/>
              </a:defRPr>
            </a:lvl3pPr>
            <a:lvl4pPr algn="l">
              <a:defRPr sz="3225" b="1">
                <a:solidFill>
                  <a:srgbClr val="123452"/>
                </a:solidFill>
                <a:latin typeface="Arial"/>
                <a:ea typeface="Arial"/>
                <a:cs typeface="Arial"/>
              </a:defRPr>
            </a:lvl4pPr>
            <a:lvl5pPr algn="l">
              <a:defRPr sz="3225" b="1">
                <a:solidFill>
                  <a:srgbClr val="123452"/>
                </a:solidFill>
                <a:latin typeface="Arial"/>
                <a:ea typeface="Arial"/>
                <a:cs typeface="Arial"/>
              </a:defRPr>
            </a:lvl5pPr>
            <a:lvl6pPr algn="l">
              <a:defRPr sz="3225" b="1">
                <a:solidFill>
                  <a:srgbClr val="123452"/>
                </a:solidFill>
                <a:latin typeface="Arial"/>
                <a:ea typeface="Arial"/>
                <a:cs typeface="Arial"/>
              </a:defRPr>
            </a:lvl6pPr>
            <a:lvl7pPr algn="l">
              <a:defRPr sz="3225" b="1">
                <a:solidFill>
                  <a:srgbClr val="123452"/>
                </a:solidFill>
                <a:latin typeface="Arial"/>
                <a:ea typeface="Arial"/>
                <a:cs typeface="Arial"/>
              </a:defRPr>
            </a:lvl7pPr>
            <a:lvl8pPr algn="l">
              <a:defRPr sz="3225" b="1">
                <a:solidFill>
                  <a:srgbClr val="123452"/>
                </a:solidFill>
                <a:latin typeface="Arial"/>
                <a:ea typeface="Arial"/>
                <a:cs typeface="Arial"/>
              </a:defRPr>
            </a:lvl8pPr>
            <a:lvl9pPr algn="l">
              <a:defRPr sz="3225" b="1">
                <a:solidFill>
                  <a:srgbClr val="123452"/>
                </a:solidFill>
                <a:latin typeface="Arial"/>
                <a:ea typeface="Arial"/>
                <a:cs typeface="Arial"/>
              </a:defRPr>
            </a:lvl9pPr>
          </a:lstStyle>
          <a:p xmlns:a="http://schemas.openxmlformats.org/drawingml/2006/main">
            <a:pPr algn="l">
              <a:defRPr sz="3225" b="1">
                <a:solidFill>
                  <a:srgbClr val="123452"/>
                </a:solidFill>
                <a:latin typeface="Arial"/>
                <a:ea typeface="Arial"/>
                <a:cs typeface="Arial"/>
              </a:defRPr>
            </a:pPr>
            <a:r>
              <a:rPr sz="3225" b="1">
                <a:solidFill>
                  <a:srgbClr val="123452"/>
                </a:solidFill>
                <a:latin typeface="Arial"/>
                <a:ea typeface="Arial"/>
                <a:cs typeface="Arial"/>
              </a:rPr>
              <a:t>Can past orders identify likely repeat buyers?</a:t>
            </a:r>
          </a:p>
        </p:txBody>
      </p:sp>
      <p:sp>
        <p:nvSpPr>
          <p:cNvPr id="3" name="footer-1">
            <a:extLst xmlns:a="http://schemas.openxmlformats.org/drawingml/2006/main">
              <a:ext uri="{FF2B5EF4-FFF2-40B4-BE49-F238E27FC236}">
                <a16:creationId xmlns:a16="http://schemas.microsoft.com/office/drawing/2014/main" id="{2E954A29-5EE3-4442-9E06-FF06E5A93948}"/>
              </a:ext>
            </a:extLst>
          </p:cNvPr>
          <p:cNvSpPr>
            <a:spLocks xmlns:a="http://schemas.openxmlformats.org/drawingml/2006/main" noGrp="1"/>
          </p:cNvSpPr>
          <p:nvPr/>
        </p:nvSpPr>
        <p:spPr>
          <a:xfrm xmlns:a="http://schemas.openxmlformats.org/drawingml/2006/main">
            <a:off x="647700" y="6248400"/>
            <a:ext cx="923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77C8D"/>
                </a:solidFill>
                <a:latin typeface="Arial"/>
                <a:ea typeface="Arial"/>
                <a:cs typeface="Arial"/>
              </a:defRPr>
            </a:defPPr>
            <a:lvl1pPr algn="l">
              <a:defRPr sz="1125" b="0">
                <a:solidFill>
                  <a:srgbClr val="677C8D"/>
                </a:solidFill>
                <a:latin typeface="Arial"/>
                <a:ea typeface="Arial"/>
                <a:cs typeface="Arial"/>
              </a:defRPr>
            </a:lvl1pPr>
            <a:lvl2pPr algn="l">
              <a:defRPr sz="1125" b="0">
                <a:solidFill>
                  <a:srgbClr val="677C8D"/>
                </a:solidFill>
                <a:latin typeface="Arial"/>
                <a:ea typeface="Arial"/>
                <a:cs typeface="Arial"/>
              </a:defRPr>
            </a:lvl2pPr>
            <a:lvl3pPr algn="l">
              <a:defRPr sz="1125" b="0">
                <a:solidFill>
                  <a:srgbClr val="677C8D"/>
                </a:solidFill>
                <a:latin typeface="Arial"/>
                <a:ea typeface="Arial"/>
                <a:cs typeface="Arial"/>
              </a:defRPr>
            </a:lvl3pPr>
            <a:lvl4pPr algn="l">
              <a:defRPr sz="1125" b="0">
                <a:solidFill>
                  <a:srgbClr val="677C8D"/>
                </a:solidFill>
                <a:latin typeface="Arial"/>
                <a:ea typeface="Arial"/>
                <a:cs typeface="Arial"/>
              </a:defRPr>
            </a:lvl4pPr>
            <a:lvl5pPr algn="l">
              <a:defRPr sz="1125" b="0">
                <a:solidFill>
                  <a:srgbClr val="677C8D"/>
                </a:solidFill>
                <a:latin typeface="Arial"/>
                <a:ea typeface="Arial"/>
                <a:cs typeface="Arial"/>
              </a:defRPr>
            </a:lvl5pPr>
            <a:lvl6pPr algn="l">
              <a:defRPr sz="1125" b="0">
                <a:solidFill>
                  <a:srgbClr val="677C8D"/>
                </a:solidFill>
                <a:latin typeface="Arial"/>
                <a:ea typeface="Arial"/>
                <a:cs typeface="Arial"/>
              </a:defRPr>
            </a:lvl6pPr>
            <a:lvl7pPr algn="l">
              <a:defRPr sz="1125" b="0">
                <a:solidFill>
                  <a:srgbClr val="677C8D"/>
                </a:solidFill>
                <a:latin typeface="Arial"/>
                <a:ea typeface="Arial"/>
                <a:cs typeface="Arial"/>
              </a:defRPr>
            </a:lvl7pPr>
            <a:lvl8pPr algn="l">
              <a:defRPr sz="1125" b="0">
                <a:solidFill>
                  <a:srgbClr val="677C8D"/>
                </a:solidFill>
                <a:latin typeface="Arial"/>
                <a:ea typeface="Arial"/>
                <a:cs typeface="Arial"/>
              </a:defRPr>
            </a:lvl8pPr>
            <a:lvl9pPr algn="l">
              <a:defRPr sz="1125" b="0">
                <a:solidFill>
                  <a:srgbClr val="677C8D"/>
                </a:solidFill>
                <a:latin typeface="Arial"/>
                <a:ea typeface="Arial"/>
                <a:cs typeface="Arial"/>
              </a:defRPr>
            </a:lvl9pPr>
          </a:lstStyle>
          <a:p xmlns:a="http://schemas.openxmlformats.org/drawingml/2006/main">
            <a:pPr algn="l">
              <a:defRPr sz="1125" b="0">
                <a:solidFill>
                  <a:srgbClr val="677C8D"/>
                </a:solidFill>
                <a:latin typeface="Arial"/>
                <a:ea typeface="Arial"/>
                <a:cs typeface="Arial"/>
              </a:defRPr>
            </a:pPr>
            <a:r>
              <a:rPr sz="1125" b="0">
                <a:solidFill>
                  <a:srgbClr val="677C8D"/>
                </a:solidFill>
                <a:latin typeface="Arial"/>
                <a:ea typeface="Arial"/>
                <a:cs typeface="Arial"/>
              </a:rPr>
              <a:t>Olist historical orders, 2016–2018  •  Exploratory evidence</a:t>
            </a:r>
          </a:p>
        </p:txBody>
      </p:sp>
      <p:sp>
        <p:nvSpPr>
          <p:cNvPr id="4" name="page-1">
            <a:extLst xmlns:a="http://schemas.openxmlformats.org/drawingml/2006/main">
              <a:ext uri="{FF2B5EF4-FFF2-40B4-BE49-F238E27FC236}">
                <a16:creationId xmlns:a16="http://schemas.microsoft.com/office/drawing/2014/main" id="{99B4AD35-6D01-4616-9EDD-70487FAED896}"/>
              </a:ext>
            </a:extLst>
          </p:cNvPr>
          <p:cNvSpPr>
            <a:spLocks xmlns:a="http://schemas.openxmlformats.org/drawingml/2006/main" noGrp="1"/>
          </p:cNvSpPr>
          <p:nvPr/>
        </p:nvSpPr>
        <p:spPr>
          <a:xfrm xmlns:a="http://schemas.openxmlformats.org/drawingml/2006/main">
            <a:off x="10763250" y="6248400"/>
            <a:ext cx="76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677C8D"/>
                </a:solidFill>
                <a:latin typeface="Arial"/>
                <a:ea typeface="Arial"/>
                <a:cs typeface="Arial"/>
              </a:defRPr>
            </a:defPPr>
            <a:lvl1pPr algn="r">
              <a:defRPr sz="1125" b="0">
                <a:solidFill>
                  <a:srgbClr val="677C8D"/>
                </a:solidFill>
                <a:latin typeface="Arial"/>
                <a:ea typeface="Arial"/>
                <a:cs typeface="Arial"/>
              </a:defRPr>
            </a:lvl1pPr>
            <a:lvl2pPr algn="r">
              <a:defRPr sz="1125" b="0">
                <a:solidFill>
                  <a:srgbClr val="677C8D"/>
                </a:solidFill>
                <a:latin typeface="Arial"/>
                <a:ea typeface="Arial"/>
                <a:cs typeface="Arial"/>
              </a:defRPr>
            </a:lvl2pPr>
            <a:lvl3pPr algn="r">
              <a:defRPr sz="1125" b="0">
                <a:solidFill>
                  <a:srgbClr val="677C8D"/>
                </a:solidFill>
                <a:latin typeface="Arial"/>
                <a:ea typeface="Arial"/>
                <a:cs typeface="Arial"/>
              </a:defRPr>
            </a:lvl3pPr>
            <a:lvl4pPr algn="r">
              <a:defRPr sz="1125" b="0">
                <a:solidFill>
                  <a:srgbClr val="677C8D"/>
                </a:solidFill>
                <a:latin typeface="Arial"/>
                <a:ea typeface="Arial"/>
                <a:cs typeface="Arial"/>
              </a:defRPr>
            </a:lvl4pPr>
            <a:lvl5pPr algn="r">
              <a:defRPr sz="1125" b="0">
                <a:solidFill>
                  <a:srgbClr val="677C8D"/>
                </a:solidFill>
                <a:latin typeface="Arial"/>
                <a:ea typeface="Arial"/>
                <a:cs typeface="Arial"/>
              </a:defRPr>
            </a:lvl5pPr>
            <a:lvl6pPr algn="r">
              <a:defRPr sz="1125" b="0">
                <a:solidFill>
                  <a:srgbClr val="677C8D"/>
                </a:solidFill>
                <a:latin typeface="Arial"/>
                <a:ea typeface="Arial"/>
                <a:cs typeface="Arial"/>
              </a:defRPr>
            </a:lvl6pPr>
            <a:lvl7pPr algn="r">
              <a:defRPr sz="1125" b="0">
                <a:solidFill>
                  <a:srgbClr val="677C8D"/>
                </a:solidFill>
                <a:latin typeface="Arial"/>
                <a:ea typeface="Arial"/>
                <a:cs typeface="Arial"/>
              </a:defRPr>
            </a:lvl7pPr>
            <a:lvl8pPr algn="r">
              <a:defRPr sz="1125" b="0">
                <a:solidFill>
                  <a:srgbClr val="677C8D"/>
                </a:solidFill>
                <a:latin typeface="Arial"/>
                <a:ea typeface="Arial"/>
                <a:cs typeface="Arial"/>
              </a:defRPr>
            </a:lvl8pPr>
            <a:lvl9pPr algn="r">
              <a:defRPr sz="1125" b="0">
                <a:solidFill>
                  <a:srgbClr val="677C8D"/>
                </a:solidFill>
                <a:latin typeface="Arial"/>
                <a:ea typeface="Arial"/>
                <a:cs typeface="Arial"/>
              </a:defRPr>
            </a:lvl9pPr>
          </a:lstStyle>
          <a:p xmlns:a="http://schemas.openxmlformats.org/drawingml/2006/main">
            <a:pPr algn="r">
              <a:defRPr sz="1125" b="0">
                <a:solidFill>
                  <a:srgbClr val="677C8D"/>
                </a:solidFill>
                <a:latin typeface="Arial"/>
                <a:ea typeface="Arial"/>
                <a:cs typeface="Arial"/>
              </a:defRPr>
            </a:pPr>
            <a:r>
              <a:rPr sz="1125" b="0">
                <a:solidFill>
                  <a:srgbClr val="677C8D"/>
                </a:solidFill>
                <a:latin typeface="Arial"/>
                <a:ea typeface="Arial"/>
                <a:cs typeface="Arial"/>
              </a:rPr>
              <a:t>1 / 8</a:t>
            </a:r>
          </a:p>
        </p:txBody>
      </p:sp>
      <p:sp>
        <p:nvSpPr>
          <p:cNvPr id="5" name="scope">
            <a:extLst xmlns:a="http://schemas.openxmlformats.org/drawingml/2006/main">
              <a:ext uri="{FF2B5EF4-FFF2-40B4-BE49-F238E27FC236}">
                <a16:creationId xmlns:a16="http://schemas.microsoft.com/office/drawing/2014/main" id="{9A8466F1-BC41-4FFB-ADF0-F1B78CD42083}"/>
              </a:ext>
            </a:extLst>
          </p:cNvPr>
          <p:cNvSpPr>
            <a:spLocks xmlns:a="http://schemas.openxmlformats.org/drawingml/2006/main" noGrp="1"/>
          </p:cNvSpPr>
          <p:nvPr/>
        </p:nvSpPr>
        <p:spPr>
          <a:xfrm xmlns:a="http://schemas.openxmlformats.org/drawingml/2006/main">
            <a:off x="685800" y="169545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476072"/>
                </a:solidFill>
                <a:latin typeface="Arial"/>
                <a:ea typeface="Arial"/>
                <a:cs typeface="Arial"/>
              </a:defRPr>
            </a:defPPr>
            <a:lvl1pPr algn="l">
              <a:defRPr sz="2250" b="0">
                <a:solidFill>
                  <a:srgbClr val="476072"/>
                </a:solidFill>
                <a:latin typeface="Arial"/>
                <a:ea typeface="Arial"/>
                <a:cs typeface="Arial"/>
              </a:defRPr>
            </a:lvl1pPr>
            <a:lvl2pPr algn="l">
              <a:defRPr sz="2250" b="0">
                <a:solidFill>
                  <a:srgbClr val="476072"/>
                </a:solidFill>
                <a:latin typeface="Arial"/>
                <a:ea typeface="Arial"/>
                <a:cs typeface="Arial"/>
              </a:defRPr>
            </a:lvl2pPr>
            <a:lvl3pPr algn="l">
              <a:defRPr sz="2250" b="0">
                <a:solidFill>
                  <a:srgbClr val="476072"/>
                </a:solidFill>
                <a:latin typeface="Arial"/>
                <a:ea typeface="Arial"/>
                <a:cs typeface="Arial"/>
              </a:defRPr>
            </a:lvl3pPr>
            <a:lvl4pPr algn="l">
              <a:defRPr sz="2250" b="0">
                <a:solidFill>
                  <a:srgbClr val="476072"/>
                </a:solidFill>
                <a:latin typeface="Arial"/>
                <a:ea typeface="Arial"/>
                <a:cs typeface="Arial"/>
              </a:defRPr>
            </a:lvl4pPr>
            <a:lvl5pPr algn="l">
              <a:defRPr sz="2250" b="0">
                <a:solidFill>
                  <a:srgbClr val="476072"/>
                </a:solidFill>
                <a:latin typeface="Arial"/>
                <a:ea typeface="Arial"/>
                <a:cs typeface="Arial"/>
              </a:defRPr>
            </a:lvl5pPr>
            <a:lvl6pPr algn="l">
              <a:defRPr sz="2250" b="0">
                <a:solidFill>
                  <a:srgbClr val="476072"/>
                </a:solidFill>
                <a:latin typeface="Arial"/>
                <a:ea typeface="Arial"/>
                <a:cs typeface="Arial"/>
              </a:defRPr>
            </a:lvl6pPr>
            <a:lvl7pPr algn="l">
              <a:defRPr sz="2250" b="0">
                <a:solidFill>
                  <a:srgbClr val="476072"/>
                </a:solidFill>
                <a:latin typeface="Arial"/>
                <a:ea typeface="Arial"/>
                <a:cs typeface="Arial"/>
              </a:defRPr>
            </a:lvl7pPr>
            <a:lvl8pPr algn="l">
              <a:defRPr sz="2250" b="0">
                <a:solidFill>
                  <a:srgbClr val="476072"/>
                </a:solidFill>
                <a:latin typeface="Arial"/>
                <a:ea typeface="Arial"/>
                <a:cs typeface="Arial"/>
              </a:defRPr>
            </a:lvl8pPr>
            <a:lvl9pPr algn="l">
              <a:defRPr sz="2250" b="0">
                <a:solidFill>
                  <a:srgbClr val="476072"/>
                </a:solidFill>
                <a:latin typeface="Arial"/>
                <a:ea typeface="Arial"/>
                <a:cs typeface="Arial"/>
              </a:defRPr>
            </a:lvl9pPr>
          </a:lstStyle>
          <a:p xmlns:a="http://schemas.openxmlformats.org/drawingml/2006/main">
            <a:pPr algn="l">
              <a:defRPr sz="2250" b="0">
                <a:solidFill>
                  <a:srgbClr val="476072"/>
                </a:solidFill>
                <a:latin typeface="Arial"/>
                <a:ea typeface="Arial"/>
                <a:cs typeface="Arial"/>
              </a:defRPr>
            </a:pPr>
            <a:r>
              <a:rPr sz="2250" b="0">
                <a:solidFill>
                  <a:srgbClr val="476072"/>
                </a:solidFill>
                <a:latin typeface="Arial"/>
                <a:ea typeface="Arial"/>
                <a:cs typeface="Arial"/>
              </a:rPr>
              <a:t>Existing customers  •  6 months of history  •  next 90 days</a:t>
            </a:r>
          </a:p>
        </p:txBody>
      </p:sp>
      <p:sp>
        <p:nvSpPr>
          <p:cNvPr id="6" name="finding">
            <a:extLst xmlns:a="http://schemas.openxmlformats.org/drawingml/2006/main">
              <a:ext uri="{FF2B5EF4-FFF2-40B4-BE49-F238E27FC236}">
                <a16:creationId xmlns:a16="http://schemas.microsoft.com/office/drawing/2014/main" id="{6364B6BD-8688-4D88-9023-B655EB95BA14}"/>
              </a:ext>
            </a:extLst>
          </p:cNvPr>
          <p:cNvSpPr>
            <a:spLocks xmlns:a="http://schemas.openxmlformats.org/drawingml/2006/main" noGrp="1"/>
          </p:cNvSpPr>
          <p:nvPr/>
        </p:nvSpPr>
        <p:spPr>
          <a:xfrm xmlns:a="http://schemas.openxmlformats.org/drawingml/2006/main">
            <a:off x="685800" y="2800350"/>
            <a:ext cx="1028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75" b="1">
                <a:solidFill>
                  <a:srgbClr val="123452"/>
                </a:solidFill>
                <a:latin typeface="Arial"/>
                <a:ea typeface="Arial"/>
                <a:cs typeface="Arial"/>
              </a:defRPr>
            </a:defPPr>
            <a:lvl1pPr algn="l">
              <a:defRPr sz="3375" b="1">
                <a:solidFill>
                  <a:srgbClr val="123452"/>
                </a:solidFill>
                <a:latin typeface="Arial"/>
                <a:ea typeface="Arial"/>
                <a:cs typeface="Arial"/>
              </a:defRPr>
            </a:lvl1pPr>
            <a:lvl2pPr algn="l">
              <a:defRPr sz="3375" b="1">
                <a:solidFill>
                  <a:srgbClr val="123452"/>
                </a:solidFill>
                <a:latin typeface="Arial"/>
                <a:ea typeface="Arial"/>
                <a:cs typeface="Arial"/>
              </a:defRPr>
            </a:lvl2pPr>
            <a:lvl3pPr algn="l">
              <a:defRPr sz="3375" b="1">
                <a:solidFill>
                  <a:srgbClr val="123452"/>
                </a:solidFill>
                <a:latin typeface="Arial"/>
                <a:ea typeface="Arial"/>
                <a:cs typeface="Arial"/>
              </a:defRPr>
            </a:lvl3pPr>
            <a:lvl4pPr algn="l">
              <a:defRPr sz="3375" b="1">
                <a:solidFill>
                  <a:srgbClr val="123452"/>
                </a:solidFill>
                <a:latin typeface="Arial"/>
                <a:ea typeface="Arial"/>
                <a:cs typeface="Arial"/>
              </a:defRPr>
            </a:lvl4pPr>
            <a:lvl5pPr algn="l">
              <a:defRPr sz="3375" b="1">
                <a:solidFill>
                  <a:srgbClr val="123452"/>
                </a:solidFill>
                <a:latin typeface="Arial"/>
                <a:ea typeface="Arial"/>
                <a:cs typeface="Arial"/>
              </a:defRPr>
            </a:lvl5pPr>
            <a:lvl6pPr algn="l">
              <a:defRPr sz="3375" b="1">
                <a:solidFill>
                  <a:srgbClr val="123452"/>
                </a:solidFill>
                <a:latin typeface="Arial"/>
                <a:ea typeface="Arial"/>
                <a:cs typeface="Arial"/>
              </a:defRPr>
            </a:lvl6pPr>
            <a:lvl7pPr algn="l">
              <a:defRPr sz="3375" b="1">
                <a:solidFill>
                  <a:srgbClr val="123452"/>
                </a:solidFill>
                <a:latin typeface="Arial"/>
                <a:ea typeface="Arial"/>
                <a:cs typeface="Arial"/>
              </a:defRPr>
            </a:lvl7pPr>
            <a:lvl8pPr algn="l">
              <a:defRPr sz="3375" b="1">
                <a:solidFill>
                  <a:srgbClr val="123452"/>
                </a:solidFill>
                <a:latin typeface="Arial"/>
                <a:ea typeface="Arial"/>
                <a:cs typeface="Arial"/>
              </a:defRPr>
            </a:lvl8pPr>
            <a:lvl9pPr algn="l">
              <a:defRPr sz="3375" b="1">
                <a:solidFill>
                  <a:srgbClr val="123452"/>
                </a:solidFill>
                <a:latin typeface="Arial"/>
                <a:ea typeface="Arial"/>
                <a:cs typeface="Arial"/>
              </a:defRPr>
            </a:lvl9pPr>
          </a:lstStyle>
          <a:p xmlns:a="http://schemas.openxmlformats.org/drawingml/2006/main">
            <a:pPr algn="l">
              <a:defRPr sz="3375" b="1">
                <a:solidFill>
                  <a:srgbClr val="123452"/>
                </a:solidFill>
                <a:latin typeface="Arial"/>
                <a:ea typeface="Arial"/>
                <a:cs typeface="Arial"/>
              </a:defRPr>
            </a:pPr>
            <a:r>
              <a:rPr sz="3375" b="1">
                <a:solidFill>
                  <a:srgbClr val="123452"/>
                </a:solidFill>
                <a:latin typeface="Arial"/>
                <a:ea typeface="Arial"/>
                <a:cs typeface="Arial"/>
              </a:rPr>
              <a:t>The ranking contains signal; adding segment labels did not improve the later test.</a:t>
            </a:r>
          </a:p>
        </p:txBody>
      </p:sp>
      <p:sp>
        <p:nvSpPr>
          <p:cNvPr id="7" name="boundary">
            <a:extLst xmlns:a="http://schemas.openxmlformats.org/drawingml/2006/main">
              <a:ext uri="{FF2B5EF4-FFF2-40B4-BE49-F238E27FC236}">
                <a16:creationId xmlns:a16="http://schemas.microsoft.com/office/drawing/2014/main" id="{2DB55ECE-E7C8-4A8F-AE9F-D039C801C589}"/>
              </a:ext>
            </a:extLst>
          </p:cNvPr>
          <p:cNvSpPr>
            <a:spLocks xmlns:a="http://schemas.openxmlformats.org/drawingml/2006/main" noGrp="1"/>
          </p:cNvSpPr>
          <p:nvPr/>
        </p:nvSpPr>
        <p:spPr>
          <a:xfrm xmlns:a="http://schemas.openxmlformats.org/drawingml/2006/main">
            <a:off x="685800" y="5095875"/>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A94842"/>
                </a:solidFill>
                <a:latin typeface="Arial"/>
                <a:ea typeface="Arial"/>
                <a:cs typeface="Arial"/>
              </a:defRPr>
            </a:defPPr>
            <a:lvl1pPr algn="l">
              <a:defRPr sz="1875" b="1">
                <a:solidFill>
                  <a:srgbClr val="A94842"/>
                </a:solidFill>
                <a:latin typeface="Arial"/>
                <a:ea typeface="Arial"/>
                <a:cs typeface="Arial"/>
              </a:defRPr>
            </a:lvl1pPr>
            <a:lvl2pPr algn="l">
              <a:defRPr sz="1875" b="1">
                <a:solidFill>
                  <a:srgbClr val="A94842"/>
                </a:solidFill>
                <a:latin typeface="Arial"/>
                <a:ea typeface="Arial"/>
                <a:cs typeface="Arial"/>
              </a:defRPr>
            </a:lvl2pPr>
            <a:lvl3pPr algn="l">
              <a:defRPr sz="1875" b="1">
                <a:solidFill>
                  <a:srgbClr val="A94842"/>
                </a:solidFill>
                <a:latin typeface="Arial"/>
                <a:ea typeface="Arial"/>
                <a:cs typeface="Arial"/>
              </a:defRPr>
            </a:lvl3pPr>
            <a:lvl4pPr algn="l">
              <a:defRPr sz="1875" b="1">
                <a:solidFill>
                  <a:srgbClr val="A94842"/>
                </a:solidFill>
                <a:latin typeface="Arial"/>
                <a:ea typeface="Arial"/>
                <a:cs typeface="Arial"/>
              </a:defRPr>
            </a:lvl4pPr>
            <a:lvl5pPr algn="l">
              <a:defRPr sz="1875" b="1">
                <a:solidFill>
                  <a:srgbClr val="A94842"/>
                </a:solidFill>
                <a:latin typeface="Arial"/>
                <a:ea typeface="Arial"/>
                <a:cs typeface="Arial"/>
              </a:defRPr>
            </a:lvl5pPr>
            <a:lvl6pPr algn="l">
              <a:defRPr sz="1875" b="1">
                <a:solidFill>
                  <a:srgbClr val="A94842"/>
                </a:solidFill>
                <a:latin typeface="Arial"/>
                <a:ea typeface="Arial"/>
                <a:cs typeface="Arial"/>
              </a:defRPr>
            </a:lvl6pPr>
            <a:lvl7pPr algn="l">
              <a:defRPr sz="1875" b="1">
                <a:solidFill>
                  <a:srgbClr val="A94842"/>
                </a:solidFill>
                <a:latin typeface="Arial"/>
                <a:ea typeface="Arial"/>
                <a:cs typeface="Arial"/>
              </a:defRPr>
            </a:lvl7pPr>
            <a:lvl8pPr algn="l">
              <a:defRPr sz="1875" b="1">
                <a:solidFill>
                  <a:srgbClr val="A94842"/>
                </a:solidFill>
                <a:latin typeface="Arial"/>
                <a:ea typeface="Arial"/>
                <a:cs typeface="Arial"/>
              </a:defRPr>
            </a:lvl8pPr>
            <a:lvl9pPr algn="l">
              <a:defRPr sz="1875" b="1">
                <a:solidFill>
                  <a:srgbClr val="A94842"/>
                </a:solidFill>
                <a:latin typeface="Arial"/>
                <a:ea typeface="Arial"/>
                <a:cs typeface="Arial"/>
              </a:defRPr>
            </a:lvl9pPr>
          </a:lstStyle>
          <a:p xmlns:a="http://schemas.openxmlformats.org/drawingml/2006/main">
            <a:pPr algn="l">
              <a:defRPr sz="1875" b="1">
                <a:solidFill>
                  <a:srgbClr val="A94842"/>
                </a:solidFill>
                <a:latin typeface="Arial"/>
                <a:ea typeface="Arial"/>
                <a:cs typeface="Arial"/>
              </a:defRPr>
            </a:pPr>
            <a:r>
              <a:rPr sz="1875" b="1">
                <a:solidFill>
                  <a:srgbClr val="A94842"/>
                </a:solidFill>
                <a:latin typeface="Arial"/>
                <a:ea typeface="Arial"/>
                <a:cs typeface="Arial"/>
              </a:rPr>
              <a:t>A predicted purchase is not a purchase caused by marketing.</a:t>
            </a:r>
          </a:p>
        </p:txBody>
      </p:sp>
    </p:spTree>
    <p:extLst>
      <p:ext uri="{BB962C8B-B14F-4D97-AF65-F5344CB8AC3E}">
        <p14:creationId xmlns:p14="http://schemas.microsoft.com/office/powerpoint/2010/main" val="8768520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yebrow-2">
            <a:extLst xmlns:a="http://schemas.openxmlformats.org/drawingml/2006/main">
              <a:ext uri="{FF2B5EF4-FFF2-40B4-BE49-F238E27FC236}">
                <a16:creationId xmlns:a16="http://schemas.microsoft.com/office/drawing/2014/main" id="{94204D7F-7F85-40AE-BA1F-480752B1F744}"/>
              </a:ext>
            </a:extLst>
          </p:cNvPr>
          <p:cNvSpPr>
            <a:spLocks xmlns:a="http://schemas.openxmlformats.org/drawingml/2006/main" noGrp="1"/>
          </p:cNvSpPr>
          <p:nvPr/>
        </p:nvSpPr>
        <p:spPr>
          <a:xfrm xmlns:a="http://schemas.openxmlformats.org/drawingml/2006/main">
            <a:off x="647700" y="2667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46895"/>
                </a:solidFill>
                <a:latin typeface="Arial"/>
                <a:ea typeface="Arial"/>
                <a:cs typeface="Arial"/>
              </a:defRPr>
            </a:defPPr>
            <a:lvl1pPr algn="l">
              <a:defRPr sz="1200" b="1">
                <a:solidFill>
                  <a:srgbClr val="246895"/>
                </a:solidFill>
                <a:latin typeface="Arial"/>
                <a:ea typeface="Arial"/>
                <a:cs typeface="Arial"/>
              </a:defRPr>
            </a:lvl1pPr>
            <a:lvl2pPr algn="l">
              <a:defRPr sz="1200" b="1">
                <a:solidFill>
                  <a:srgbClr val="246895"/>
                </a:solidFill>
                <a:latin typeface="Arial"/>
                <a:ea typeface="Arial"/>
                <a:cs typeface="Arial"/>
              </a:defRPr>
            </a:lvl2pPr>
            <a:lvl3pPr algn="l">
              <a:defRPr sz="1200" b="1">
                <a:solidFill>
                  <a:srgbClr val="246895"/>
                </a:solidFill>
                <a:latin typeface="Arial"/>
                <a:ea typeface="Arial"/>
                <a:cs typeface="Arial"/>
              </a:defRPr>
            </a:lvl3pPr>
            <a:lvl4pPr algn="l">
              <a:defRPr sz="1200" b="1">
                <a:solidFill>
                  <a:srgbClr val="246895"/>
                </a:solidFill>
                <a:latin typeface="Arial"/>
                <a:ea typeface="Arial"/>
                <a:cs typeface="Arial"/>
              </a:defRPr>
            </a:lvl4pPr>
            <a:lvl5pPr algn="l">
              <a:defRPr sz="1200" b="1">
                <a:solidFill>
                  <a:srgbClr val="246895"/>
                </a:solidFill>
                <a:latin typeface="Arial"/>
                <a:ea typeface="Arial"/>
                <a:cs typeface="Arial"/>
              </a:defRPr>
            </a:lvl5pPr>
            <a:lvl6pPr algn="l">
              <a:defRPr sz="1200" b="1">
                <a:solidFill>
                  <a:srgbClr val="246895"/>
                </a:solidFill>
                <a:latin typeface="Arial"/>
                <a:ea typeface="Arial"/>
                <a:cs typeface="Arial"/>
              </a:defRPr>
            </a:lvl6pPr>
            <a:lvl7pPr algn="l">
              <a:defRPr sz="1200" b="1">
                <a:solidFill>
                  <a:srgbClr val="246895"/>
                </a:solidFill>
                <a:latin typeface="Arial"/>
                <a:ea typeface="Arial"/>
                <a:cs typeface="Arial"/>
              </a:defRPr>
            </a:lvl7pPr>
            <a:lvl8pPr algn="l">
              <a:defRPr sz="1200" b="1">
                <a:solidFill>
                  <a:srgbClr val="246895"/>
                </a:solidFill>
                <a:latin typeface="Arial"/>
                <a:ea typeface="Arial"/>
                <a:cs typeface="Arial"/>
              </a:defRPr>
            </a:lvl8pPr>
            <a:lvl9pPr algn="l">
              <a:defRPr sz="1200" b="1">
                <a:solidFill>
                  <a:srgbClr val="246895"/>
                </a:solidFill>
                <a:latin typeface="Arial"/>
                <a:ea typeface="Arial"/>
                <a:cs typeface="Arial"/>
              </a:defRPr>
            </a:lvl9pPr>
          </a:lstStyle>
          <a:p xmlns:a="http://schemas.openxmlformats.org/drawingml/2006/main">
            <a:pPr algn="l">
              <a:defRPr sz="1200" b="1">
                <a:solidFill>
                  <a:srgbClr val="246895"/>
                </a:solidFill>
                <a:latin typeface="Arial"/>
                <a:ea typeface="Arial"/>
                <a:cs typeface="Arial"/>
              </a:defRPr>
            </a:pPr>
            <a:r>
              <a:rPr sz="1200" b="1">
                <a:solidFill>
                  <a:srgbClr val="246895"/>
                </a:solidFill>
                <a:latin typeface="Arial"/>
                <a:ea typeface="Arial"/>
                <a:cs typeface="Arial"/>
              </a:rPr>
              <a:t>IS6400  /  OLIST REPURCHASE</a:t>
            </a:r>
          </a:p>
        </p:txBody>
      </p:sp>
      <p:sp>
        <p:nvSpPr>
          <p:cNvPr id="2" name="title-2">
            <a:extLst xmlns:a="http://schemas.openxmlformats.org/drawingml/2006/main">
              <a:ext uri="{FF2B5EF4-FFF2-40B4-BE49-F238E27FC236}">
                <a16:creationId xmlns:a16="http://schemas.microsoft.com/office/drawing/2014/main" id="{F44CB278-5EBD-4D87-B3C1-0913C1834692}"/>
              </a:ext>
            </a:extLst>
          </p:cNvPr>
          <p:cNvSpPr>
            <a:spLocks xmlns:a="http://schemas.openxmlformats.org/drawingml/2006/main" noGrp="1"/>
          </p:cNvSpPr>
          <p:nvPr/>
        </p:nvSpPr>
        <p:spPr>
          <a:xfrm xmlns:a="http://schemas.openxmlformats.org/drawingml/2006/main">
            <a:off x="647700" y="6667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23452"/>
                </a:solidFill>
                <a:latin typeface="Arial"/>
                <a:ea typeface="Arial"/>
                <a:cs typeface="Arial"/>
              </a:defRPr>
            </a:defPPr>
            <a:lvl1pPr algn="l">
              <a:defRPr sz="3225" b="1">
                <a:solidFill>
                  <a:srgbClr val="123452"/>
                </a:solidFill>
                <a:latin typeface="Arial"/>
                <a:ea typeface="Arial"/>
                <a:cs typeface="Arial"/>
              </a:defRPr>
            </a:lvl1pPr>
            <a:lvl2pPr algn="l">
              <a:defRPr sz="3225" b="1">
                <a:solidFill>
                  <a:srgbClr val="123452"/>
                </a:solidFill>
                <a:latin typeface="Arial"/>
                <a:ea typeface="Arial"/>
                <a:cs typeface="Arial"/>
              </a:defRPr>
            </a:lvl2pPr>
            <a:lvl3pPr algn="l">
              <a:defRPr sz="3225" b="1">
                <a:solidFill>
                  <a:srgbClr val="123452"/>
                </a:solidFill>
                <a:latin typeface="Arial"/>
                <a:ea typeface="Arial"/>
                <a:cs typeface="Arial"/>
              </a:defRPr>
            </a:lvl3pPr>
            <a:lvl4pPr algn="l">
              <a:defRPr sz="3225" b="1">
                <a:solidFill>
                  <a:srgbClr val="123452"/>
                </a:solidFill>
                <a:latin typeface="Arial"/>
                <a:ea typeface="Arial"/>
                <a:cs typeface="Arial"/>
              </a:defRPr>
            </a:lvl4pPr>
            <a:lvl5pPr algn="l">
              <a:defRPr sz="3225" b="1">
                <a:solidFill>
                  <a:srgbClr val="123452"/>
                </a:solidFill>
                <a:latin typeface="Arial"/>
                <a:ea typeface="Arial"/>
                <a:cs typeface="Arial"/>
              </a:defRPr>
            </a:lvl5pPr>
            <a:lvl6pPr algn="l">
              <a:defRPr sz="3225" b="1">
                <a:solidFill>
                  <a:srgbClr val="123452"/>
                </a:solidFill>
                <a:latin typeface="Arial"/>
                <a:ea typeface="Arial"/>
                <a:cs typeface="Arial"/>
              </a:defRPr>
            </a:lvl6pPr>
            <a:lvl7pPr algn="l">
              <a:defRPr sz="3225" b="1">
                <a:solidFill>
                  <a:srgbClr val="123452"/>
                </a:solidFill>
                <a:latin typeface="Arial"/>
                <a:ea typeface="Arial"/>
                <a:cs typeface="Arial"/>
              </a:defRPr>
            </a:lvl7pPr>
            <a:lvl8pPr algn="l">
              <a:defRPr sz="3225" b="1">
                <a:solidFill>
                  <a:srgbClr val="123452"/>
                </a:solidFill>
                <a:latin typeface="Arial"/>
                <a:ea typeface="Arial"/>
                <a:cs typeface="Arial"/>
              </a:defRPr>
            </a:lvl8pPr>
            <a:lvl9pPr algn="l">
              <a:defRPr sz="3225" b="1">
                <a:solidFill>
                  <a:srgbClr val="123452"/>
                </a:solidFill>
                <a:latin typeface="Arial"/>
                <a:ea typeface="Arial"/>
                <a:cs typeface="Arial"/>
              </a:defRPr>
            </a:lvl9pPr>
          </a:lstStyle>
          <a:p xmlns:a="http://schemas.openxmlformats.org/drawingml/2006/main">
            <a:pPr algn="l">
              <a:defRPr sz="3225" b="1">
                <a:solidFill>
                  <a:srgbClr val="123452"/>
                </a:solidFill>
                <a:latin typeface="Arial"/>
                <a:ea typeface="Arial"/>
                <a:cs typeface="Arial"/>
              </a:defRPr>
            </a:pPr>
            <a:r>
              <a:rPr sz="3225" b="1">
                <a:solidFill>
                  <a:srgbClr val="123452"/>
                </a:solidFill>
                <a:latin typeface="Arial"/>
                <a:ea typeface="Arial"/>
                <a:cs typeface="Arial"/>
              </a:rPr>
              <a:t>The business decision is a limited contact list</a:t>
            </a:r>
          </a:p>
        </p:txBody>
      </p:sp>
      <p:sp>
        <p:nvSpPr>
          <p:cNvPr id="3" name="footer-2">
            <a:extLst xmlns:a="http://schemas.openxmlformats.org/drawingml/2006/main">
              <a:ext uri="{FF2B5EF4-FFF2-40B4-BE49-F238E27FC236}">
                <a16:creationId xmlns:a16="http://schemas.microsoft.com/office/drawing/2014/main" id="{409D4DC2-F6F2-40B0-B26B-98E2B3FB627B}"/>
              </a:ext>
            </a:extLst>
          </p:cNvPr>
          <p:cNvSpPr>
            <a:spLocks xmlns:a="http://schemas.openxmlformats.org/drawingml/2006/main" noGrp="1"/>
          </p:cNvSpPr>
          <p:nvPr/>
        </p:nvSpPr>
        <p:spPr>
          <a:xfrm xmlns:a="http://schemas.openxmlformats.org/drawingml/2006/main">
            <a:off x="647700" y="6248400"/>
            <a:ext cx="923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77C8D"/>
                </a:solidFill>
                <a:latin typeface="Arial"/>
                <a:ea typeface="Arial"/>
                <a:cs typeface="Arial"/>
              </a:defRPr>
            </a:defPPr>
            <a:lvl1pPr algn="l">
              <a:defRPr sz="1125" b="0">
                <a:solidFill>
                  <a:srgbClr val="677C8D"/>
                </a:solidFill>
                <a:latin typeface="Arial"/>
                <a:ea typeface="Arial"/>
                <a:cs typeface="Arial"/>
              </a:defRPr>
            </a:lvl1pPr>
            <a:lvl2pPr algn="l">
              <a:defRPr sz="1125" b="0">
                <a:solidFill>
                  <a:srgbClr val="677C8D"/>
                </a:solidFill>
                <a:latin typeface="Arial"/>
                <a:ea typeface="Arial"/>
                <a:cs typeface="Arial"/>
              </a:defRPr>
            </a:lvl2pPr>
            <a:lvl3pPr algn="l">
              <a:defRPr sz="1125" b="0">
                <a:solidFill>
                  <a:srgbClr val="677C8D"/>
                </a:solidFill>
                <a:latin typeface="Arial"/>
                <a:ea typeface="Arial"/>
                <a:cs typeface="Arial"/>
              </a:defRPr>
            </a:lvl3pPr>
            <a:lvl4pPr algn="l">
              <a:defRPr sz="1125" b="0">
                <a:solidFill>
                  <a:srgbClr val="677C8D"/>
                </a:solidFill>
                <a:latin typeface="Arial"/>
                <a:ea typeface="Arial"/>
                <a:cs typeface="Arial"/>
              </a:defRPr>
            </a:lvl4pPr>
            <a:lvl5pPr algn="l">
              <a:defRPr sz="1125" b="0">
                <a:solidFill>
                  <a:srgbClr val="677C8D"/>
                </a:solidFill>
                <a:latin typeface="Arial"/>
                <a:ea typeface="Arial"/>
                <a:cs typeface="Arial"/>
              </a:defRPr>
            </a:lvl5pPr>
            <a:lvl6pPr algn="l">
              <a:defRPr sz="1125" b="0">
                <a:solidFill>
                  <a:srgbClr val="677C8D"/>
                </a:solidFill>
                <a:latin typeface="Arial"/>
                <a:ea typeface="Arial"/>
                <a:cs typeface="Arial"/>
              </a:defRPr>
            </a:lvl6pPr>
            <a:lvl7pPr algn="l">
              <a:defRPr sz="1125" b="0">
                <a:solidFill>
                  <a:srgbClr val="677C8D"/>
                </a:solidFill>
                <a:latin typeface="Arial"/>
                <a:ea typeface="Arial"/>
                <a:cs typeface="Arial"/>
              </a:defRPr>
            </a:lvl7pPr>
            <a:lvl8pPr algn="l">
              <a:defRPr sz="1125" b="0">
                <a:solidFill>
                  <a:srgbClr val="677C8D"/>
                </a:solidFill>
                <a:latin typeface="Arial"/>
                <a:ea typeface="Arial"/>
                <a:cs typeface="Arial"/>
              </a:defRPr>
            </a:lvl8pPr>
            <a:lvl9pPr algn="l">
              <a:defRPr sz="1125" b="0">
                <a:solidFill>
                  <a:srgbClr val="677C8D"/>
                </a:solidFill>
                <a:latin typeface="Arial"/>
                <a:ea typeface="Arial"/>
                <a:cs typeface="Arial"/>
              </a:defRPr>
            </a:lvl9pPr>
          </a:lstStyle>
          <a:p xmlns:a="http://schemas.openxmlformats.org/drawingml/2006/main">
            <a:pPr algn="l">
              <a:defRPr sz="1125" b="0">
                <a:solidFill>
                  <a:srgbClr val="677C8D"/>
                </a:solidFill>
                <a:latin typeface="Arial"/>
                <a:ea typeface="Arial"/>
                <a:cs typeface="Arial"/>
              </a:defRPr>
            </a:pPr>
            <a:r>
              <a:rPr sz="1125" b="0">
                <a:solidFill>
                  <a:srgbClr val="677C8D"/>
                </a:solidFill>
                <a:latin typeface="Arial"/>
                <a:ea typeface="Arial"/>
                <a:cs typeface="Arial"/>
              </a:rPr>
              <a:t>Olist historical orders, 2016–2018  •  Exploratory evidence</a:t>
            </a:r>
          </a:p>
        </p:txBody>
      </p:sp>
      <p:sp>
        <p:nvSpPr>
          <p:cNvPr id="4" name="page-2">
            <a:extLst xmlns:a="http://schemas.openxmlformats.org/drawingml/2006/main">
              <a:ext uri="{FF2B5EF4-FFF2-40B4-BE49-F238E27FC236}">
                <a16:creationId xmlns:a16="http://schemas.microsoft.com/office/drawing/2014/main" id="{06FE2129-0F93-4135-A735-1C985CB768D1}"/>
              </a:ext>
            </a:extLst>
          </p:cNvPr>
          <p:cNvSpPr>
            <a:spLocks xmlns:a="http://schemas.openxmlformats.org/drawingml/2006/main" noGrp="1"/>
          </p:cNvSpPr>
          <p:nvPr/>
        </p:nvSpPr>
        <p:spPr>
          <a:xfrm xmlns:a="http://schemas.openxmlformats.org/drawingml/2006/main">
            <a:off x="10763250" y="6248400"/>
            <a:ext cx="76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677C8D"/>
                </a:solidFill>
                <a:latin typeface="Arial"/>
                <a:ea typeface="Arial"/>
                <a:cs typeface="Arial"/>
              </a:defRPr>
            </a:defPPr>
            <a:lvl1pPr algn="r">
              <a:defRPr sz="1125" b="0">
                <a:solidFill>
                  <a:srgbClr val="677C8D"/>
                </a:solidFill>
                <a:latin typeface="Arial"/>
                <a:ea typeface="Arial"/>
                <a:cs typeface="Arial"/>
              </a:defRPr>
            </a:lvl1pPr>
            <a:lvl2pPr algn="r">
              <a:defRPr sz="1125" b="0">
                <a:solidFill>
                  <a:srgbClr val="677C8D"/>
                </a:solidFill>
                <a:latin typeface="Arial"/>
                <a:ea typeface="Arial"/>
                <a:cs typeface="Arial"/>
              </a:defRPr>
            </a:lvl2pPr>
            <a:lvl3pPr algn="r">
              <a:defRPr sz="1125" b="0">
                <a:solidFill>
                  <a:srgbClr val="677C8D"/>
                </a:solidFill>
                <a:latin typeface="Arial"/>
                <a:ea typeface="Arial"/>
                <a:cs typeface="Arial"/>
              </a:defRPr>
            </a:lvl3pPr>
            <a:lvl4pPr algn="r">
              <a:defRPr sz="1125" b="0">
                <a:solidFill>
                  <a:srgbClr val="677C8D"/>
                </a:solidFill>
                <a:latin typeface="Arial"/>
                <a:ea typeface="Arial"/>
                <a:cs typeface="Arial"/>
              </a:defRPr>
            </a:lvl4pPr>
            <a:lvl5pPr algn="r">
              <a:defRPr sz="1125" b="0">
                <a:solidFill>
                  <a:srgbClr val="677C8D"/>
                </a:solidFill>
                <a:latin typeface="Arial"/>
                <a:ea typeface="Arial"/>
                <a:cs typeface="Arial"/>
              </a:defRPr>
            </a:lvl5pPr>
            <a:lvl6pPr algn="r">
              <a:defRPr sz="1125" b="0">
                <a:solidFill>
                  <a:srgbClr val="677C8D"/>
                </a:solidFill>
                <a:latin typeface="Arial"/>
                <a:ea typeface="Arial"/>
                <a:cs typeface="Arial"/>
              </a:defRPr>
            </a:lvl6pPr>
            <a:lvl7pPr algn="r">
              <a:defRPr sz="1125" b="0">
                <a:solidFill>
                  <a:srgbClr val="677C8D"/>
                </a:solidFill>
                <a:latin typeface="Arial"/>
                <a:ea typeface="Arial"/>
                <a:cs typeface="Arial"/>
              </a:defRPr>
            </a:lvl7pPr>
            <a:lvl8pPr algn="r">
              <a:defRPr sz="1125" b="0">
                <a:solidFill>
                  <a:srgbClr val="677C8D"/>
                </a:solidFill>
                <a:latin typeface="Arial"/>
                <a:ea typeface="Arial"/>
                <a:cs typeface="Arial"/>
              </a:defRPr>
            </a:lvl8pPr>
            <a:lvl9pPr algn="r">
              <a:defRPr sz="1125" b="0">
                <a:solidFill>
                  <a:srgbClr val="677C8D"/>
                </a:solidFill>
                <a:latin typeface="Arial"/>
                <a:ea typeface="Arial"/>
                <a:cs typeface="Arial"/>
              </a:defRPr>
            </a:lvl9pPr>
          </a:lstStyle>
          <a:p xmlns:a="http://schemas.openxmlformats.org/drawingml/2006/main">
            <a:pPr algn="r">
              <a:defRPr sz="1125" b="0">
                <a:solidFill>
                  <a:srgbClr val="677C8D"/>
                </a:solidFill>
                <a:latin typeface="Arial"/>
                <a:ea typeface="Arial"/>
                <a:cs typeface="Arial"/>
              </a:defRPr>
            </a:pPr>
            <a:r>
              <a:rPr sz="1125" b="0">
                <a:solidFill>
                  <a:srgbClr val="677C8D"/>
                </a:solidFill>
                <a:latin typeface="Arial"/>
                <a:ea typeface="Arial"/>
                <a:cs typeface="Arial"/>
              </a:rPr>
              <a:t>2 / 8</a:t>
            </a:r>
          </a:p>
        </p:txBody>
      </p:sp>
      <p:sp>
        <p:nvSpPr>
          <p:cNvPr id="5" name="decision-h">
            <a:extLst xmlns:a="http://schemas.openxmlformats.org/drawingml/2006/main">
              <a:ext uri="{FF2B5EF4-FFF2-40B4-BE49-F238E27FC236}">
                <a16:creationId xmlns:a16="http://schemas.microsoft.com/office/drawing/2014/main" id="{55F88AB3-1503-492A-AA2D-89FACD73B4F8}"/>
              </a:ext>
            </a:extLst>
          </p:cNvPr>
          <p:cNvSpPr>
            <a:spLocks xmlns:a="http://schemas.openxmlformats.org/drawingml/2006/main" noGrp="1"/>
          </p:cNvSpPr>
          <p:nvPr/>
        </p:nvSpPr>
        <p:spPr>
          <a:xfrm xmlns:a="http://schemas.openxmlformats.org/drawingml/2006/main">
            <a:off x="704850" y="1752600"/>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246895"/>
                </a:solidFill>
                <a:latin typeface="Arial"/>
                <a:ea typeface="Arial"/>
                <a:cs typeface="Arial"/>
              </a:defRPr>
            </a:defPPr>
            <a:lvl1pPr algn="l">
              <a:defRPr sz="2325" b="1">
                <a:solidFill>
                  <a:srgbClr val="246895"/>
                </a:solidFill>
                <a:latin typeface="Arial"/>
                <a:ea typeface="Arial"/>
                <a:cs typeface="Arial"/>
              </a:defRPr>
            </a:lvl1pPr>
            <a:lvl2pPr algn="l">
              <a:defRPr sz="2325" b="1">
                <a:solidFill>
                  <a:srgbClr val="246895"/>
                </a:solidFill>
                <a:latin typeface="Arial"/>
                <a:ea typeface="Arial"/>
                <a:cs typeface="Arial"/>
              </a:defRPr>
            </a:lvl2pPr>
            <a:lvl3pPr algn="l">
              <a:defRPr sz="2325" b="1">
                <a:solidFill>
                  <a:srgbClr val="246895"/>
                </a:solidFill>
                <a:latin typeface="Arial"/>
                <a:ea typeface="Arial"/>
                <a:cs typeface="Arial"/>
              </a:defRPr>
            </a:lvl3pPr>
            <a:lvl4pPr algn="l">
              <a:defRPr sz="2325" b="1">
                <a:solidFill>
                  <a:srgbClr val="246895"/>
                </a:solidFill>
                <a:latin typeface="Arial"/>
                <a:ea typeface="Arial"/>
                <a:cs typeface="Arial"/>
              </a:defRPr>
            </a:lvl4pPr>
            <a:lvl5pPr algn="l">
              <a:defRPr sz="2325" b="1">
                <a:solidFill>
                  <a:srgbClr val="246895"/>
                </a:solidFill>
                <a:latin typeface="Arial"/>
                <a:ea typeface="Arial"/>
                <a:cs typeface="Arial"/>
              </a:defRPr>
            </a:lvl5pPr>
            <a:lvl6pPr algn="l">
              <a:defRPr sz="2325" b="1">
                <a:solidFill>
                  <a:srgbClr val="246895"/>
                </a:solidFill>
                <a:latin typeface="Arial"/>
                <a:ea typeface="Arial"/>
                <a:cs typeface="Arial"/>
              </a:defRPr>
            </a:lvl6pPr>
            <a:lvl7pPr algn="l">
              <a:defRPr sz="2325" b="1">
                <a:solidFill>
                  <a:srgbClr val="246895"/>
                </a:solidFill>
                <a:latin typeface="Arial"/>
                <a:ea typeface="Arial"/>
                <a:cs typeface="Arial"/>
              </a:defRPr>
            </a:lvl7pPr>
            <a:lvl8pPr algn="l">
              <a:defRPr sz="2325" b="1">
                <a:solidFill>
                  <a:srgbClr val="246895"/>
                </a:solidFill>
                <a:latin typeface="Arial"/>
                <a:ea typeface="Arial"/>
                <a:cs typeface="Arial"/>
              </a:defRPr>
            </a:lvl8pPr>
            <a:lvl9pPr algn="l">
              <a:defRPr sz="2325" b="1">
                <a:solidFill>
                  <a:srgbClr val="246895"/>
                </a:solidFill>
                <a:latin typeface="Arial"/>
                <a:ea typeface="Arial"/>
                <a:cs typeface="Arial"/>
              </a:defRPr>
            </a:lvl9pPr>
          </a:lstStyle>
          <a:p xmlns:a="http://schemas.openxmlformats.org/drawingml/2006/main">
            <a:pPr algn="l">
              <a:defRPr sz="2325" b="1">
                <a:solidFill>
                  <a:srgbClr val="246895"/>
                </a:solidFill>
                <a:latin typeface="Arial"/>
                <a:ea typeface="Arial"/>
                <a:cs typeface="Arial"/>
              </a:defRPr>
            </a:pPr>
            <a:r>
              <a:rPr sz="2325" b="1">
                <a:solidFill>
                  <a:srgbClr val="246895"/>
                </a:solidFill>
                <a:latin typeface="Arial"/>
                <a:ea typeface="Arial"/>
                <a:cs typeface="Arial"/>
              </a:rPr>
              <a:t>Decision</a:t>
            </a:r>
          </a:p>
        </p:txBody>
      </p:sp>
      <p:sp>
        <p:nvSpPr>
          <p:cNvPr id="6" name="decision-b">
            <a:extLst xmlns:a="http://schemas.openxmlformats.org/drawingml/2006/main">
              <a:ext uri="{FF2B5EF4-FFF2-40B4-BE49-F238E27FC236}">
                <a16:creationId xmlns:a16="http://schemas.microsoft.com/office/drawing/2014/main" id="{ABA1C751-264C-4D55-B9A4-116724F2364F}"/>
              </a:ext>
            </a:extLst>
          </p:cNvPr>
          <p:cNvSpPr>
            <a:spLocks xmlns:a="http://schemas.openxmlformats.org/drawingml/2006/main" noGrp="1"/>
          </p:cNvSpPr>
          <p:nvPr/>
        </p:nvSpPr>
        <p:spPr>
          <a:xfrm xmlns:a="http://schemas.openxmlformats.org/drawingml/2006/main">
            <a:off x="704850" y="2286000"/>
            <a:ext cx="4667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172638"/>
                </a:solidFill>
                <a:latin typeface="Arial"/>
                <a:ea typeface="Arial"/>
                <a:cs typeface="Arial"/>
              </a:defRPr>
            </a:defPPr>
            <a:lvl1pPr algn="l">
              <a:defRPr sz="2325" b="0">
                <a:solidFill>
                  <a:srgbClr val="172638"/>
                </a:solidFill>
                <a:latin typeface="Arial"/>
                <a:ea typeface="Arial"/>
                <a:cs typeface="Arial"/>
              </a:defRPr>
            </a:lvl1pPr>
            <a:lvl2pPr algn="l">
              <a:defRPr sz="2325" b="0">
                <a:solidFill>
                  <a:srgbClr val="172638"/>
                </a:solidFill>
                <a:latin typeface="Arial"/>
                <a:ea typeface="Arial"/>
                <a:cs typeface="Arial"/>
              </a:defRPr>
            </a:lvl2pPr>
            <a:lvl3pPr algn="l">
              <a:defRPr sz="2325" b="0">
                <a:solidFill>
                  <a:srgbClr val="172638"/>
                </a:solidFill>
                <a:latin typeface="Arial"/>
                <a:ea typeface="Arial"/>
                <a:cs typeface="Arial"/>
              </a:defRPr>
            </a:lvl3pPr>
            <a:lvl4pPr algn="l">
              <a:defRPr sz="2325" b="0">
                <a:solidFill>
                  <a:srgbClr val="172638"/>
                </a:solidFill>
                <a:latin typeface="Arial"/>
                <a:ea typeface="Arial"/>
                <a:cs typeface="Arial"/>
              </a:defRPr>
            </a:lvl4pPr>
            <a:lvl5pPr algn="l">
              <a:defRPr sz="2325" b="0">
                <a:solidFill>
                  <a:srgbClr val="172638"/>
                </a:solidFill>
                <a:latin typeface="Arial"/>
                <a:ea typeface="Arial"/>
                <a:cs typeface="Arial"/>
              </a:defRPr>
            </a:lvl5pPr>
            <a:lvl6pPr algn="l">
              <a:defRPr sz="2325" b="0">
                <a:solidFill>
                  <a:srgbClr val="172638"/>
                </a:solidFill>
                <a:latin typeface="Arial"/>
                <a:ea typeface="Arial"/>
                <a:cs typeface="Arial"/>
              </a:defRPr>
            </a:lvl6pPr>
            <a:lvl7pPr algn="l">
              <a:defRPr sz="2325" b="0">
                <a:solidFill>
                  <a:srgbClr val="172638"/>
                </a:solidFill>
                <a:latin typeface="Arial"/>
                <a:ea typeface="Arial"/>
                <a:cs typeface="Arial"/>
              </a:defRPr>
            </a:lvl7pPr>
            <a:lvl8pPr algn="l">
              <a:defRPr sz="2325" b="0">
                <a:solidFill>
                  <a:srgbClr val="172638"/>
                </a:solidFill>
                <a:latin typeface="Arial"/>
                <a:ea typeface="Arial"/>
                <a:cs typeface="Arial"/>
              </a:defRPr>
            </a:lvl8pPr>
            <a:lvl9pPr algn="l">
              <a:defRPr sz="2325" b="0">
                <a:solidFill>
                  <a:srgbClr val="172638"/>
                </a:solidFill>
                <a:latin typeface="Arial"/>
                <a:ea typeface="Arial"/>
                <a:cs typeface="Arial"/>
              </a:defRPr>
            </a:lvl9pPr>
          </a:lstStyle>
          <a:p xmlns:a="http://schemas.openxmlformats.org/drawingml/2006/main">
            <a:pPr algn="l">
              <a:defRPr sz="2325" b="0">
                <a:solidFill>
                  <a:srgbClr val="172638"/>
                </a:solidFill>
                <a:latin typeface="Arial"/>
                <a:ea typeface="Arial"/>
                <a:cs typeface="Arial"/>
              </a:defRPr>
            </a:pPr>
            <a:r>
              <a:rPr sz="2325" b="0">
                <a:solidFill>
                  <a:srgbClr val="172638"/>
                </a:solidFill>
                <a:latin typeface="Arial"/>
                <a:ea typeface="Arial"/>
                <a:cs typeface="Arial"/>
              </a:rPr>
              <a:t>If outreach capacity covers 10% of customers, whom should we review first?</a:t>
            </a:r>
          </a:p>
        </p:txBody>
      </p:sp>
      <p:sp>
        <p:nvSpPr>
          <p:cNvPr id="7" name="target-h">
            <a:extLst xmlns:a="http://schemas.openxmlformats.org/drawingml/2006/main">
              <a:ext uri="{FF2B5EF4-FFF2-40B4-BE49-F238E27FC236}">
                <a16:creationId xmlns:a16="http://schemas.microsoft.com/office/drawing/2014/main" id="{8B327209-ED7E-4489-84FC-3ED69FBAA6F6}"/>
              </a:ext>
            </a:extLst>
          </p:cNvPr>
          <p:cNvSpPr>
            <a:spLocks xmlns:a="http://schemas.openxmlformats.org/drawingml/2006/main" noGrp="1"/>
          </p:cNvSpPr>
          <p:nvPr/>
        </p:nvSpPr>
        <p:spPr>
          <a:xfrm xmlns:a="http://schemas.openxmlformats.org/drawingml/2006/main">
            <a:off x="6286500" y="1752600"/>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246895"/>
                </a:solidFill>
                <a:latin typeface="Arial"/>
                <a:ea typeface="Arial"/>
                <a:cs typeface="Arial"/>
              </a:defRPr>
            </a:defPPr>
            <a:lvl1pPr algn="l">
              <a:defRPr sz="2325" b="1">
                <a:solidFill>
                  <a:srgbClr val="246895"/>
                </a:solidFill>
                <a:latin typeface="Arial"/>
                <a:ea typeface="Arial"/>
                <a:cs typeface="Arial"/>
              </a:defRPr>
            </a:lvl1pPr>
            <a:lvl2pPr algn="l">
              <a:defRPr sz="2325" b="1">
                <a:solidFill>
                  <a:srgbClr val="246895"/>
                </a:solidFill>
                <a:latin typeface="Arial"/>
                <a:ea typeface="Arial"/>
                <a:cs typeface="Arial"/>
              </a:defRPr>
            </a:lvl2pPr>
            <a:lvl3pPr algn="l">
              <a:defRPr sz="2325" b="1">
                <a:solidFill>
                  <a:srgbClr val="246895"/>
                </a:solidFill>
                <a:latin typeface="Arial"/>
                <a:ea typeface="Arial"/>
                <a:cs typeface="Arial"/>
              </a:defRPr>
            </a:lvl3pPr>
            <a:lvl4pPr algn="l">
              <a:defRPr sz="2325" b="1">
                <a:solidFill>
                  <a:srgbClr val="246895"/>
                </a:solidFill>
                <a:latin typeface="Arial"/>
                <a:ea typeface="Arial"/>
                <a:cs typeface="Arial"/>
              </a:defRPr>
            </a:lvl4pPr>
            <a:lvl5pPr algn="l">
              <a:defRPr sz="2325" b="1">
                <a:solidFill>
                  <a:srgbClr val="246895"/>
                </a:solidFill>
                <a:latin typeface="Arial"/>
                <a:ea typeface="Arial"/>
                <a:cs typeface="Arial"/>
              </a:defRPr>
            </a:lvl5pPr>
            <a:lvl6pPr algn="l">
              <a:defRPr sz="2325" b="1">
                <a:solidFill>
                  <a:srgbClr val="246895"/>
                </a:solidFill>
                <a:latin typeface="Arial"/>
                <a:ea typeface="Arial"/>
                <a:cs typeface="Arial"/>
              </a:defRPr>
            </a:lvl6pPr>
            <a:lvl7pPr algn="l">
              <a:defRPr sz="2325" b="1">
                <a:solidFill>
                  <a:srgbClr val="246895"/>
                </a:solidFill>
                <a:latin typeface="Arial"/>
                <a:ea typeface="Arial"/>
                <a:cs typeface="Arial"/>
              </a:defRPr>
            </a:lvl7pPr>
            <a:lvl8pPr algn="l">
              <a:defRPr sz="2325" b="1">
                <a:solidFill>
                  <a:srgbClr val="246895"/>
                </a:solidFill>
                <a:latin typeface="Arial"/>
                <a:ea typeface="Arial"/>
                <a:cs typeface="Arial"/>
              </a:defRPr>
            </a:lvl8pPr>
            <a:lvl9pPr algn="l">
              <a:defRPr sz="2325" b="1">
                <a:solidFill>
                  <a:srgbClr val="246895"/>
                </a:solidFill>
                <a:latin typeface="Arial"/>
                <a:ea typeface="Arial"/>
                <a:cs typeface="Arial"/>
              </a:defRPr>
            </a:lvl9pPr>
          </a:lstStyle>
          <a:p xmlns:a="http://schemas.openxmlformats.org/drawingml/2006/main">
            <a:pPr algn="l">
              <a:defRPr sz="2325" b="1">
                <a:solidFill>
                  <a:srgbClr val="246895"/>
                </a:solidFill>
                <a:latin typeface="Arial"/>
                <a:ea typeface="Arial"/>
                <a:cs typeface="Arial"/>
              </a:defRPr>
            </a:pPr>
            <a:r>
              <a:rPr sz="2325" b="1">
                <a:solidFill>
                  <a:srgbClr val="246895"/>
                </a:solidFill>
                <a:latin typeface="Arial"/>
                <a:ea typeface="Arial"/>
                <a:cs typeface="Arial"/>
              </a:rPr>
              <a:t>Measured outcome</a:t>
            </a:r>
          </a:p>
        </p:txBody>
      </p:sp>
      <p:sp>
        <p:nvSpPr>
          <p:cNvPr id="8" name="target-b">
            <a:extLst xmlns:a="http://schemas.openxmlformats.org/drawingml/2006/main">
              <a:ext uri="{FF2B5EF4-FFF2-40B4-BE49-F238E27FC236}">
                <a16:creationId xmlns:a16="http://schemas.microsoft.com/office/drawing/2014/main" id="{997A34AE-ACCA-4F1F-A9CE-38CF9DE79C49}"/>
              </a:ext>
            </a:extLst>
          </p:cNvPr>
          <p:cNvSpPr>
            <a:spLocks xmlns:a="http://schemas.openxmlformats.org/drawingml/2006/main" noGrp="1"/>
          </p:cNvSpPr>
          <p:nvPr/>
        </p:nvSpPr>
        <p:spPr>
          <a:xfrm xmlns:a="http://schemas.openxmlformats.org/drawingml/2006/main">
            <a:off x="6286500" y="2286000"/>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172638"/>
                </a:solidFill>
                <a:latin typeface="Arial"/>
                <a:ea typeface="Arial"/>
                <a:cs typeface="Arial"/>
              </a:defRPr>
            </a:defPPr>
            <a:lvl1pPr algn="l">
              <a:defRPr sz="2325" b="0">
                <a:solidFill>
                  <a:srgbClr val="172638"/>
                </a:solidFill>
                <a:latin typeface="Arial"/>
                <a:ea typeface="Arial"/>
                <a:cs typeface="Arial"/>
              </a:defRPr>
            </a:lvl1pPr>
            <a:lvl2pPr algn="l">
              <a:defRPr sz="2325" b="0">
                <a:solidFill>
                  <a:srgbClr val="172638"/>
                </a:solidFill>
                <a:latin typeface="Arial"/>
                <a:ea typeface="Arial"/>
                <a:cs typeface="Arial"/>
              </a:defRPr>
            </a:lvl2pPr>
            <a:lvl3pPr algn="l">
              <a:defRPr sz="2325" b="0">
                <a:solidFill>
                  <a:srgbClr val="172638"/>
                </a:solidFill>
                <a:latin typeface="Arial"/>
                <a:ea typeface="Arial"/>
                <a:cs typeface="Arial"/>
              </a:defRPr>
            </a:lvl3pPr>
            <a:lvl4pPr algn="l">
              <a:defRPr sz="2325" b="0">
                <a:solidFill>
                  <a:srgbClr val="172638"/>
                </a:solidFill>
                <a:latin typeface="Arial"/>
                <a:ea typeface="Arial"/>
                <a:cs typeface="Arial"/>
              </a:defRPr>
            </a:lvl4pPr>
            <a:lvl5pPr algn="l">
              <a:defRPr sz="2325" b="0">
                <a:solidFill>
                  <a:srgbClr val="172638"/>
                </a:solidFill>
                <a:latin typeface="Arial"/>
                <a:ea typeface="Arial"/>
                <a:cs typeface="Arial"/>
              </a:defRPr>
            </a:lvl5pPr>
            <a:lvl6pPr algn="l">
              <a:defRPr sz="2325" b="0">
                <a:solidFill>
                  <a:srgbClr val="172638"/>
                </a:solidFill>
                <a:latin typeface="Arial"/>
                <a:ea typeface="Arial"/>
                <a:cs typeface="Arial"/>
              </a:defRPr>
            </a:lvl6pPr>
            <a:lvl7pPr algn="l">
              <a:defRPr sz="2325" b="0">
                <a:solidFill>
                  <a:srgbClr val="172638"/>
                </a:solidFill>
                <a:latin typeface="Arial"/>
                <a:ea typeface="Arial"/>
                <a:cs typeface="Arial"/>
              </a:defRPr>
            </a:lvl7pPr>
            <a:lvl8pPr algn="l">
              <a:defRPr sz="2325" b="0">
                <a:solidFill>
                  <a:srgbClr val="172638"/>
                </a:solidFill>
                <a:latin typeface="Arial"/>
                <a:ea typeface="Arial"/>
                <a:cs typeface="Arial"/>
              </a:defRPr>
            </a:lvl8pPr>
            <a:lvl9pPr algn="l">
              <a:defRPr sz="2325" b="0">
                <a:solidFill>
                  <a:srgbClr val="172638"/>
                </a:solidFill>
                <a:latin typeface="Arial"/>
                <a:ea typeface="Arial"/>
                <a:cs typeface="Arial"/>
              </a:defRPr>
            </a:lvl9pPr>
          </a:lstStyle>
          <a:p xmlns:a="http://schemas.openxmlformats.org/drawingml/2006/main">
            <a:pPr algn="l">
              <a:defRPr sz="2325" b="0">
                <a:solidFill>
                  <a:srgbClr val="172638"/>
                </a:solidFill>
                <a:latin typeface="Arial"/>
                <a:ea typeface="Arial"/>
                <a:cs typeface="Arial"/>
              </a:defRPr>
            </a:pPr>
            <a:r>
              <a:rPr sz="2325" b="0">
                <a:solidFill>
                  <a:srgbClr val="172638"/>
                </a:solidFill>
                <a:latin typeface="Arial"/>
                <a:ea typeface="Arial"/>
                <a:cs typeface="Arial"/>
              </a:rPr>
              <a:t>At least one new approved order with positive item value within 90 days.</a:t>
            </a:r>
          </a:p>
        </p:txBody>
      </p:sp>
      <p:sp>
        <p:nvSpPr>
          <p:cNvPr id="9" name="limit">
            <a:extLst xmlns:a="http://schemas.openxmlformats.org/drawingml/2006/main">
              <a:ext uri="{FF2B5EF4-FFF2-40B4-BE49-F238E27FC236}">
                <a16:creationId xmlns:a16="http://schemas.microsoft.com/office/drawing/2014/main" id="{FE87E4ED-6E8B-4C0E-9DBA-A22433D39CFB}"/>
              </a:ext>
            </a:extLst>
          </p:cNvPr>
          <p:cNvSpPr>
            <a:spLocks xmlns:a="http://schemas.openxmlformats.org/drawingml/2006/main" noGrp="1"/>
          </p:cNvSpPr>
          <p:nvPr/>
        </p:nvSpPr>
        <p:spPr>
          <a:xfrm xmlns:a="http://schemas.openxmlformats.org/drawingml/2006/main">
            <a:off x="704850" y="4905375"/>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A94842"/>
                </a:solidFill>
                <a:latin typeface="Arial"/>
                <a:ea typeface="Arial"/>
                <a:cs typeface="Arial"/>
              </a:defRPr>
            </a:defPPr>
            <a:lvl1pPr algn="l">
              <a:defRPr sz="1950" b="0">
                <a:solidFill>
                  <a:srgbClr val="A94842"/>
                </a:solidFill>
                <a:latin typeface="Arial"/>
                <a:ea typeface="Arial"/>
                <a:cs typeface="Arial"/>
              </a:defRPr>
            </a:lvl1pPr>
            <a:lvl2pPr algn="l">
              <a:defRPr sz="1950" b="0">
                <a:solidFill>
                  <a:srgbClr val="A94842"/>
                </a:solidFill>
                <a:latin typeface="Arial"/>
                <a:ea typeface="Arial"/>
                <a:cs typeface="Arial"/>
              </a:defRPr>
            </a:lvl2pPr>
            <a:lvl3pPr algn="l">
              <a:defRPr sz="1950" b="0">
                <a:solidFill>
                  <a:srgbClr val="A94842"/>
                </a:solidFill>
                <a:latin typeface="Arial"/>
                <a:ea typeface="Arial"/>
                <a:cs typeface="Arial"/>
              </a:defRPr>
            </a:lvl3pPr>
            <a:lvl4pPr algn="l">
              <a:defRPr sz="1950" b="0">
                <a:solidFill>
                  <a:srgbClr val="A94842"/>
                </a:solidFill>
                <a:latin typeface="Arial"/>
                <a:ea typeface="Arial"/>
                <a:cs typeface="Arial"/>
              </a:defRPr>
            </a:lvl4pPr>
            <a:lvl5pPr algn="l">
              <a:defRPr sz="1950" b="0">
                <a:solidFill>
                  <a:srgbClr val="A94842"/>
                </a:solidFill>
                <a:latin typeface="Arial"/>
                <a:ea typeface="Arial"/>
                <a:cs typeface="Arial"/>
              </a:defRPr>
            </a:lvl5pPr>
            <a:lvl6pPr algn="l">
              <a:defRPr sz="1950" b="0">
                <a:solidFill>
                  <a:srgbClr val="A94842"/>
                </a:solidFill>
                <a:latin typeface="Arial"/>
                <a:ea typeface="Arial"/>
                <a:cs typeface="Arial"/>
              </a:defRPr>
            </a:lvl6pPr>
            <a:lvl7pPr algn="l">
              <a:defRPr sz="1950" b="0">
                <a:solidFill>
                  <a:srgbClr val="A94842"/>
                </a:solidFill>
                <a:latin typeface="Arial"/>
                <a:ea typeface="Arial"/>
                <a:cs typeface="Arial"/>
              </a:defRPr>
            </a:lvl7pPr>
            <a:lvl8pPr algn="l">
              <a:defRPr sz="1950" b="0">
                <a:solidFill>
                  <a:srgbClr val="A94842"/>
                </a:solidFill>
                <a:latin typeface="Arial"/>
                <a:ea typeface="Arial"/>
                <a:cs typeface="Arial"/>
              </a:defRPr>
            </a:lvl8pPr>
            <a:lvl9pPr algn="l">
              <a:defRPr sz="1950" b="0">
                <a:solidFill>
                  <a:srgbClr val="A94842"/>
                </a:solidFill>
                <a:latin typeface="Arial"/>
                <a:ea typeface="Arial"/>
                <a:cs typeface="Arial"/>
              </a:defRPr>
            </a:lvl9pPr>
          </a:lstStyle>
          <a:p xmlns:a="http://schemas.openxmlformats.org/drawingml/2006/main">
            <a:pPr algn="l">
              <a:defRPr sz="1950" b="0">
                <a:solidFill>
                  <a:srgbClr val="A94842"/>
                </a:solidFill>
                <a:latin typeface="Arial"/>
                <a:ea typeface="Arial"/>
                <a:cs typeface="Arial"/>
              </a:defRPr>
            </a:pPr>
            <a:r>
              <a:rPr sz="1950" b="0">
                <a:solidFill>
                  <a:srgbClr val="A94842"/>
                </a:solidFill>
                <a:latin typeface="Arial"/>
                <a:ea typeface="Arial"/>
                <a:cs typeface="Arial"/>
              </a:rPr>
              <a:t>The file contains observed Olist orders, not marketing exposure, cost or all marketplace purchases.</a:t>
            </a:r>
          </a:p>
        </p:txBody>
      </p:sp>
    </p:spTree>
    <p:extLst>
      <p:ext uri="{BB962C8B-B14F-4D97-AF65-F5344CB8AC3E}">
        <p14:creationId xmlns:p14="http://schemas.microsoft.com/office/powerpoint/2010/main" val="15058650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yebrow-3">
            <a:extLst xmlns:a="http://schemas.openxmlformats.org/drawingml/2006/main">
              <a:ext uri="{FF2B5EF4-FFF2-40B4-BE49-F238E27FC236}">
                <a16:creationId xmlns:a16="http://schemas.microsoft.com/office/drawing/2014/main" id="{B3C93792-A992-4D8C-890C-88891BFD0156}"/>
              </a:ext>
            </a:extLst>
          </p:cNvPr>
          <p:cNvSpPr>
            <a:spLocks xmlns:a="http://schemas.openxmlformats.org/drawingml/2006/main" noGrp="1"/>
          </p:cNvSpPr>
          <p:nvPr/>
        </p:nvSpPr>
        <p:spPr>
          <a:xfrm xmlns:a="http://schemas.openxmlformats.org/drawingml/2006/main">
            <a:off x="647700" y="2667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46895"/>
                </a:solidFill>
                <a:latin typeface="Arial"/>
                <a:ea typeface="Arial"/>
                <a:cs typeface="Arial"/>
              </a:defRPr>
            </a:defPPr>
            <a:lvl1pPr algn="l">
              <a:defRPr sz="1200" b="1">
                <a:solidFill>
                  <a:srgbClr val="246895"/>
                </a:solidFill>
                <a:latin typeface="Arial"/>
                <a:ea typeface="Arial"/>
                <a:cs typeface="Arial"/>
              </a:defRPr>
            </a:lvl1pPr>
            <a:lvl2pPr algn="l">
              <a:defRPr sz="1200" b="1">
                <a:solidFill>
                  <a:srgbClr val="246895"/>
                </a:solidFill>
                <a:latin typeface="Arial"/>
                <a:ea typeface="Arial"/>
                <a:cs typeface="Arial"/>
              </a:defRPr>
            </a:lvl2pPr>
            <a:lvl3pPr algn="l">
              <a:defRPr sz="1200" b="1">
                <a:solidFill>
                  <a:srgbClr val="246895"/>
                </a:solidFill>
                <a:latin typeface="Arial"/>
                <a:ea typeface="Arial"/>
                <a:cs typeface="Arial"/>
              </a:defRPr>
            </a:lvl3pPr>
            <a:lvl4pPr algn="l">
              <a:defRPr sz="1200" b="1">
                <a:solidFill>
                  <a:srgbClr val="246895"/>
                </a:solidFill>
                <a:latin typeface="Arial"/>
                <a:ea typeface="Arial"/>
                <a:cs typeface="Arial"/>
              </a:defRPr>
            </a:lvl4pPr>
            <a:lvl5pPr algn="l">
              <a:defRPr sz="1200" b="1">
                <a:solidFill>
                  <a:srgbClr val="246895"/>
                </a:solidFill>
                <a:latin typeface="Arial"/>
                <a:ea typeface="Arial"/>
                <a:cs typeface="Arial"/>
              </a:defRPr>
            </a:lvl5pPr>
            <a:lvl6pPr algn="l">
              <a:defRPr sz="1200" b="1">
                <a:solidFill>
                  <a:srgbClr val="246895"/>
                </a:solidFill>
                <a:latin typeface="Arial"/>
                <a:ea typeface="Arial"/>
                <a:cs typeface="Arial"/>
              </a:defRPr>
            </a:lvl6pPr>
            <a:lvl7pPr algn="l">
              <a:defRPr sz="1200" b="1">
                <a:solidFill>
                  <a:srgbClr val="246895"/>
                </a:solidFill>
                <a:latin typeface="Arial"/>
                <a:ea typeface="Arial"/>
                <a:cs typeface="Arial"/>
              </a:defRPr>
            </a:lvl7pPr>
            <a:lvl8pPr algn="l">
              <a:defRPr sz="1200" b="1">
                <a:solidFill>
                  <a:srgbClr val="246895"/>
                </a:solidFill>
                <a:latin typeface="Arial"/>
                <a:ea typeface="Arial"/>
                <a:cs typeface="Arial"/>
              </a:defRPr>
            </a:lvl8pPr>
            <a:lvl9pPr algn="l">
              <a:defRPr sz="1200" b="1">
                <a:solidFill>
                  <a:srgbClr val="246895"/>
                </a:solidFill>
                <a:latin typeface="Arial"/>
                <a:ea typeface="Arial"/>
                <a:cs typeface="Arial"/>
              </a:defRPr>
            </a:lvl9pPr>
          </a:lstStyle>
          <a:p xmlns:a="http://schemas.openxmlformats.org/drawingml/2006/main">
            <a:pPr algn="l">
              <a:defRPr sz="1200" b="1">
                <a:solidFill>
                  <a:srgbClr val="246895"/>
                </a:solidFill>
                <a:latin typeface="Arial"/>
                <a:ea typeface="Arial"/>
                <a:cs typeface="Arial"/>
              </a:defRPr>
            </a:pPr>
            <a:r>
              <a:rPr sz="1200" b="1">
                <a:solidFill>
                  <a:srgbClr val="246895"/>
                </a:solidFill>
                <a:latin typeface="Arial"/>
                <a:ea typeface="Arial"/>
                <a:cs typeface="Arial"/>
              </a:rPr>
              <a:t>IS6400  /  OLIST REPURCHASE</a:t>
            </a:r>
          </a:p>
        </p:txBody>
      </p:sp>
      <p:sp>
        <p:nvSpPr>
          <p:cNvPr id="2" name="title-3">
            <a:extLst xmlns:a="http://schemas.openxmlformats.org/drawingml/2006/main">
              <a:ext uri="{FF2B5EF4-FFF2-40B4-BE49-F238E27FC236}">
                <a16:creationId xmlns:a16="http://schemas.microsoft.com/office/drawing/2014/main" id="{215D45CE-6B63-401B-A9C7-C91EDAC1E4D3}"/>
              </a:ext>
            </a:extLst>
          </p:cNvPr>
          <p:cNvSpPr>
            <a:spLocks xmlns:a="http://schemas.openxmlformats.org/drawingml/2006/main" noGrp="1"/>
          </p:cNvSpPr>
          <p:nvPr/>
        </p:nvSpPr>
        <p:spPr>
          <a:xfrm xmlns:a="http://schemas.openxmlformats.org/drawingml/2006/main">
            <a:off x="647700" y="6667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23452"/>
                </a:solidFill>
                <a:latin typeface="Arial"/>
                <a:ea typeface="Arial"/>
                <a:cs typeface="Arial"/>
              </a:defRPr>
            </a:defPPr>
            <a:lvl1pPr algn="l">
              <a:defRPr sz="3225" b="1">
                <a:solidFill>
                  <a:srgbClr val="123452"/>
                </a:solidFill>
                <a:latin typeface="Arial"/>
                <a:ea typeface="Arial"/>
                <a:cs typeface="Arial"/>
              </a:defRPr>
            </a:lvl1pPr>
            <a:lvl2pPr algn="l">
              <a:defRPr sz="3225" b="1">
                <a:solidFill>
                  <a:srgbClr val="123452"/>
                </a:solidFill>
                <a:latin typeface="Arial"/>
                <a:ea typeface="Arial"/>
                <a:cs typeface="Arial"/>
              </a:defRPr>
            </a:lvl2pPr>
            <a:lvl3pPr algn="l">
              <a:defRPr sz="3225" b="1">
                <a:solidFill>
                  <a:srgbClr val="123452"/>
                </a:solidFill>
                <a:latin typeface="Arial"/>
                <a:ea typeface="Arial"/>
                <a:cs typeface="Arial"/>
              </a:defRPr>
            </a:lvl3pPr>
            <a:lvl4pPr algn="l">
              <a:defRPr sz="3225" b="1">
                <a:solidFill>
                  <a:srgbClr val="123452"/>
                </a:solidFill>
                <a:latin typeface="Arial"/>
                <a:ea typeface="Arial"/>
                <a:cs typeface="Arial"/>
              </a:defRPr>
            </a:lvl4pPr>
            <a:lvl5pPr algn="l">
              <a:defRPr sz="3225" b="1">
                <a:solidFill>
                  <a:srgbClr val="123452"/>
                </a:solidFill>
                <a:latin typeface="Arial"/>
                <a:ea typeface="Arial"/>
                <a:cs typeface="Arial"/>
              </a:defRPr>
            </a:lvl5pPr>
            <a:lvl6pPr algn="l">
              <a:defRPr sz="3225" b="1">
                <a:solidFill>
                  <a:srgbClr val="123452"/>
                </a:solidFill>
                <a:latin typeface="Arial"/>
                <a:ea typeface="Arial"/>
                <a:cs typeface="Arial"/>
              </a:defRPr>
            </a:lvl6pPr>
            <a:lvl7pPr algn="l">
              <a:defRPr sz="3225" b="1">
                <a:solidFill>
                  <a:srgbClr val="123452"/>
                </a:solidFill>
                <a:latin typeface="Arial"/>
                <a:ea typeface="Arial"/>
                <a:cs typeface="Arial"/>
              </a:defRPr>
            </a:lvl7pPr>
            <a:lvl8pPr algn="l">
              <a:defRPr sz="3225" b="1">
                <a:solidFill>
                  <a:srgbClr val="123452"/>
                </a:solidFill>
                <a:latin typeface="Arial"/>
                <a:ea typeface="Arial"/>
                <a:cs typeface="Arial"/>
              </a:defRPr>
            </a:lvl8pPr>
            <a:lvl9pPr algn="l">
              <a:defRPr sz="3225" b="1">
                <a:solidFill>
                  <a:srgbClr val="123452"/>
                </a:solidFill>
                <a:latin typeface="Arial"/>
                <a:ea typeface="Arial"/>
                <a:cs typeface="Arial"/>
              </a:defRPr>
            </a:lvl9pPr>
          </a:lstStyle>
          <a:p xmlns:a="http://schemas.openxmlformats.org/drawingml/2006/main">
            <a:pPr algn="l">
              <a:defRPr sz="3225" b="1">
                <a:solidFill>
                  <a:srgbClr val="123452"/>
                </a:solidFill>
                <a:latin typeface="Arial"/>
                <a:ea typeface="Arial"/>
                <a:cs typeface="Arial"/>
              </a:defRPr>
            </a:pPr>
            <a:r>
              <a:rPr sz="3225" b="1">
                <a:solidFill>
                  <a:srgbClr val="123452"/>
                </a:solidFill>
                <a:latin typeface="Arial"/>
                <a:ea typeface="Arial"/>
                <a:cs typeface="Arial"/>
              </a:rPr>
              <a:t>Raw tables were checked before modelling</a:t>
            </a:r>
          </a:p>
        </p:txBody>
      </p:sp>
      <p:sp>
        <p:nvSpPr>
          <p:cNvPr id="3" name="footer-3">
            <a:extLst xmlns:a="http://schemas.openxmlformats.org/drawingml/2006/main">
              <a:ext uri="{FF2B5EF4-FFF2-40B4-BE49-F238E27FC236}">
                <a16:creationId xmlns:a16="http://schemas.microsoft.com/office/drawing/2014/main" id="{0EEC3774-59C2-440F-923F-C57A8B0B170F}"/>
              </a:ext>
            </a:extLst>
          </p:cNvPr>
          <p:cNvSpPr>
            <a:spLocks xmlns:a="http://schemas.openxmlformats.org/drawingml/2006/main" noGrp="1"/>
          </p:cNvSpPr>
          <p:nvPr/>
        </p:nvSpPr>
        <p:spPr>
          <a:xfrm xmlns:a="http://schemas.openxmlformats.org/drawingml/2006/main">
            <a:off x="647700" y="6248400"/>
            <a:ext cx="923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77C8D"/>
                </a:solidFill>
                <a:latin typeface="Arial"/>
                <a:ea typeface="Arial"/>
                <a:cs typeface="Arial"/>
              </a:defRPr>
            </a:defPPr>
            <a:lvl1pPr algn="l">
              <a:defRPr sz="1125" b="0">
                <a:solidFill>
                  <a:srgbClr val="677C8D"/>
                </a:solidFill>
                <a:latin typeface="Arial"/>
                <a:ea typeface="Arial"/>
                <a:cs typeface="Arial"/>
              </a:defRPr>
            </a:lvl1pPr>
            <a:lvl2pPr algn="l">
              <a:defRPr sz="1125" b="0">
                <a:solidFill>
                  <a:srgbClr val="677C8D"/>
                </a:solidFill>
                <a:latin typeface="Arial"/>
                <a:ea typeface="Arial"/>
                <a:cs typeface="Arial"/>
              </a:defRPr>
            </a:lvl2pPr>
            <a:lvl3pPr algn="l">
              <a:defRPr sz="1125" b="0">
                <a:solidFill>
                  <a:srgbClr val="677C8D"/>
                </a:solidFill>
                <a:latin typeface="Arial"/>
                <a:ea typeface="Arial"/>
                <a:cs typeface="Arial"/>
              </a:defRPr>
            </a:lvl3pPr>
            <a:lvl4pPr algn="l">
              <a:defRPr sz="1125" b="0">
                <a:solidFill>
                  <a:srgbClr val="677C8D"/>
                </a:solidFill>
                <a:latin typeface="Arial"/>
                <a:ea typeface="Arial"/>
                <a:cs typeface="Arial"/>
              </a:defRPr>
            </a:lvl4pPr>
            <a:lvl5pPr algn="l">
              <a:defRPr sz="1125" b="0">
                <a:solidFill>
                  <a:srgbClr val="677C8D"/>
                </a:solidFill>
                <a:latin typeface="Arial"/>
                <a:ea typeface="Arial"/>
                <a:cs typeface="Arial"/>
              </a:defRPr>
            </a:lvl5pPr>
            <a:lvl6pPr algn="l">
              <a:defRPr sz="1125" b="0">
                <a:solidFill>
                  <a:srgbClr val="677C8D"/>
                </a:solidFill>
                <a:latin typeface="Arial"/>
                <a:ea typeface="Arial"/>
                <a:cs typeface="Arial"/>
              </a:defRPr>
            </a:lvl6pPr>
            <a:lvl7pPr algn="l">
              <a:defRPr sz="1125" b="0">
                <a:solidFill>
                  <a:srgbClr val="677C8D"/>
                </a:solidFill>
                <a:latin typeface="Arial"/>
                <a:ea typeface="Arial"/>
                <a:cs typeface="Arial"/>
              </a:defRPr>
            </a:lvl7pPr>
            <a:lvl8pPr algn="l">
              <a:defRPr sz="1125" b="0">
                <a:solidFill>
                  <a:srgbClr val="677C8D"/>
                </a:solidFill>
                <a:latin typeface="Arial"/>
                <a:ea typeface="Arial"/>
                <a:cs typeface="Arial"/>
              </a:defRPr>
            </a:lvl8pPr>
            <a:lvl9pPr algn="l">
              <a:defRPr sz="1125" b="0">
                <a:solidFill>
                  <a:srgbClr val="677C8D"/>
                </a:solidFill>
                <a:latin typeface="Arial"/>
                <a:ea typeface="Arial"/>
                <a:cs typeface="Arial"/>
              </a:defRPr>
            </a:lvl9pPr>
          </a:lstStyle>
          <a:p xmlns:a="http://schemas.openxmlformats.org/drawingml/2006/main">
            <a:pPr algn="l">
              <a:defRPr sz="1125" b="0">
                <a:solidFill>
                  <a:srgbClr val="677C8D"/>
                </a:solidFill>
                <a:latin typeface="Arial"/>
                <a:ea typeface="Arial"/>
                <a:cs typeface="Arial"/>
              </a:defRPr>
            </a:pPr>
            <a:r>
              <a:rPr sz="1125" b="0">
                <a:solidFill>
                  <a:srgbClr val="677C8D"/>
                </a:solidFill>
                <a:latin typeface="Arial"/>
                <a:ea typeface="Arial"/>
                <a:cs typeface="Arial"/>
              </a:rPr>
              <a:t>Olist historical orders, 2016–2018  •  Exploratory evidence</a:t>
            </a:r>
          </a:p>
        </p:txBody>
      </p:sp>
      <p:sp>
        <p:nvSpPr>
          <p:cNvPr id="4" name="page-3">
            <a:extLst xmlns:a="http://schemas.openxmlformats.org/drawingml/2006/main">
              <a:ext uri="{FF2B5EF4-FFF2-40B4-BE49-F238E27FC236}">
                <a16:creationId xmlns:a16="http://schemas.microsoft.com/office/drawing/2014/main" id="{D8F1E141-82F3-4354-9C81-3DEC1C297369}"/>
              </a:ext>
            </a:extLst>
          </p:cNvPr>
          <p:cNvSpPr>
            <a:spLocks xmlns:a="http://schemas.openxmlformats.org/drawingml/2006/main" noGrp="1"/>
          </p:cNvSpPr>
          <p:nvPr/>
        </p:nvSpPr>
        <p:spPr>
          <a:xfrm xmlns:a="http://schemas.openxmlformats.org/drawingml/2006/main">
            <a:off x="10763250" y="6248400"/>
            <a:ext cx="76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677C8D"/>
                </a:solidFill>
                <a:latin typeface="Arial"/>
                <a:ea typeface="Arial"/>
                <a:cs typeface="Arial"/>
              </a:defRPr>
            </a:defPPr>
            <a:lvl1pPr algn="r">
              <a:defRPr sz="1125" b="0">
                <a:solidFill>
                  <a:srgbClr val="677C8D"/>
                </a:solidFill>
                <a:latin typeface="Arial"/>
                <a:ea typeface="Arial"/>
                <a:cs typeface="Arial"/>
              </a:defRPr>
            </a:lvl1pPr>
            <a:lvl2pPr algn="r">
              <a:defRPr sz="1125" b="0">
                <a:solidFill>
                  <a:srgbClr val="677C8D"/>
                </a:solidFill>
                <a:latin typeface="Arial"/>
                <a:ea typeface="Arial"/>
                <a:cs typeface="Arial"/>
              </a:defRPr>
            </a:lvl2pPr>
            <a:lvl3pPr algn="r">
              <a:defRPr sz="1125" b="0">
                <a:solidFill>
                  <a:srgbClr val="677C8D"/>
                </a:solidFill>
                <a:latin typeface="Arial"/>
                <a:ea typeface="Arial"/>
                <a:cs typeface="Arial"/>
              </a:defRPr>
            </a:lvl3pPr>
            <a:lvl4pPr algn="r">
              <a:defRPr sz="1125" b="0">
                <a:solidFill>
                  <a:srgbClr val="677C8D"/>
                </a:solidFill>
                <a:latin typeface="Arial"/>
                <a:ea typeface="Arial"/>
                <a:cs typeface="Arial"/>
              </a:defRPr>
            </a:lvl4pPr>
            <a:lvl5pPr algn="r">
              <a:defRPr sz="1125" b="0">
                <a:solidFill>
                  <a:srgbClr val="677C8D"/>
                </a:solidFill>
                <a:latin typeface="Arial"/>
                <a:ea typeface="Arial"/>
                <a:cs typeface="Arial"/>
              </a:defRPr>
            </a:lvl5pPr>
            <a:lvl6pPr algn="r">
              <a:defRPr sz="1125" b="0">
                <a:solidFill>
                  <a:srgbClr val="677C8D"/>
                </a:solidFill>
                <a:latin typeface="Arial"/>
                <a:ea typeface="Arial"/>
                <a:cs typeface="Arial"/>
              </a:defRPr>
            </a:lvl6pPr>
            <a:lvl7pPr algn="r">
              <a:defRPr sz="1125" b="0">
                <a:solidFill>
                  <a:srgbClr val="677C8D"/>
                </a:solidFill>
                <a:latin typeface="Arial"/>
                <a:ea typeface="Arial"/>
                <a:cs typeface="Arial"/>
              </a:defRPr>
            </a:lvl7pPr>
            <a:lvl8pPr algn="r">
              <a:defRPr sz="1125" b="0">
                <a:solidFill>
                  <a:srgbClr val="677C8D"/>
                </a:solidFill>
                <a:latin typeface="Arial"/>
                <a:ea typeface="Arial"/>
                <a:cs typeface="Arial"/>
              </a:defRPr>
            </a:lvl8pPr>
            <a:lvl9pPr algn="r">
              <a:defRPr sz="1125" b="0">
                <a:solidFill>
                  <a:srgbClr val="677C8D"/>
                </a:solidFill>
                <a:latin typeface="Arial"/>
                <a:ea typeface="Arial"/>
                <a:cs typeface="Arial"/>
              </a:defRPr>
            </a:lvl9pPr>
          </a:lstStyle>
          <a:p xmlns:a="http://schemas.openxmlformats.org/drawingml/2006/main">
            <a:pPr algn="r">
              <a:defRPr sz="1125" b="0">
                <a:solidFill>
                  <a:srgbClr val="677C8D"/>
                </a:solidFill>
                <a:latin typeface="Arial"/>
                <a:ea typeface="Arial"/>
                <a:cs typeface="Arial"/>
              </a:defRPr>
            </a:pPr>
            <a:r>
              <a:rPr sz="1125" b="0">
                <a:solidFill>
                  <a:srgbClr val="677C8D"/>
                </a:solidFill>
                <a:latin typeface="Arial"/>
                <a:ea typeface="Arial"/>
                <a:cs typeface="Arial"/>
              </a:rPr>
              <a:t>3 / 8</a:t>
            </a:r>
          </a:p>
        </p:txBody>
      </p:sp>
      <p:sp>
        <p:nvSpPr>
          <p:cNvPr id="5" name="raw-n">
            <a:extLst xmlns:a="http://schemas.openxmlformats.org/drawingml/2006/main">
              <a:ext uri="{FF2B5EF4-FFF2-40B4-BE49-F238E27FC236}">
                <a16:creationId xmlns:a16="http://schemas.microsoft.com/office/drawing/2014/main" id="{7A5A588E-6B44-49C9-98F2-BFB0F6D43E66}"/>
              </a:ext>
            </a:extLst>
          </p:cNvPr>
          <p:cNvSpPr>
            <a:spLocks xmlns:a="http://schemas.openxmlformats.org/drawingml/2006/main" noGrp="1"/>
          </p:cNvSpPr>
          <p:nvPr/>
        </p:nvSpPr>
        <p:spPr>
          <a:xfrm xmlns:a="http://schemas.openxmlformats.org/drawingml/2006/main">
            <a:off x="704850" y="17335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123452"/>
                </a:solidFill>
                <a:latin typeface="Arial"/>
                <a:ea typeface="Arial"/>
                <a:cs typeface="Arial"/>
              </a:defRPr>
            </a:defPPr>
            <a:lvl1pPr algn="l">
              <a:defRPr sz="4350" b="1">
                <a:solidFill>
                  <a:srgbClr val="123452"/>
                </a:solidFill>
                <a:latin typeface="Arial"/>
                <a:ea typeface="Arial"/>
                <a:cs typeface="Arial"/>
              </a:defRPr>
            </a:lvl1pPr>
            <a:lvl2pPr algn="l">
              <a:defRPr sz="4350" b="1">
                <a:solidFill>
                  <a:srgbClr val="123452"/>
                </a:solidFill>
                <a:latin typeface="Arial"/>
                <a:ea typeface="Arial"/>
                <a:cs typeface="Arial"/>
              </a:defRPr>
            </a:lvl2pPr>
            <a:lvl3pPr algn="l">
              <a:defRPr sz="4350" b="1">
                <a:solidFill>
                  <a:srgbClr val="123452"/>
                </a:solidFill>
                <a:latin typeface="Arial"/>
                <a:ea typeface="Arial"/>
                <a:cs typeface="Arial"/>
              </a:defRPr>
            </a:lvl3pPr>
            <a:lvl4pPr algn="l">
              <a:defRPr sz="4350" b="1">
                <a:solidFill>
                  <a:srgbClr val="123452"/>
                </a:solidFill>
                <a:latin typeface="Arial"/>
                <a:ea typeface="Arial"/>
                <a:cs typeface="Arial"/>
              </a:defRPr>
            </a:lvl4pPr>
            <a:lvl5pPr algn="l">
              <a:defRPr sz="4350" b="1">
                <a:solidFill>
                  <a:srgbClr val="123452"/>
                </a:solidFill>
                <a:latin typeface="Arial"/>
                <a:ea typeface="Arial"/>
                <a:cs typeface="Arial"/>
              </a:defRPr>
            </a:lvl5pPr>
            <a:lvl6pPr algn="l">
              <a:defRPr sz="4350" b="1">
                <a:solidFill>
                  <a:srgbClr val="123452"/>
                </a:solidFill>
                <a:latin typeface="Arial"/>
                <a:ea typeface="Arial"/>
                <a:cs typeface="Arial"/>
              </a:defRPr>
            </a:lvl6pPr>
            <a:lvl7pPr algn="l">
              <a:defRPr sz="4350" b="1">
                <a:solidFill>
                  <a:srgbClr val="123452"/>
                </a:solidFill>
                <a:latin typeface="Arial"/>
                <a:ea typeface="Arial"/>
                <a:cs typeface="Arial"/>
              </a:defRPr>
            </a:lvl7pPr>
            <a:lvl8pPr algn="l">
              <a:defRPr sz="4350" b="1">
                <a:solidFill>
                  <a:srgbClr val="123452"/>
                </a:solidFill>
                <a:latin typeface="Arial"/>
                <a:ea typeface="Arial"/>
                <a:cs typeface="Arial"/>
              </a:defRPr>
            </a:lvl8pPr>
            <a:lvl9pPr algn="l">
              <a:defRPr sz="4350" b="1">
                <a:solidFill>
                  <a:srgbClr val="123452"/>
                </a:solidFill>
                <a:latin typeface="Arial"/>
                <a:ea typeface="Arial"/>
                <a:cs typeface="Arial"/>
              </a:defRPr>
            </a:lvl9pPr>
          </a:lstStyle>
          <a:p xmlns:a="http://schemas.openxmlformats.org/drawingml/2006/main">
            <a:pPr algn="l">
              <a:defRPr sz="4350" b="1">
                <a:solidFill>
                  <a:srgbClr val="123452"/>
                </a:solidFill>
                <a:latin typeface="Arial"/>
                <a:ea typeface="Arial"/>
                <a:cs typeface="Arial"/>
              </a:defRPr>
            </a:pPr>
            <a:r>
              <a:rPr sz="4350" b="1">
                <a:solidFill>
                  <a:srgbClr val="123452"/>
                </a:solidFill>
                <a:latin typeface="Arial"/>
                <a:ea typeface="Arial"/>
                <a:cs typeface="Arial"/>
              </a:rPr>
              <a:t>99,441</a:t>
            </a:r>
          </a:p>
        </p:txBody>
      </p:sp>
      <p:sp>
        <p:nvSpPr>
          <p:cNvPr id="6" name="raw-label">
            <a:extLst xmlns:a="http://schemas.openxmlformats.org/drawingml/2006/main">
              <a:ext uri="{FF2B5EF4-FFF2-40B4-BE49-F238E27FC236}">
                <a16:creationId xmlns:a16="http://schemas.microsoft.com/office/drawing/2014/main" id="{F02F0D98-BF53-4C70-9DD1-8F8F0ACDB223}"/>
              </a:ext>
            </a:extLst>
          </p:cNvPr>
          <p:cNvSpPr>
            <a:spLocks xmlns:a="http://schemas.openxmlformats.org/drawingml/2006/main" noGrp="1"/>
          </p:cNvSpPr>
          <p:nvPr/>
        </p:nvSpPr>
        <p:spPr>
          <a:xfrm xmlns:a="http://schemas.openxmlformats.org/drawingml/2006/main">
            <a:off x="704850" y="25717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76072"/>
                </a:solidFill>
                <a:latin typeface="Arial"/>
                <a:ea typeface="Arial"/>
                <a:cs typeface="Arial"/>
              </a:defRPr>
            </a:defPPr>
            <a:lvl1pPr algn="l">
              <a:defRPr sz="1800" b="0">
                <a:solidFill>
                  <a:srgbClr val="476072"/>
                </a:solidFill>
                <a:latin typeface="Arial"/>
                <a:ea typeface="Arial"/>
                <a:cs typeface="Arial"/>
              </a:defRPr>
            </a:lvl1pPr>
            <a:lvl2pPr algn="l">
              <a:defRPr sz="1800" b="0">
                <a:solidFill>
                  <a:srgbClr val="476072"/>
                </a:solidFill>
                <a:latin typeface="Arial"/>
                <a:ea typeface="Arial"/>
                <a:cs typeface="Arial"/>
              </a:defRPr>
            </a:lvl2pPr>
            <a:lvl3pPr algn="l">
              <a:defRPr sz="1800" b="0">
                <a:solidFill>
                  <a:srgbClr val="476072"/>
                </a:solidFill>
                <a:latin typeface="Arial"/>
                <a:ea typeface="Arial"/>
                <a:cs typeface="Arial"/>
              </a:defRPr>
            </a:lvl3pPr>
            <a:lvl4pPr algn="l">
              <a:defRPr sz="1800" b="0">
                <a:solidFill>
                  <a:srgbClr val="476072"/>
                </a:solidFill>
                <a:latin typeface="Arial"/>
                <a:ea typeface="Arial"/>
                <a:cs typeface="Arial"/>
              </a:defRPr>
            </a:lvl4pPr>
            <a:lvl5pPr algn="l">
              <a:defRPr sz="1800" b="0">
                <a:solidFill>
                  <a:srgbClr val="476072"/>
                </a:solidFill>
                <a:latin typeface="Arial"/>
                <a:ea typeface="Arial"/>
                <a:cs typeface="Arial"/>
              </a:defRPr>
            </a:lvl5pPr>
            <a:lvl6pPr algn="l">
              <a:defRPr sz="1800" b="0">
                <a:solidFill>
                  <a:srgbClr val="476072"/>
                </a:solidFill>
                <a:latin typeface="Arial"/>
                <a:ea typeface="Arial"/>
                <a:cs typeface="Arial"/>
              </a:defRPr>
            </a:lvl6pPr>
            <a:lvl7pPr algn="l">
              <a:defRPr sz="1800" b="0">
                <a:solidFill>
                  <a:srgbClr val="476072"/>
                </a:solidFill>
                <a:latin typeface="Arial"/>
                <a:ea typeface="Arial"/>
                <a:cs typeface="Arial"/>
              </a:defRPr>
            </a:lvl7pPr>
            <a:lvl8pPr algn="l">
              <a:defRPr sz="1800" b="0">
                <a:solidFill>
                  <a:srgbClr val="476072"/>
                </a:solidFill>
                <a:latin typeface="Arial"/>
                <a:ea typeface="Arial"/>
                <a:cs typeface="Arial"/>
              </a:defRPr>
            </a:lvl8pPr>
            <a:lvl9pPr algn="l">
              <a:defRPr sz="1800" b="0">
                <a:solidFill>
                  <a:srgbClr val="476072"/>
                </a:solidFill>
                <a:latin typeface="Arial"/>
                <a:ea typeface="Arial"/>
                <a:cs typeface="Arial"/>
              </a:defRPr>
            </a:lvl9pPr>
          </a:lstStyle>
          <a:p xmlns:a="http://schemas.openxmlformats.org/drawingml/2006/main">
            <a:pPr algn="l">
              <a:defRPr sz="1800" b="0">
                <a:solidFill>
                  <a:srgbClr val="476072"/>
                </a:solidFill>
                <a:latin typeface="Arial"/>
                <a:ea typeface="Arial"/>
                <a:cs typeface="Arial"/>
              </a:defRPr>
            </a:pPr>
            <a:r>
              <a:rPr sz="1800" b="0">
                <a:solidFill>
                  <a:srgbClr val="476072"/>
                </a:solidFill>
                <a:latin typeface="Arial"/>
                <a:ea typeface="Arial"/>
                <a:cs typeface="Arial"/>
              </a:rPr>
              <a:t>raw orders</a:t>
            </a:r>
          </a:p>
        </p:txBody>
      </p:sp>
      <p:sp>
        <p:nvSpPr>
          <p:cNvPr id="7" name="eligible-n">
            <a:extLst xmlns:a="http://schemas.openxmlformats.org/drawingml/2006/main">
              <a:ext uri="{FF2B5EF4-FFF2-40B4-BE49-F238E27FC236}">
                <a16:creationId xmlns:a16="http://schemas.microsoft.com/office/drawing/2014/main" id="{20D8ABA8-291B-4337-8486-5AEEE08E0308}"/>
              </a:ext>
            </a:extLst>
          </p:cNvPr>
          <p:cNvSpPr>
            <a:spLocks xmlns:a="http://schemas.openxmlformats.org/drawingml/2006/main" noGrp="1"/>
          </p:cNvSpPr>
          <p:nvPr/>
        </p:nvSpPr>
        <p:spPr>
          <a:xfrm xmlns:a="http://schemas.openxmlformats.org/drawingml/2006/main">
            <a:off x="4514850" y="17335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276D63"/>
                </a:solidFill>
                <a:latin typeface="Arial"/>
                <a:ea typeface="Arial"/>
                <a:cs typeface="Arial"/>
              </a:defRPr>
            </a:defPPr>
            <a:lvl1pPr algn="l">
              <a:defRPr sz="4350" b="1">
                <a:solidFill>
                  <a:srgbClr val="276D63"/>
                </a:solidFill>
                <a:latin typeface="Arial"/>
                <a:ea typeface="Arial"/>
                <a:cs typeface="Arial"/>
              </a:defRPr>
            </a:lvl1pPr>
            <a:lvl2pPr algn="l">
              <a:defRPr sz="4350" b="1">
                <a:solidFill>
                  <a:srgbClr val="276D63"/>
                </a:solidFill>
                <a:latin typeface="Arial"/>
                <a:ea typeface="Arial"/>
                <a:cs typeface="Arial"/>
              </a:defRPr>
            </a:lvl2pPr>
            <a:lvl3pPr algn="l">
              <a:defRPr sz="4350" b="1">
                <a:solidFill>
                  <a:srgbClr val="276D63"/>
                </a:solidFill>
                <a:latin typeface="Arial"/>
                <a:ea typeface="Arial"/>
                <a:cs typeface="Arial"/>
              </a:defRPr>
            </a:lvl3pPr>
            <a:lvl4pPr algn="l">
              <a:defRPr sz="4350" b="1">
                <a:solidFill>
                  <a:srgbClr val="276D63"/>
                </a:solidFill>
                <a:latin typeface="Arial"/>
                <a:ea typeface="Arial"/>
                <a:cs typeface="Arial"/>
              </a:defRPr>
            </a:lvl4pPr>
            <a:lvl5pPr algn="l">
              <a:defRPr sz="4350" b="1">
                <a:solidFill>
                  <a:srgbClr val="276D63"/>
                </a:solidFill>
                <a:latin typeface="Arial"/>
                <a:ea typeface="Arial"/>
                <a:cs typeface="Arial"/>
              </a:defRPr>
            </a:lvl5pPr>
            <a:lvl6pPr algn="l">
              <a:defRPr sz="4350" b="1">
                <a:solidFill>
                  <a:srgbClr val="276D63"/>
                </a:solidFill>
                <a:latin typeface="Arial"/>
                <a:ea typeface="Arial"/>
                <a:cs typeface="Arial"/>
              </a:defRPr>
            </a:lvl6pPr>
            <a:lvl7pPr algn="l">
              <a:defRPr sz="4350" b="1">
                <a:solidFill>
                  <a:srgbClr val="276D63"/>
                </a:solidFill>
                <a:latin typeface="Arial"/>
                <a:ea typeface="Arial"/>
                <a:cs typeface="Arial"/>
              </a:defRPr>
            </a:lvl7pPr>
            <a:lvl8pPr algn="l">
              <a:defRPr sz="4350" b="1">
                <a:solidFill>
                  <a:srgbClr val="276D63"/>
                </a:solidFill>
                <a:latin typeface="Arial"/>
                <a:ea typeface="Arial"/>
                <a:cs typeface="Arial"/>
              </a:defRPr>
            </a:lvl8pPr>
            <a:lvl9pPr algn="l">
              <a:defRPr sz="4350" b="1">
                <a:solidFill>
                  <a:srgbClr val="276D63"/>
                </a:solidFill>
                <a:latin typeface="Arial"/>
                <a:ea typeface="Arial"/>
                <a:cs typeface="Arial"/>
              </a:defRPr>
            </a:lvl9pPr>
          </a:lstStyle>
          <a:p xmlns:a="http://schemas.openxmlformats.org/drawingml/2006/main">
            <a:pPr algn="l">
              <a:defRPr sz="4350" b="1">
                <a:solidFill>
                  <a:srgbClr val="276D63"/>
                </a:solidFill>
                <a:latin typeface="Arial"/>
                <a:ea typeface="Arial"/>
                <a:cs typeface="Arial"/>
              </a:defRPr>
            </a:pPr>
            <a:r>
              <a:rPr sz="4350" b="1">
                <a:solidFill>
                  <a:srgbClr val="276D63"/>
                </a:solidFill>
                <a:latin typeface="Arial"/>
                <a:ea typeface="Arial"/>
                <a:cs typeface="Arial"/>
              </a:rPr>
              <a:t>98,652</a:t>
            </a:r>
          </a:p>
        </p:txBody>
      </p:sp>
      <p:sp>
        <p:nvSpPr>
          <p:cNvPr id="8" name="eligible-label">
            <a:extLst xmlns:a="http://schemas.openxmlformats.org/drawingml/2006/main">
              <a:ext uri="{FF2B5EF4-FFF2-40B4-BE49-F238E27FC236}">
                <a16:creationId xmlns:a16="http://schemas.microsoft.com/office/drawing/2014/main" id="{7F4E01B6-8786-46D9-A6A4-86368F2358D2}"/>
              </a:ext>
            </a:extLst>
          </p:cNvPr>
          <p:cNvSpPr>
            <a:spLocks xmlns:a="http://schemas.openxmlformats.org/drawingml/2006/main" noGrp="1"/>
          </p:cNvSpPr>
          <p:nvPr/>
        </p:nvSpPr>
        <p:spPr>
          <a:xfrm xmlns:a="http://schemas.openxmlformats.org/drawingml/2006/main">
            <a:off x="4514850" y="25717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76072"/>
                </a:solidFill>
                <a:latin typeface="Arial"/>
                <a:ea typeface="Arial"/>
                <a:cs typeface="Arial"/>
              </a:defRPr>
            </a:defPPr>
            <a:lvl1pPr algn="l">
              <a:defRPr sz="1800" b="0">
                <a:solidFill>
                  <a:srgbClr val="476072"/>
                </a:solidFill>
                <a:latin typeface="Arial"/>
                <a:ea typeface="Arial"/>
                <a:cs typeface="Arial"/>
              </a:defRPr>
            </a:lvl1pPr>
            <a:lvl2pPr algn="l">
              <a:defRPr sz="1800" b="0">
                <a:solidFill>
                  <a:srgbClr val="476072"/>
                </a:solidFill>
                <a:latin typeface="Arial"/>
                <a:ea typeface="Arial"/>
                <a:cs typeface="Arial"/>
              </a:defRPr>
            </a:lvl2pPr>
            <a:lvl3pPr algn="l">
              <a:defRPr sz="1800" b="0">
                <a:solidFill>
                  <a:srgbClr val="476072"/>
                </a:solidFill>
                <a:latin typeface="Arial"/>
                <a:ea typeface="Arial"/>
                <a:cs typeface="Arial"/>
              </a:defRPr>
            </a:lvl3pPr>
            <a:lvl4pPr algn="l">
              <a:defRPr sz="1800" b="0">
                <a:solidFill>
                  <a:srgbClr val="476072"/>
                </a:solidFill>
                <a:latin typeface="Arial"/>
                <a:ea typeface="Arial"/>
                <a:cs typeface="Arial"/>
              </a:defRPr>
            </a:lvl4pPr>
            <a:lvl5pPr algn="l">
              <a:defRPr sz="1800" b="0">
                <a:solidFill>
                  <a:srgbClr val="476072"/>
                </a:solidFill>
                <a:latin typeface="Arial"/>
                <a:ea typeface="Arial"/>
                <a:cs typeface="Arial"/>
              </a:defRPr>
            </a:lvl5pPr>
            <a:lvl6pPr algn="l">
              <a:defRPr sz="1800" b="0">
                <a:solidFill>
                  <a:srgbClr val="476072"/>
                </a:solidFill>
                <a:latin typeface="Arial"/>
                <a:ea typeface="Arial"/>
                <a:cs typeface="Arial"/>
              </a:defRPr>
            </a:lvl6pPr>
            <a:lvl7pPr algn="l">
              <a:defRPr sz="1800" b="0">
                <a:solidFill>
                  <a:srgbClr val="476072"/>
                </a:solidFill>
                <a:latin typeface="Arial"/>
                <a:ea typeface="Arial"/>
                <a:cs typeface="Arial"/>
              </a:defRPr>
            </a:lvl7pPr>
            <a:lvl8pPr algn="l">
              <a:defRPr sz="1800" b="0">
                <a:solidFill>
                  <a:srgbClr val="476072"/>
                </a:solidFill>
                <a:latin typeface="Arial"/>
                <a:ea typeface="Arial"/>
                <a:cs typeface="Arial"/>
              </a:defRPr>
            </a:lvl8pPr>
            <a:lvl9pPr algn="l">
              <a:defRPr sz="1800" b="0">
                <a:solidFill>
                  <a:srgbClr val="476072"/>
                </a:solidFill>
                <a:latin typeface="Arial"/>
                <a:ea typeface="Arial"/>
                <a:cs typeface="Arial"/>
              </a:defRPr>
            </a:lvl9pPr>
          </a:lstStyle>
          <a:p xmlns:a="http://schemas.openxmlformats.org/drawingml/2006/main">
            <a:pPr algn="l">
              <a:defRPr sz="1800" b="0">
                <a:solidFill>
                  <a:srgbClr val="476072"/>
                </a:solidFill>
                <a:latin typeface="Arial"/>
                <a:ea typeface="Arial"/>
                <a:cs typeface="Arial"/>
              </a:defRPr>
            </a:pPr>
            <a:r>
              <a:rPr sz="1800" b="0">
                <a:solidFill>
                  <a:srgbClr val="476072"/>
                </a:solidFill>
                <a:latin typeface="Arial"/>
                <a:ea typeface="Arial"/>
                <a:cs typeface="Arial"/>
              </a:rPr>
              <a:t>eligible orders</a:t>
            </a:r>
          </a:p>
        </p:txBody>
      </p:sp>
      <p:sp>
        <p:nvSpPr>
          <p:cNvPr id="9" name="excluded-n">
            <a:extLst xmlns:a="http://schemas.openxmlformats.org/drawingml/2006/main">
              <a:ext uri="{FF2B5EF4-FFF2-40B4-BE49-F238E27FC236}">
                <a16:creationId xmlns:a16="http://schemas.microsoft.com/office/drawing/2014/main" id="{0A213801-5AD9-4CC0-8F46-A3608A47147B}"/>
              </a:ext>
            </a:extLst>
          </p:cNvPr>
          <p:cNvSpPr>
            <a:spLocks xmlns:a="http://schemas.openxmlformats.org/drawingml/2006/main" noGrp="1"/>
          </p:cNvSpPr>
          <p:nvPr/>
        </p:nvSpPr>
        <p:spPr>
          <a:xfrm xmlns:a="http://schemas.openxmlformats.org/drawingml/2006/main">
            <a:off x="8324850" y="1733550"/>
            <a:ext cx="238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A94842"/>
                </a:solidFill>
                <a:latin typeface="Arial"/>
                <a:ea typeface="Arial"/>
                <a:cs typeface="Arial"/>
              </a:defRPr>
            </a:defPPr>
            <a:lvl1pPr algn="l">
              <a:defRPr sz="4350" b="1">
                <a:solidFill>
                  <a:srgbClr val="A94842"/>
                </a:solidFill>
                <a:latin typeface="Arial"/>
                <a:ea typeface="Arial"/>
                <a:cs typeface="Arial"/>
              </a:defRPr>
            </a:lvl1pPr>
            <a:lvl2pPr algn="l">
              <a:defRPr sz="4350" b="1">
                <a:solidFill>
                  <a:srgbClr val="A94842"/>
                </a:solidFill>
                <a:latin typeface="Arial"/>
                <a:ea typeface="Arial"/>
                <a:cs typeface="Arial"/>
              </a:defRPr>
            </a:lvl2pPr>
            <a:lvl3pPr algn="l">
              <a:defRPr sz="4350" b="1">
                <a:solidFill>
                  <a:srgbClr val="A94842"/>
                </a:solidFill>
                <a:latin typeface="Arial"/>
                <a:ea typeface="Arial"/>
                <a:cs typeface="Arial"/>
              </a:defRPr>
            </a:lvl3pPr>
            <a:lvl4pPr algn="l">
              <a:defRPr sz="4350" b="1">
                <a:solidFill>
                  <a:srgbClr val="A94842"/>
                </a:solidFill>
                <a:latin typeface="Arial"/>
                <a:ea typeface="Arial"/>
                <a:cs typeface="Arial"/>
              </a:defRPr>
            </a:lvl4pPr>
            <a:lvl5pPr algn="l">
              <a:defRPr sz="4350" b="1">
                <a:solidFill>
                  <a:srgbClr val="A94842"/>
                </a:solidFill>
                <a:latin typeface="Arial"/>
                <a:ea typeface="Arial"/>
                <a:cs typeface="Arial"/>
              </a:defRPr>
            </a:lvl5pPr>
            <a:lvl6pPr algn="l">
              <a:defRPr sz="4350" b="1">
                <a:solidFill>
                  <a:srgbClr val="A94842"/>
                </a:solidFill>
                <a:latin typeface="Arial"/>
                <a:ea typeface="Arial"/>
                <a:cs typeface="Arial"/>
              </a:defRPr>
            </a:lvl6pPr>
            <a:lvl7pPr algn="l">
              <a:defRPr sz="4350" b="1">
                <a:solidFill>
                  <a:srgbClr val="A94842"/>
                </a:solidFill>
                <a:latin typeface="Arial"/>
                <a:ea typeface="Arial"/>
                <a:cs typeface="Arial"/>
              </a:defRPr>
            </a:lvl7pPr>
            <a:lvl8pPr algn="l">
              <a:defRPr sz="4350" b="1">
                <a:solidFill>
                  <a:srgbClr val="A94842"/>
                </a:solidFill>
                <a:latin typeface="Arial"/>
                <a:ea typeface="Arial"/>
                <a:cs typeface="Arial"/>
              </a:defRPr>
            </a:lvl8pPr>
            <a:lvl9pPr algn="l">
              <a:defRPr sz="4350" b="1">
                <a:solidFill>
                  <a:srgbClr val="A94842"/>
                </a:solidFill>
                <a:latin typeface="Arial"/>
                <a:ea typeface="Arial"/>
                <a:cs typeface="Arial"/>
              </a:defRPr>
            </a:lvl9pPr>
          </a:lstStyle>
          <a:p xmlns:a="http://schemas.openxmlformats.org/drawingml/2006/main">
            <a:pPr algn="l">
              <a:defRPr sz="4350" b="1">
                <a:solidFill>
                  <a:srgbClr val="A94842"/>
                </a:solidFill>
                <a:latin typeface="Arial"/>
                <a:ea typeface="Arial"/>
                <a:cs typeface="Arial"/>
              </a:defRPr>
            </a:pPr>
            <a:r>
              <a:rPr sz="4350" b="1">
                <a:solidFill>
                  <a:srgbClr val="A94842"/>
                </a:solidFill>
                <a:latin typeface="Arial"/>
                <a:ea typeface="Arial"/>
                <a:cs typeface="Arial"/>
              </a:rPr>
              <a:t>789</a:t>
            </a:r>
          </a:p>
        </p:txBody>
      </p:sp>
      <p:sp>
        <p:nvSpPr>
          <p:cNvPr id="10" name="excluded-label">
            <a:extLst xmlns:a="http://schemas.openxmlformats.org/drawingml/2006/main">
              <a:ext uri="{FF2B5EF4-FFF2-40B4-BE49-F238E27FC236}">
                <a16:creationId xmlns:a16="http://schemas.microsoft.com/office/drawing/2014/main" id="{04E6BAD5-2BD6-463F-9E99-68D5B25887A9}"/>
              </a:ext>
            </a:extLst>
          </p:cNvPr>
          <p:cNvSpPr>
            <a:spLocks xmlns:a="http://schemas.openxmlformats.org/drawingml/2006/main" noGrp="1"/>
          </p:cNvSpPr>
          <p:nvPr/>
        </p:nvSpPr>
        <p:spPr>
          <a:xfrm xmlns:a="http://schemas.openxmlformats.org/drawingml/2006/main">
            <a:off x="83248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76072"/>
                </a:solidFill>
                <a:latin typeface="Arial"/>
                <a:ea typeface="Arial"/>
                <a:cs typeface="Arial"/>
              </a:defRPr>
            </a:defPPr>
            <a:lvl1pPr algn="l">
              <a:defRPr sz="1800" b="0">
                <a:solidFill>
                  <a:srgbClr val="476072"/>
                </a:solidFill>
                <a:latin typeface="Arial"/>
                <a:ea typeface="Arial"/>
                <a:cs typeface="Arial"/>
              </a:defRPr>
            </a:lvl1pPr>
            <a:lvl2pPr algn="l">
              <a:defRPr sz="1800" b="0">
                <a:solidFill>
                  <a:srgbClr val="476072"/>
                </a:solidFill>
                <a:latin typeface="Arial"/>
                <a:ea typeface="Arial"/>
                <a:cs typeface="Arial"/>
              </a:defRPr>
            </a:lvl2pPr>
            <a:lvl3pPr algn="l">
              <a:defRPr sz="1800" b="0">
                <a:solidFill>
                  <a:srgbClr val="476072"/>
                </a:solidFill>
                <a:latin typeface="Arial"/>
                <a:ea typeface="Arial"/>
                <a:cs typeface="Arial"/>
              </a:defRPr>
            </a:lvl3pPr>
            <a:lvl4pPr algn="l">
              <a:defRPr sz="1800" b="0">
                <a:solidFill>
                  <a:srgbClr val="476072"/>
                </a:solidFill>
                <a:latin typeface="Arial"/>
                <a:ea typeface="Arial"/>
                <a:cs typeface="Arial"/>
              </a:defRPr>
            </a:lvl4pPr>
            <a:lvl5pPr algn="l">
              <a:defRPr sz="1800" b="0">
                <a:solidFill>
                  <a:srgbClr val="476072"/>
                </a:solidFill>
                <a:latin typeface="Arial"/>
                <a:ea typeface="Arial"/>
                <a:cs typeface="Arial"/>
              </a:defRPr>
            </a:lvl5pPr>
            <a:lvl6pPr algn="l">
              <a:defRPr sz="1800" b="0">
                <a:solidFill>
                  <a:srgbClr val="476072"/>
                </a:solidFill>
                <a:latin typeface="Arial"/>
                <a:ea typeface="Arial"/>
                <a:cs typeface="Arial"/>
              </a:defRPr>
            </a:lvl6pPr>
            <a:lvl7pPr algn="l">
              <a:defRPr sz="1800" b="0">
                <a:solidFill>
                  <a:srgbClr val="476072"/>
                </a:solidFill>
                <a:latin typeface="Arial"/>
                <a:ea typeface="Arial"/>
                <a:cs typeface="Arial"/>
              </a:defRPr>
            </a:lvl7pPr>
            <a:lvl8pPr algn="l">
              <a:defRPr sz="1800" b="0">
                <a:solidFill>
                  <a:srgbClr val="476072"/>
                </a:solidFill>
                <a:latin typeface="Arial"/>
                <a:ea typeface="Arial"/>
                <a:cs typeface="Arial"/>
              </a:defRPr>
            </a:lvl8pPr>
            <a:lvl9pPr algn="l">
              <a:defRPr sz="1800" b="0">
                <a:solidFill>
                  <a:srgbClr val="476072"/>
                </a:solidFill>
                <a:latin typeface="Arial"/>
                <a:ea typeface="Arial"/>
                <a:cs typeface="Arial"/>
              </a:defRPr>
            </a:lvl9pPr>
          </a:lstStyle>
          <a:p xmlns:a="http://schemas.openxmlformats.org/drawingml/2006/main">
            <a:pPr algn="l">
              <a:defRPr sz="1800" b="0">
                <a:solidFill>
                  <a:srgbClr val="476072"/>
                </a:solidFill>
                <a:latin typeface="Arial"/>
                <a:ea typeface="Arial"/>
                <a:cs typeface="Arial"/>
              </a:defRPr>
            </a:pPr>
            <a:r>
              <a:rPr sz="1800" b="0">
                <a:solidFill>
                  <a:srgbClr val="476072"/>
                </a:solidFill>
                <a:latin typeface="Arial"/>
                <a:ea typeface="Arial"/>
                <a:cs typeface="Arial"/>
              </a:rPr>
              <a:t>excluded orders</a:t>
            </a:r>
          </a:p>
        </p:txBody>
      </p:sp>
      <p:sp>
        <p:nvSpPr>
          <p:cNvPr id="11" name="clean-rule">
            <a:extLst xmlns:a="http://schemas.openxmlformats.org/drawingml/2006/main">
              <a:ext uri="{FF2B5EF4-FFF2-40B4-BE49-F238E27FC236}">
                <a16:creationId xmlns:a16="http://schemas.microsoft.com/office/drawing/2014/main" id="{7DEE7348-B7D9-4364-8CEC-2B9875BD5BA5}"/>
              </a:ext>
            </a:extLst>
          </p:cNvPr>
          <p:cNvSpPr>
            <a:spLocks xmlns:a="http://schemas.openxmlformats.org/drawingml/2006/main" noGrp="1"/>
          </p:cNvSpPr>
          <p:nvPr/>
        </p:nvSpPr>
        <p:spPr>
          <a:xfrm xmlns:a="http://schemas.openxmlformats.org/drawingml/2006/main">
            <a:off x="704850" y="3562350"/>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72638"/>
                </a:solidFill>
                <a:latin typeface="Arial"/>
                <a:ea typeface="Arial"/>
                <a:cs typeface="Arial"/>
              </a:defRPr>
            </a:defPPr>
            <a:lvl1pPr algn="l">
              <a:defRPr sz="2325" b="1">
                <a:solidFill>
                  <a:srgbClr val="172638"/>
                </a:solidFill>
                <a:latin typeface="Arial"/>
                <a:ea typeface="Arial"/>
                <a:cs typeface="Arial"/>
              </a:defRPr>
            </a:lvl1pPr>
            <a:lvl2pPr algn="l">
              <a:defRPr sz="2325" b="1">
                <a:solidFill>
                  <a:srgbClr val="172638"/>
                </a:solidFill>
                <a:latin typeface="Arial"/>
                <a:ea typeface="Arial"/>
                <a:cs typeface="Arial"/>
              </a:defRPr>
            </a:lvl2pPr>
            <a:lvl3pPr algn="l">
              <a:defRPr sz="2325" b="1">
                <a:solidFill>
                  <a:srgbClr val="172638"/>
                </a:solidFill>
                <a:latin typeface="Arial"/>
                <a:ea typeface="Arial"/>
                <a:cs typeface="Arial"/>
              </a:defRPr>
            </a:lvl3pPr>
            <a:lvl4pPr algn="l">
              <a:defRPr sz="2325" b="1">
                <a:solidFill>
                  <a:srgbClr val="172638"/>
                </a:solidFill>
                <a:latin typeface="Arial"/>
                <a:ea typeface="Arial"/>
                <a:cs typeface="Arial"/>
              </a:defRPr>
            </a:lvl4pPr>
            <a:lvl5pPr algn="l">
              <a:defRPr sz="2325" b="1">
                <a:solidFill>
                  <a:srgbClr val="172638"/>
                </a:solidFill>
                <a:latin typeface="Arial"/>
                <a:ea typeface="Arial"/>
                <a:cs typeface="Arial"/>
              </a:defRPr>
            </a:lvl5pPr>
            <a:lvl6pPr algn="l">
              <a:defRPr sz="2325" b="1">
                <a:solidFill>
                  <a:srgbClr val="172638"/>
                </a:solidFill>
                <a:latin typeface="Arial"/>
                <a:ea typeface="Arial"/>
                <a:cs typeface="Arial"/>
              </a:defRPr>
            </a:lvl6pPr>
            <a:lvl7pPr algn="l">
              <a:defRPr sz="2325" b="1">
                <a:solidFill>
                  <a:srgbClr val="172638"/>
                </a:solidFill>
                <a:latin typeface="Arial"/>
                <a:ea typeface="Arial"/>
                <a:cs typeface="Arial"/>
              </a:defRPr>
            </a:lvl7pPr>
            <a:lvl8pPr algn="l">
              <a:defRPr sz="2325" b="1">
                <a:solidFill>
                  <a:srgbClr val="172638"/>
                </a:solidFill>
                <a:latin typeface="Arial"/>
                <a:ea typeface="Arial"/>
                <a:cs typeface="Arial"/>
              </a:defRPr>
            </a:lvl8pPr>
            <a:lvl9pPr algn="l">
              <a:defRPr sz="2325" b="1">
                <a:solidFill>
                  <a:srgbClr val="172638"/>
                </a:solidFill>
                <a:latin typeface="Arial"/>
                <a:ea typeface="Arial"/>
                <a:cs typeface="Arial"/>
              </a:defRPr>
            </a:lvl9pPr>
          </a:lstStyle>
          <a:p xmlns:a="http://schemas.openxmlformats.org/drawingml/2006/main">
            <a:pPr algn="l">
              <a:defRPr sz="2325" b="1">
                <a:solidFill>
                  <a:srgbClr val="172638"/>
                </a:solidFill>
                <a:latin typeface="Arial"/>
                <a:ea typeface="Arial"/>
                <a:cs typeface="Arial"/>
              </a:defRPr>
            </a:pPr>
            <a:r>
              <a:rPr sz="2325" b="1">
                <a:solidFill>
                  <a:srgbClr val="172638"/>
                </a:solidFill>
                <a:latin typeface="Arial"/>
                <a:ea typeface="Arial"/>
                <a:cs typeface="Arial"/>
              </a:rPr>
              <a:t>First sum item prices per order. Then link orders to unique buyers.</a:t>
            </a:r>
          </a:p>
        </p:txBody>
      </p:sp>
      <p:sp>
        <p:nvSpPr>
          <p:cNvPr id="12" name="clean-details">
            <a:extLst xmlns:a="http://schemas.openxmlformats.org/drawingml/2006/main">
              <a:ext uri="{FF2B5EF4-FFF2-40B4-BE49-F238E27FC236}">
                <a16:creationId xmlns:a16="http://schemas.microsoft.com/office/drawing/2014/main" id="{387DC4C7-40D1-4879-9765-0EE038675AC1}"/>
              </a:ext>
            </a:extLst>
          </p:cNvPr>
          <p:cNvSpPr>
            <a:spLocks xmlns:a="http://schemas.openxmlformats.org/drawingml/2006/main" noGrp="1"/>
          </p:cNvSpPr>
          <p:nvPr/>
        </p:nvSpPr>
        <p:spPr>
          <a:xfrm xmlns:a="http://schemas.openxmlformats.org/drawingml/2006/main">
            <a:off x="704850" y="4572000"/>
            <a:ext cx="1047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76072"/>
                </a:solidFill>
                <a:latin typeface="Arial"/>
                <a:ea typeface="Arial"/>
                <a:cs typeface="Arial"/>
              </a:defRPr>
            </a:defPPr>
            <a:lvl1pPr algn="l">
              <a:defRPr sz="1800" b="0">
                <a:solidFill>
                  <a:srgbClr val="476072"/>
                </a:solidFill>
                <a:latin typeface="Arial"/>
                <a:ea typeface="Arial"/>
                <a:cs typeface="Arial"/>
              </a:defRPr>
            </a:lvl1pPr>
            <a:lvl2pPr algn="l">
              <a:defRPr sz="1800" b="0">
                <a:solidFill>
                  <a:srgbClr val="476072"/>
                </a:solidFill>
                <a:latin typeface="Arial"/>
                <a:ea typeface="Arial"/>
                <a:cs typeface="Arial"/>
              </a:defRPr>
            </a:lvl2pPr>
            <a:lvl3pPr algn="l">
              <a:defRPr sz="1800" b="0">
                <a:solidFill>
                  <a:srgbClr val="476072"/>
                </a:solidFill>
                <a:latin typeface="Arial"/>
                <a:ea typeface="Arial"/>
                <a:cs typeface="Arial"/>
              </a:defRPr>
            </a:lvl3pPr>
            <a:lvl4pPr algn="l">
              <a:defRPr sz="1800" b="0">
                <a:solidFill>
                  <a:srgbClr val="476072"/>
                </a:solidFill>
                <a:latin typeface="Arial"/>
                <a:ea typeface="Arial"/>
                <a:cs typeface="Arial"/>
              </a:defRPr>
            </a:lvl4pPr>
            <a:lvl5pPr algn="l">
              <a:defRPr sz="1800" b="0">
                <a:solidFill>
                  <a:srgbClr val="476072"/>
                </a:solidFill>
                <a:latin typeface="Arial"/>
                <a:ea typeface="Arial"/>
                <a:cs typeface="Arial"/>
              </a:defRPr>
            </a:lvl5pPr>
            <a:lvl6pPr algn="l">
              <a:defRPr sz="1800" b="0">
                <a:solidFill>
                  <a:srgbClr val="476072"/>
                </a:solidFill>
                <a:latin typeface="Arial"/>
                <a:ea typeface="Arial"/>
                <a:cs typeface="Arial"/>
              </a:defRPr>
            </a:lvl6pPr>
            <a:lvl7pPr algn="l">
              <a:defRPr sz="1800" b="0">
                <a:solidFill>
                  <a:srgbClr val="476072"/>
                </a:solidFill>
                <a:latin typeface="Arial"/>
                <a:ea typeface="Arial"/>
                <a:cs typeface="Arial"/>
              </a:defRPr>
            </a:lvl7pPr>
            <a:lvl8pPr algn="l">
              <a:defRPr sz="1800" b="0">
                <a:solidFill>
                  <a:srgbClr val="476072"/>
                </a:solidFill>
                <a:latin typeface="Arial"/>
                <a:ea typeface="Arial"/>
                <a:cs typeface="Arial"/>
              </a:defRPr>
            </a:lvl8pPr>
            <a:lvl9pPr algn="l">
              <a:defRPr sz="1800" b="0">
                <a:solidFill>
                  <a:srgbClr val="476072"/>
                </a:solidFill>
                <a:latin typeface="Arial"/>
                <a:ea typeface="Arial"/>
                <a:cs typeface="Arial"/>
              </a:defRPr>
            </a:lvl9pPr>
          </a:lstStyle>
          <a:p xmlns:a="http://schemas.openxmlformats.org/drawingml/2006/main">
            <a:pPr algn="l">
              <a:defRPr sz="1800" b="0">
                <a:solidFill>
                  <a:srgbClr val="476072"/>
                </a:solidFill>
                <a:latin typeface="Arial"/>
                <a:ea typeface="Arial"/>
                <a:cs typeface="Arial"/>
              </a:defRPr>
            </a:pPr>
            <a:r>
              <a:rPr sz="1800" b="0">
                <a:solidFill>
                  <a:srgbClr val="476072"/>
                </a:solidFill>
                <a:latin typeface="Arial"/>
                <a:ea typeface="Arial"/>
                <a:cs typeface="Arial"/>
              </a:rPr>
              <a:t>160 have no approval time; 775 have no item rows. These reasons overlap.</a:t>
            </a:r>
          </a:p>
          <a:p xmlns:a="http://schemas.openxmlformats.org/drawingml/2006/main">
            <a:pPr algn="l">
              <a:defRPr sz="1800" b="0">
                <a:solidFill>
                  <a:srgbClr val="476072"/>
                </a:solidFill>
                <a:latin typeface="Arial"/>
                <a:ea typeface="Arial"/>
                <a:cs typeface="Arial"/>
              </a:defRPr>
            </a:pPr>
            <a:r>
              <a:rPr sz="1800" b="0">
                <a:solidFill>
                  <a:srgbClr val="476072"/>
                </a:solidFill>
                <a:latin typeface="Arial"/>
                <a:ea typeface="Arial"/>
                <a:cs typeface="Arial"/>
              </a:rPr>
              <a:t>Raw CSVs stay unchanged; later order status is not used as a historical filter.</a:t>
            </a:r>
          </a:p>
        </p:txBody>
      </p:sp>
    </p:spTree>
    <p:extLst>
      <p:ext uri="{BB962C8B-B14F-4D97-AF65-F5344CB8AC3E}">
        <p14:creationId xmlns:p14="http://schemas.microsoft.com/office/powerpoint/2010/main" val="19907244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eyebrow-4">
            <a:extLst xmlns:a="http://schemas.openxmlformats.org/drawingml/2006/main">
              <a:ext uri="{FF2B5EF4-FFF2-40B4-BE49-F238E27FC236}">
                <a16:creationId xmlns:a16="http://schemas.microsoft.com/office/drawing/2014/main" id="{406E4E61-954C-4749-ACFF-B67CCF6950E0}"/>
              </a:ext>
            </a:extLst>
          </p:cNvPr>
          <p:cNvSpPr>
            <a:spLocks xmlns:a="http://schemas.openxmlformats.org/drawingml/2006/main" noGrp="1"/>
          </p:cNvSpPr>
          <p:nvPr/>
        </p:nvSpPr>
        <p:spPr>
          <a:xfrm xmlns:a="http://schemas.openxmlformats.org/drawingml/2006/main">
            <a:off x="647700" y="2667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46895"/>
                </a:solidFill>
                <a:latin typeface="Arial"/>
                <a:ea typeface="Arial"/>
                <a:cs typeface="Arial"/>
              </a:defRPr>
            </a:defPPr>
            <a:lvl1pPr algn="l">
              <a:defRPr sz="1200" b="1">
                <a:solidFill>
                  <a:srgbClr val="246895"/>
                </a:solidFill>
                <a:latin typeface="Arial"/>
                <a:ea typeface="Arial"/>
                <a:cs typeface="Arial"/>
              </a:defRPr>
            </a:lvl1pPr>
            <a:lvl2pPr algn="l">
              <a:defRPr sz="1200" b="1">
                <a:solidFill>
                  <a:srgbClr val="246895"/>
                </a:solidFill>
                <a:latin typeface="Arial"/>
                <a:ea typeface="Arial"/>
                <a:cs typeface="Arial"/>
              </a:defRPr>
            </a:lvl2pPr>
            <a:lvl3pPr algn="l">
              <a:defRPr sz="1200" b="1">
                <a:solidFill>
                  <a:srgbClr val="246895"/>
                </a:solidFill>
                <a:latin typeface="Arial"/>
                <a:ea typeface="Arial"/>
                <a:cs typeface="Arial"/>
              </a:defRPr>
            </a:lvl3pPr>
            <a:lvl4pPr algn="l">
              <a:defRPr sz="1200" b="1">
                <a:solidFill>
                  <a:srgbClr val="246895"/>
                </a:solidFill>
                <a:latin typeface="Arial"/>
                <a:ea typeface="Arial"/>
                <a:cs typeface="Arial"/>
              </a:defRPr>
            </a:lvl4pPr>
            <a:lvl5pPr algn="l">
              <a:defRPr sz="1200" b="1">
                <a:solidFill>
                  <a:srgbClr val="246895"/>
                </a:solidFill>
                <a:latin typeface="Arial"/>
                <a:ea typeface="Arial"/>
                <a:cs typeface="Arial"/>
              </a:defRPr>
            </a:lvl5pPr>
            <a:lvl6pPr algn="l">
              <a:defRPr sz="1200" b="1">
                <a:solidFill>
                  <a:srgbClr val="246895"/>
                </a:solidFill>
                <a:latin typeface="Arial"/>
                <a:ea typeface="Arial"/>
                <a:cs typeface="Arial"/>
              </a:defRPr>
            </a:lvl6pPr>
            <a:lvl7pPr algn="l">
              <a:defRPr sz="1200" b="1">
                <a:solidFill>
                  <a:srgbClr val="246895"/>
                </a:solidFill>
                <a:latin typeface="Arial"/>
                <a:ea typeface="Arial"/>
                <a:cs typeface="Arial"/>
              </a:defRPr>
            </a:lvl7pPr>
            <a:lvl8pPr algn="l">
              <a:defRPr sz="1200" b="1">
                <a:solidFill>
                  <a:srgbClr val="246895"/>
                </a:solidFill>
                <a:latin typeface="Arial"/>
                <a:ea typeface="Arial"/>
                <a:cs typeface="Arial"/>
              </a:defRPr>
            </a:lvl8pPr>
            <a:lvl9pPr algn="l">
              <a:defRPr sz="1200" b="1">
                <a:solidFill>
                  <a:srgbClr val="246895"/>
                </a:solidFill>
                <a:latin typeface="Arial"/>
                <a:ea typeface="Arial"/>
                <a:cs typeface="Arial"/>
              </a:defRPr>
            </a:lvl9pPr>
          </a:lstStyle>
          <a:p xmlns:a="http://schemas.openxmlformats.org/drawingml/2006/main">
            <a:pPr algn="l">
              <a:defRPr sz="1200" b="1">
                <a:solidFill>
                  <a:srgbClr val="246895"/>
                </a:solidFill>
                <a:latin typeface="Arial"/>
                <a:ea typeface="Arial"/>
                <a:cs typeface="Arial"/>
              </a:defRPr>
            </a:pPr>
            <a:r>
              <a:rPr sz="1200" b="1">
                <a:solidFill>
                  <a:srgbClr val="246895"/>
                </a:solidFill>
                <a:latin typeface="Arial"/>
                <a:ea typeface="Arial"/>
                <a:cs typeface="Arial"/>
              </a:rPr>
              <a:t>IS6400  /  OLIST REPURCHASE</a:t>
            </a:r>
          </a:p>
        </p:txBody>
      </p:sp>
      <p:sp>
        <p:nvSpPr>
          <p:cNvPr id="2" name="title-4">
            <a:extLst xmlns:a="http://schemas.openxmlformats.org/drawingml/2006/main">
              <a:ext uri="{FF2B5EF4-FFF2-40B4-BE49-F238E27FC236}">
                <a16:creationId xmlns:a16="http://schemas.microsoft.com/office/drawing/2014/main" id="{E9F4C193-CEB4-49A1-AA1C-CFD97D80A4F5}"/>
              </a:ext>
            </a:extLst>
          </p:cNvPr>
          <p:cNvSpPr>
            <a:spLocks xmlns:a="http://schemas.openxmlformats.org/drawingml/2006/main" noGrp="1"/>
          </p:cNvSpPr>
          <p:nvPr/>
        </p:nvSpPr>
        <p:spPr>
          <a:xfrm xmlns:a="http://schemas.openxmlformats.org/drawingml/2006/main">
            <a:off x="647700" y="6667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23452"/>
                </a:solidFill>
                <a:latin typeface="Arial"/>
                <a:ea typeface="Arial"/>
                <a:cs typeface="Arial"/>
              </a:defRPr>
            </a:defPPr>
            <a:lvl1pPr algn="l">
              <a:defRPr sz="3225" b="1">
                <a:solidFill>
                  <a:srgbClr val="123452"/>
                </a:solidFill>
                <a:latin typeface="Arial"/>
                <a:ea typeface="Arial"/>
                <a:cs typeface="Arial"/>
              </a:defRPr>
            </a:lvl1pPr>
            <a:lvl2pPr algn="l">
              <a:defRPr sz="3225" b="1">
                <a:solidFill>
                  <a:srgbClr val="123452"/>
                </a:solidFill>
                <a:latin typeface="Arial"/>
                <a:ea typeface="Arial"/>
                <a:cs typeface="Arial"/>
              </a:defRPr>
            </a:lvl2pPr>
            <a:lvl3pPr algn="l">
              <a:defRPr sz="3225" b="1">
                <a:solidFill>
                  <a:srgbClr val="123452"/>
                </a:solidFill>
                <a:latin typeface="Arial"/>
                <a:ea typeface="Arial"/>
                <a:cs typeface="Arial"/>
              </a:defRPr>
            </a:lvl3pPr>
            <a:lvl4pPr algn="l">
              <a:defRPr sz="3225" b="1">
                <a:solidFill>
                  <a:srgbClr val="123452"/>
                </a:solidFill>
                <a:latin typeface="Arial"/>
                <a:ea typeface="Arial"/>
                <a:cs typeface="Arial"/>
              </a:defRPr>
            </a:lvl4pPr>
            <a:lvl5pPr algn="l">
              <a:defRPr sz="3225" b="1">
                <a:solidFill>
                  <a:srgbClr val="123452"/>
                </a:solidFill>
                <a:latin typeface="Arial"/>
                <a:ea typeface="Arial"/>
                <a:cs typeface="Arial"/>
              </a:defRPr>
            </a:lvl5pPr>
            <a:lvl6pPr algn="l">
              <a:defRPr sz="3225" b="1">
                <a:solidFill>
                  <a:srgbClr val="123452"/>
                </a:solidFill>
                <a:latin typeface="Arial"/>
                <a:ea typeface="Arial"/>
                <a:cs typeface="Arial"/>
              </a:defRPr>
            </a:lvl6pPr>
            <a:lvl7pPr algn="l">
              <a:defRPr sz="3225" b="1">
                <a:solidFill>
                  <a:srgbClr val="123452"/>
                </a:solidFill>
                <a:latin typeface="Arial"/>
                <a:ea typeface="Arial"/>
                <a:cs typeface="Arial"/>
              </a:defRPr>
            </a:lvl7pPr>
            <a:lvl8pPr algn="l">
              <a:defRPr sz="3225" b="1">
                <a:solidFill>
                  <a:srgbClr val="123452"/>
                </a:solidFill>
                <a:latin typeface="Arial"/>
                <a:ea typeface="Arial"/>
                <a:cs typeface="Arial"/>
              </a:defRPr>
            </a:lvl8pPr>
            <a:lvl9pPr algn="l">
              <a:defRPr sz="3225" b="1">
                <a:solidFill>
                  <a:srgbClr val="123452"/>
                </a:solidFill>
                <a:latin typeface="Arial"/>
                <a:ea typeface="Arial"/>
                <a:cs typeface="Arial"/>
              </a:defRPr>
            </a:lvl9pPr>
          </a:lstStyle>
          <a:p xmlns:a="http://schemas.openxmlformats.org/drawingml/2006/main">
            <a:pPr algn="l">
              <a:defRPr sz="3225" b="1">
                <a:solidFill>
                  <a:srgbClr val="123452"/>
                </a:solidFill>
                <a:latin typeface="Arial"/>
                <a:ea typeface="Arial"/>
                <a:cs typeface="Arial"/>
              </a:defRPr>
            </a:pPr>
            <a:r>
              <a:rPr sz="3225" b="1">
                <a:solidFill>
                  <a:srgbClr val="123452"/>
                </a:solidFill>
                <a:latin typeface="Arial"/>
                <a:ea typeface="Arial"/>
                <a:cs typeface="Arial"/>
              </a:rPr>
              <a:t>Each snapshot uses past features and future labels</a:t>
            </a:r>
          </a:p>
        </p:txBody>
      </p:sp>
      <p:sp>
        <p:nvSpPr>
          <p:cNvPr id="3" name="footer-4">
            <a:extLst xmlns:a="http://schemas.openxmlformats.org/drawingml/2006/main">
              <a:ext uri="{FF2B5EF4-FFF2-40B4-BE49-F238E27FC236}">
                <a16:creationId xmlns:a16="http://schemas.microsoft.com/office/drawing/2014/main" id="{F63ADAE4-35D5-4A37-822D-7E69E56C87FC}"/>
              </a:ext>
            </a:extLst>
          </p:cNvPr>
          <p:cNvSpPr>
            <a:spLocks xmlns:a="http://schemas.openxmlformats.org/drawingml/2006/main" noGrp="1"/>
          </p:cNvSpPr>
          <p:nvPr/>
        </p:nvSpPr>
        <p:spPr>
          <a:xfrm xmlns:a="http://schemas.openxmlformats.org/drawingml/2006/main">
            <a:off x="647700" y="6248400"/>
            <a:ext cx="923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77C8D"/>
                </a:solidFill>
                <a:latin typeface="Arial"/>
                <a:ea typeface="Arial"/>
                <a:cs typeface="Arial"/>
              </a:defRPr>
            </a:defPPr>
            <a:lvl1pPr algn="l">
              <a:defRPr sz="1125" b="0">
                <a:solidFill>
                  <a:srgbClr val="677C8D"/>
                </a:solidFill>
                <a:latin typeface="Arial"/>
                <a:ea typeface="Arial"/>
                <a:cs typeface="Arial"/>
              </a:defRPr>
            </a:lvl1pPr>
            <a:lvl2pPr algn="l">
              <a:defRPr sz="1125" b="0">
                <a:solidFill>
                  <a:srgbClr val="677C8D"/>
                </a:solidFill>
                <a:latin typeface="Arial"/>
                <a:ea typeface="Arial"/>
                <a:cs typeface="Arial"/>
              </a:defRPr>
            </a:lvl2pPr>
            <a:lvl3pPr algn="l">
              <a:defRPr sz="1125" b="0">
                <a:solidFill>
                  <a:srgbClr val="677C8D"/>
                </a:solidFill>
                <a:latin typeface="Arial"/>
                <a:ea typeface="Arial"/>
                <a:cs typeface="Arial"/>
              </a:defRPr>
            </a:lvl3pPr>
            <a:lvl4pPr algn="l">
              <a:defRPr sz="1125" b="0">
                <a:solidFill>
                  <a:srgbClr val="677C8D"/>
                </a:solidFill>
                <a:latin typeface="Arial"/>
                <a:ea typeface="Arial"/>
                <a:cs typeface="Arial"/>
              </a:defRPr>
            </a:lvl4pPr>
            <a:lvl5pPr algn="l">
              <a:defRPr sz="1125" b="0">
                <a:solidFill>
                  <a:srgbClr val="677C8D"/>
                </a:solidFill>
                <a:latin typeface="Arial"/>
                <a:ea typeface="Arial"/>
                <a:cs typeface="Arial"/>
              </a:defRPr>
            </a:lvl5pPr>
            <a:lvl6pPr algn="l">
              <a:defRPr sz="1125" b="0">
                <a:solidFill>
                  <a:srgbClr val="677C8D"/>
                </a:solidFill>
                <a:latin typeface="Arial"/>
                <a:ea typeface="Arial"/>
                <a:cs typeface="Arial"/>
              </a:defRPr>
            </a:lvl6pPr>
            <a:lvl7pPr algn="l">
              <a:defRPr sz="1125" b="0">
                <a:solidFill>
                  <a:srgbClr val="677C8D"/>
                </a:solidFill>
                <a:latin typeface="Arial"/>
                <a:ea typeface="Arial"/>
                <a:cs typeface="Arial"/>
              </a:defRPr>
            </a:lvl7pPr>
            <a:lvl8pPr algn="l">
              <a:defRPr sz="1125" b="0">
                <a:solidFill>
                  <a:srgbClr val="677C8D"/>
                </a:solidFill>
                <a:latin typeface="Arial"/>
                <a:ea typeface="Arial"/>
                <a:cs typeface="Arial"/>
              </a:defRPr>
            </a:lvl8pPr>
            <a:lvl9pPr algn="l">
              <a:defRPr sz="1125" b="0">
                <a:solidFill>
                  <a:srgbClr val="677C8D"/>
                </a:solidFill>
                <a:latin typeface="Arial"/>
                <a:ea typeface="Arial"/>
                <a:cs typeface="Arial"/>
              </a:defRPr>
            </a:lvl9pPr>
          </a:lstStyle>
          <a:p xmlns:a="http://schemas.openxmlformats.org/drawingml/2006/main">
            <a:pPr algn="l">
              <a:defRPr sz="1125" b="0">
                <a:solidFill>
                  <a:srgbClr val="677C8D"/>
                </a:solidFill>
                <a:latin typeface="Arial"/>
                <a:ea typeface="Arial"/>
                <a:cs typeface="Arial"/>
              </a:defRPr>
            </a:pPr>
            <a:r>
              <a:rPr sz="1125" b="0">
                <a:solidFill>
                  <a:srgbClr val="677C8D"/>
                </a:solidFill>
                <a:latin typeface="Arial"/>
                <a:ea typeface="Arial"/>
                <a:cs typeface="Arial"/>
              </a:rPr>
              <a:t>Olist historical orders, 2016–2018  •  Exploratory evidence</a:t>
            </a:r>
          </a:p>
        </p:txBody>
      </p:sp>
      <p:sp>
        <p:nvSpPr>
          <p:cNvPr id="4" name="page-4">
            <a:extLst xmlns:a="http://schemas.openxmlformats.org/drawingml/2006/main">
              <a:ext uri="{FF2B5EF4-FFF2-40B4-BE49-F238E27FC236}">
                <a16:creationId xmlns:a16="http://schemas.microsoft.com/office/drawing/2014/main" id="{F9010550-46AB-484B-99B2-E92C1B792C80}"/>
              </a:ext>
            </a:extLst>
          </p:cNvPr>
          <p:cNvSpPr>
            <a:spLocks xmlns:a="http://schemas.openxmlformats.org/drawingml/2006/main" noGrp="1"/>
          </p:cNvSpPr>
          <p:nvPr/>
        </p:nvSpPr>
        <p:spPr>
          <a:xfrm xmlns:a="http://schemas.openxmlformats.org/drawingml/2006/main">
            <a:off x="10763250" y="6248400"/>
            <a:ext cx="76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677C8D"/>
                </a:solidFill>
                <a:latin typeface="Arial"/>
                <a:ea typeface="Arial"/>
                <a:cs typeface="Arial"/>
              </a:defRPr>
            </a:defPPr>
            <a:lvl1pPr algn="r">
              <a:defRPr sz="1125" b="0">
                <a:solidFill>
                  <a:srgbClr val="677C8D"/>
                </a:solidFill>
                <a:latin typeface="Arial"/>
                <a:ea typeface="Arial"/>
                <a:cs typeface="Arial"/>
              </a:defRPr>
            </a:lvl1pPr>
            <a:lvl2pPr algn="r">
              <a:defRPr sz="1125" b="0">
                <a:solidFill>
                  <a:srgbClr val="677C8D"/>
                </a:solidFill>
                <a:latin typeface="Arial"/>
                <a:ea typeface="Arial"/>
                <a:cs typeface="Arial"/>
              </a:defRPr>
            </a:lvl2pPr>
            <a:lvl3pPr algn="r">
              <a:defRPr sz="1125" b="0">
                <a:solidFill>
                  <a:srgbClr val="677C8D"/>
                </a:solidFill>
                <a:latin typeface="Arial"/>
                <a:ea typeface="Arial"/>
                <a:cs typeface="Arial"/>
              </a:defRPr>
            </a:lvl3pPr>
            <a:lvl4pPr algn="r">
              <a:defRPr sz="1125" b="0">
                <a:solidFill>
                  <a:srgbClr val="677C8D"/>
                </a:solidFill>
                <a:latin typeface="Arial"/>
                <a:ea typeface="Arial"/>
                <a:cs typeface="Arial"/>
              </a:defRPr>
            </a:lvl4pPr>
            <a:lvl5pPr algn="r">
              <a:defRPr sz="1125" b="0">
                <a:solidFill>
                  <a:srgbClr val="677C8D"/>
                </a:solidFill>
                <a:latin typeface="Arial"/>
                <a:ea typeface="Arial"/>
                <a:cs typeface="Arial"/>
              </a:defRPr>
            </a:lvl5pPr>
            <a:lvl6pPr algn="r">
              <a:defRPr sz="1125" b="0">
                <a:solidFill>
                  <a:srgbClr val="677C8D"/>
                </a:solidFill>
                <a:latin typeface="Arial"/>
                <a:ea typeface="Arial"/>
                <a:cs typeface="Arial"/>
              </a:defRPr>
            </a:lvl6pPr>
            <a:lvl7pPr algn="r">
              <a:defRPr sz="1125" b="0">
                <a:solidFill>
                  <a:srgbClr val="677C8D"/>
                </a:solidFill>
                <a:latin typeface="Arial"/>
                <a:ea typeface="Arial"/>
                <a:cs typeface="Arial"/>
              </a:defRPr>
            </a:lvl7pPr>
            <a:lvl8pPr algn="r">
              <a:defRPr sz="1125" b="0">
                <a:solidFill>
                  <a:srgbClr val="677C8D"/>
                </a:solidFill>
                <a:latin typeface="Arial"/>
                <a:ea typeface="Arial"/>
                <a:cs typeface="Arial"/>
              </a:defRPr>
            </a:lvl8pPr>
            <a:lvl9pPr algn="r">
              <a:defRPr sz="1125" b="0">
                <a:solidFill>
                  <a:srgbClr val="677C8D"/>
                </a:solidFill>
                <a:latin typeface="Arial"/>
                <a:ea typeface="Arial"/>
                <a:cs typeface="Arial"/>
              </a:defRPr>
            </a:lvl9pPr>
          </a:lstStyle>
          <a:p xmlns:a="http://schemas.openxmlformats.org/drawingml/2006/main">
            <a:pPr algn="r">
              <a:defRPr sz="1125" b="0">
                <a:solidFill>
                  <a:srgbClr val="677C8D"/>
                </a:solidFill>
                <a:latin typeface="Arial"/>
                <a:ea typeface="Arial"/>
                <a:cs typeface="Arial"/>
              </a:defRPr>
            </a:pPr>
            <a:r>
              <a:rPr sz="1125" b="0">
                <a:solidFill>
                  <a:srgbClr val="677C8D"/>
                </a:solidFill>
                <a:latin typeface="Arial"/>
                <a:ea typeface="Arial"/>
                <a:cs typeface="Arial"/>
              </a:rPr>
              <a:t>4 / 8</a:t>
            </a:r>
          </a:p>
        </p:txBody>
      </p:sp>
      <p:sp>
        <p:nvSpPr>
          <p:cNvPr id="5" name="time-head-a">
            <a:extLst xmlns:a="http://schemas.openxmlformats.org/drawingml/2006/main">
              <a:ext uri="{FF2B5EF4-FFF2-40B4-BE49-F238E27FC236}">
                <a16:creationId xmlns:a16="http://schemas.microsoft.com/office/drawing/2014/main" id="{0E53B4F0-FBEA-433E-8DD3-B1189E2D7443}"/>
              </a:ext>
            </a:extLst>
          </p:cNvPr>
          <p:cNvSpPr>
            <a:spLocks xmlns:a="http://schemas.openxmlformats.org/drawingml/2006/main" noGrp="1"/>
          </p:cNvSpPr>
          <p:nvPr/>
        </p:nvSpPr>
        <p:spPr>
          <a:xfrm xmlns:a="http://schemas.openxmlformats.org/drawingml/2006/main">
            <a:off x="723900" y="17526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Snapshot</a:t>
            </a:r>
          </a:p>
        </p:txBody>
      </p:sp>
      <p:sp>
        <p:nvSpPr>
          <p:cNvPr id="6" name="time-head-b">
            <a:extLst xmlns:a="http://schemas.openxmlformats.org/drawingml/2006/main">
              <a:ext uri="{FF2B5EF4-FFF2-40B4-BE49-F238E27FC236}">
                <a16:creationId xmlns:a16="http://schemas.microsoft.com/office/drawing/2014/main" id="{3ED43B48-1E20-4DF0-94D7-2F16E1097B65}"/>
              </a:ext>
            </a:extLst>
          </p:cNvPr>
          <p:cNvSpPr>
            <a:spLocks xmlns:a="http://schemas.openxmlformats.org/drawingml/2006/main" noGrp="1"/>
          </p:cNvSpPr>
          <p:nvPr/>
        </p:nvSpPr>
        <p:spPr>
          <a:xfrm xmlns:a="http://schemas.openxmlformats.org/drawingml/2006/main">
            <a:off x="4810125" y="17526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Customers</a:t>
            </a:r>
          </a:p>
        </p:txBody>
      </p:sp>
      <p:sp>
        <p:nvSpPr>
          <p:cNvPr id="7" name="time-head-c">
            <a:extLst xmlns:a="http://schemas.openxmlformats.org/drawingml/2006/main">
              <a:ext uri="{FF2B5EF4-FFF2-40B4-BE49-F238E27FC236}">
                <a16:creationId xmlns:a16="http://schemas.microsoft.com/office/drawing/2014/main" id="{6548FBA9-6A91-4787-AB81-5829DC9A05F8}"/>
              </a:ext>
            </a:extLst>
          </p:cNvPr>
          <p:cNvSpPr>
            <a:spLocks xmlns:a="http://schemas.openxmlformats.org/drawingml/2006/main" noGrp="1"/>
          </p:cNvSpPr>
          <p:nvPr/>
        </p:nvSpPr>
        <p:spPr>
          <a:xfrm xmlns:a="http://schemas.openxmlformats.org/drawingml/2006/main">
            <a:off x="6905625" y="17526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Repeaters</a:t>
            </a:r>
          </a:p>
        </p:txBody>
      </p:sp>
      <p:sp>
        <p:nvSpPr>
          <p:cNvPr id="8" name="time-head-d">
            <a:extLst xmlns:a="http://schemas.openxmlformats.org/drawingml/2006/main">
              <a:ext uri="{FF2B5EF4-FFF2-40B4-BE49-F238E27FC236}">
                <a16:creationId xmlns:a16="http://schemas.microsoft.com/office/drawing/2014/main" id="{C1983DED-4DDE-4E22-8191-70E39566F9F5}"/>
              </a:ext>
            </a:extLst>
          </p:cNvPr>
          <p:cNvSpPr>
            <a:spLocks xmlns:a="http://schemas.openxmlformats.org/drawingml/2006/main" noGrp="1"/>
          </p:cNvSpPr>
          <p:nvPr/>
        </p:nvSpPr>
        <p:spPr>
          <a:xfrm xmlns:a="http://schemas.openxmlformats.org/drawingml/2006/main">
            <a:off x="9048750" y="17526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Purpose</a:t>
            </a:r>
          </a:p>
        </p:txBody>
      </p:sp>
      <p:sp>
        <p:nvSpPr>
          <p:cNvPr id="9" name="time-train-a">
            <a:extLst xmlns:a="http://schemas.openxmlformats.org/drawingml/2006/main">
              <a:ext uri="{FF2B5EF4-FFF2-40B4-BE49-F238E27FC236}">
                <a16:creationId xmlns:a16="http://schemas.microsoft.com/office/drawing/2014/main" id="{01CE7D65-805F-4CC3-AF0F-A617A9616873}"/>
              </a:ext>
            </a:extLst>
          </p:cNvPr>
          <p:cNvSpPr>
            <a:spLocks xmlns:a="http://schemas.openxmlformats.org/drawingml/2006/main" noGrp="1"/>
          </p:cNvSpPr>
          <p:nvPr/>
        </p:nvSpPr>
        <p:spPr>
          <a:xfrm xmlns:a="http://schemas.openxmlformats.org/drawingml/2006/main">
            <a:off x="723900" y="23431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01 Oct 2017</a:t>
            </a:r>
          </a:p>
        </p:txBody>
      </p:sp>
      <p:sp>
        <p:nvSpPr>
          <p:cNvPr id="10" name="time-train-b">
            <a:extLst xmlns:a="http://schemas.openxmlformats.org/drawingml/2006/main">
              <a:ext uri="{FF2B5EF4-FFF2-40B4-BE49-F238E27FC236}">
                <a16:creationId xmlns:a16="http://schemas.microsoft.com/office/drawing/2014/main" id="{6A3720AD-9A12-4A8C-A9D3-091E6A395638}"/>
              </a:ext>
            </a:extLst>
          </p:cNvPr>
          <p:cNvSpPr>
            <a:spLocks xmlns:a="http://schemas.openxmlformats.org/drawingml/2006/main" noGrp="1"/>
          </p:cNvSpPr>
          <p:nvPr/>
        </p:nvSpPr>
        <p:spPr>
          <a:xfrm xmlns:a="http://schemas.openxmlformats.org/drawingml/2006/main">
            <a:off x="4810125" y="23431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21,160</a:t>
            </a:r>
          </a:p>
        </p:txBody>
      </p:sp>
      <p:sp>
        <p:nvSpPr>
          <p:cNvPr id="11" name="time-train-c">
            <a:extLst xmlns:a="http://schemas.openxmlformats.org/drawingml/2006/main">
              <a:ext uri="{FF2B5EF4-FFF2-40B4-BE49-F238E27FC236}">
                <a16:creationId xmlns:a16="http://schemas.microsoft.com/office/drawing/2014/main" id="{1A74C1D6-E9C3-47EB-A411-93AC20303749}"/>
              </a:ext>
            </a:extLst>
          </p:cNvPr>
          <p:cNvSpPr>
            <a:spLocks xmlns:a="http://schemas.openxmlformats.org/drawingml/2006/main" noGrp="1"/>
          </p:cNvSpPr>
          <p:nvPr/>
        </p:nvSpPr>
        <p:spPr>
          <a:xfrm xmlns:a="http://schemas.openxmlformats.org/drawingml/2006/main">
            <a:off x="6905625" y="23431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211</a:t>
            </a:r>
          </a:p>
        </p:txBody>
      </p:sp>
      <p:sp>
        <p:nvSpPr>
          <p:cNvPr id="12" name="time-train-d">
            <a:extLst xmlns:a="http://schemas.openxmlformats.org/drawingml/2006/main">
              <a:ext uri="{FF2B5EF4-FFF2-40B4-BE49-F238E27FC236}">
                <a16:creationId xmlns:a16="http://schemas.microsoft.com/office/drawing/2014/main" id="{B5DB7235-F2DB-42D7-9AC5-4CD911C98A2C}"/>
              </a:ext>
            </a:extLst>
          </p:cNvPr>
          <p:cNvSpPr>
            <a:spLocks xmlns:a="http://schemas.openxmlformats.org/drawingml/2006/main" noGrp="1"/>
          </p:cNvSpPr>
          <p:nvPr/>
        </p:nvSpPr>
        <p:spPr>
          <a:xfrm xmlns:a="http://schemas.openxmlformats.org/drawingml/2006/main">
            <a:off x="9048750" y="23431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Train</a:t>
            </a:r>
          </a:p>
        </p:txBody>
      </p:sp>
      <p:sp>
        <p:nvSpPr>
          <p:cNvPr id="13" name="time-val-a">
            <a:extLst xmlns:a="http://schemas.openxmlformats.org/drawingml/2006/main">
              <a:ext uri="{FF2B5EF4-FFF2-40B4-BE49-F238E27FC236}">
                <a16:creationId xmlns:a16="http://schemas.microsoft.com/office/drawing/2014/main" id="{29375807-7AE8-40CA-88DF-390EF312F13F}"/>
              </a:ext>
            </a:extLst>
          </p:cNvPr>
          <p:cNvSpPr>
            <a:spLocks xmlns:a="http://schemas.openxmlformats.org/drawingml/2006/main" noGrp="1"/>
          </p:cNvSpPr>
          <p:nvPr/>
        </p:nvSpPr>
        <p:spPr>
          <a:xfrm xmlns:a="http://schemas.openxmlformats.org/drawingml/2006/main">
            <a:off x="723900" y="28956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01 Jan 2018</a:t>
            </a:r>
          </a:p>
        </p:txBody>
      </p:sp>
      <p:sp>
        <p:nvSpPr>
          <p:cNvPr id="14" name="time-val-b">
            <a:extLst xmlns:a="http://schemas.openxmlformats.org/drawingml/2006/main">
              <a:ext uri="{FF2B5EF4-FFF2-40B4-BE49-F238E27FC236}">
                <a16:creationId xmlns:a16="http://schemas.microsoft.com/office/drawing/2014/main" id="{E20458C9-171B-409C-A18A-8EFD1CB35950}"/>
              </a:ext>
            </a:extLst>
          </p:cNvPr>
          <p:cNvSpPr>
            <a:spLocks xmlns:a="http://schemas.openxmlformats.org/drawingml/2006/main" noGrp="1"/>
          </p:cNvSpPr>
          <p:nvPr/>
        </p:nvSpPr>
        <p:spPr>
          <a:xfrm xmlns:a="http://schemas.openxmlformats.org/drawingml/2006/main">
            <a:off x="4810125" y="28956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29,368</a:t>
            </a:r>
          </a:p>
        </p:txBody>
      </p:sp>
      <p:sp>
        <p:nvSpPr>
          <p:cNvPr id="15" name="time-val-c">
            <a:extLst xmlns:a="http://schemas.openxmlformats.org/drawingml/2006/main">
              <a:ext uri="{FF2B5EF4-FFF2-40B4-BE49-F238E27FC236}">
                <a16:creationId xmlns:a16="http://schemas.microsoft.com/office/drawing/2014/main" id="{A630B721-EA2D-4531-8421-D1FDD905A701}"/>
              </a:ext>
            </a:extLst>
          </p:cNvPr>
          <p:cNvSpPr>
            <a:spLocks xmlns:a="http://schemas.openxmlformats.org/drawingml/2006/main" noGrp="1"/>
          </p:cNvSpPr>
          <p:nvPr/>
        </p:nvSpPr>
        <p:spPr>
          <a:xfrm xmlns:a="http://schemas.openxmlformats.org/drawingml/2006/main">
            <a:off x="6905625" y="28956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230</a:t>
            </a:r>
          </a:p>
        </p:txBody>
      </p:sp>
      <p:sp>
        <p:nvSpPr>
          <p:cNvPr id="16" name="time-val-d">
            <a:extLst xmlns:a="http://schemas.openxmlformats.org/drawingml/2006/main">
              <a:ext uri="{FF2B5EF4-FFF2-40B4-BE49-F238E27FC236}">
                <a16:creationId xmlns:a16="http://schemas.microsoft.com/office/drawing/2014/main" id="{09CB0BB2-D43A-48BB-B285-BCBE226D0874}"/>
              </a:ext>
            </a:extLst>
          </p:cNvPr>
          <p:cNvSpPr>
            <a:spLocks xmlns:a="http://schemas.openxmlformats.org/drawingml/2006/main" noGrp="1"/>
          </p:cNvSpPr>
          <p:nvPr/>
        </p:nvSpPr>
        <p:spPr>
          <a:xfrm xmlns:a="http://schemas.openxmlformats.org/drawingml/2006/main">
            <a:off x="9048750" y="28956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Select on AP</a:t>
            </a:r>
          </a:p>
        </p:txBody>
      </p:sp>
      <p:sp>
        <p:nvSpPr>
          <p:cNvPr id="17" name="time-test-a">
            <a:extLst xmlns:a="http://schemas.openxmlformats.org/drawingml/2006/main">
              <a:ext uri="{FF2B5EF4-FFF2-40B4-BE49-F238E27FC236}">
                <a16:creationId xmlns:a16="http://schemas.microsoft.com/office/drawing/2014/main" id="{48578FAF-142F-4E13-9EB9-BF5D1994FDC2}"/>
              </a:ext>
            </a:extLst>
          </p:cNvPr>
          <p:cNvSpPr>
            <a:spLocks xmlns:a="http://schemas.openxmlformats.org/drawingml/2006/main" noGrp="1"/>
          </p:cNvSpPr>
          <p:nvPr/>
        </p:nvSpPr>
        <p:spPr>
          <a:xfrm xmlns:a="http://schemas.openxmlformats.org/drawingml/2006/main">
            <a:off x="723900" y="34480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01 Apr 2018</a:t>
            </a:r>
          </a:p>
        </p:txBody>
      </p:sp>
      <p:sp>
        <p:nvSpPr>
          <p:cNvPr id="18" name="time-test-b">
            <a:extLst xmlns:a="http://schemas.openxmlformats.org/drawingml/2006/main">
              <a:ext uri="{FF2B5EF4-FFF2-40B4-BE49-F238E27FC236}">
                <a16:creationId xmlns:a16="http://schemas.microsoft.com/office/drawing/2014/main" id="{A935F357-60FF-4042-AC49-CB1F590B1CF9}"/>
              </a:ext>
            </a:extLst>
          </p:cNvPr>
          <p:cNvSpPr>
            <a:spLocks xmlns:a="http://schemas.openxmlformats.org/drawingml/2006/main" noGrp="1"/>
          </p:cNvSpPr>
          <p:nvPr/>
        </p:nvSpPr>
        <p:spPr>
          <a:xfrm xmlns:a="http://schemas.openxmlformats.org/drawingml/2006/main">
            <a:off x="4810125" y="34480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37,813</a:t>
            </a:r>
          </a:p>
        </p:txBody>
      </p:sp>
      <p:sp>
        <p:nvSpPr>
          <p:cNvPr id="19" name="time-test-c">
            <a:extLst xmlns:a="http://schemas.openxmlformats.org/drawingml/2006/main">
              <a:ext uri="{FF2B5EF4-FFF2-40B4-BE49-F238E27FC236}">
                <a16:creationId xmlns:a16="http://schemas.microsoft.com/office/drawing/2014/main" id="{F8D77ABD-2849-4002-BFDF-7E367307E0CB}"/>
              </a:ext>
            </a:extLst>
          </p:cNvPr>
          <p:cNvSpPr>
            <a:spLocks xmlns:a="http://schemas.openxmlformats.org/drawingml/2006/main" noGrp="1"/>
          </p:cNvSpPr>
          <p:nvPr/>
        </p:nvSpPr>
        <p:spPr>
          <a:xfrm xmlns:a="http://schemas.openxmlformats.org/drawingml/2006/main">
            <a:off x="6905625" y="34480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299</a:t>
            </a:r>
          </a:p>
        </p:txBody>
      </p:sp>
      <p:sp>
        <p:nvSpPr>
          <p:cNvPr id="20" name="time-test-d">
            <a:extLst xmlns:a="http://schemas.openxmlformats.org/drawingml/2006/main">
              <a:ext uri="{FF2B5EF4-FFF2-40B4-BE49-F238E27FC236}">
                <a16:creationId xmlns:a16="http://schemas.microsoft.com/office/drawing/2014/main" id="{61FCCF07-09DC-46F6-B5C0-F070BB646F39}"/>
              </a:ext>
            </a:extLst>
          </p:cNvPr>
          <p:cNvSpPr>
            <a:spLocks xmlns:a="http://schemas.openxmlformats.org/drawingml/2006/main" noGrp="1"/>
          </p:cNvSpPr>
          <p:nvPr/>
        </p:nvSpPr>
        <p:spPr>
          <a:xfrm xmlns:a="http://schemas.openxmlformats.org/drawingml/2006/main">
            <a:off x="9048750" y="34480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Later check</a:t>
            </a:r>
          </a:p>
        </p:txBody>
      </p:sp>
      <p:sp>
        <p:nvSpPr>
          <p:cNvPr id="21" name="windows">
            <a:extLst xmlns:a="http://schemas.openxmlformats.org/drawingml/2006/main">
              <a:ext uri="{FF2B5EF4-FFF2-40B4-BE49-F238E27FC236}">
                <a16:creationId xmlns:a16="http://schemas.microsoft.com/office/drawing/2014/main" id="{F1595812-9BD0-4F3C-A496-80762AF10BA3}"/>
              </a:ext>
            </a:extLst>
          </p:cNvPr>
          <p:cNvSpPr>
            <a:spLocks xmlns:a="http://schemas.openxmlformats.org/drawingml/2006/main" noGrp="1"/>
          </p:cNvSpPr>
          <p:nvPr/>
        </p:nvSpPr>
        <p:spPr>
          <a:xfrm xmlns:a="http://schemas.openxmlformats.org/drawingml/2006/main">
            <a:off x="723900" y="4410075"/>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23452"/>
                </a:solidFill>
                <a:latin typeface="Arial"/>
                <a:ea typeface="Arial"/>
                <a:cs typeface="Arial"/>
              </a:defRPr>
            </a:defPPr>
            <a:lvl1pPr algn="l">
              <a:defRPr sz="2250" b="1">
                <a:solidFill>
                  <a:srgbClr val="123452"/>
                </a:solidFill>
                <a:latin typeface="Arial"/>
                <a:ea typeface="Arial"/>
                <a:cs typeface="Arial"/>
              </a:defRPr>
            </a:lvl1pPr>
            <a:lvl2pPr algn="l">
              <a:defRPr sz="2250" b="1">
                <a:solidFill>
                  <a:srgbClr val="123452"/>
                </a:solidFill>
                <a:latin typeface="Arial"/>
                <a:ea typeface="Arial"/>
                <a:cs typeface="Arial"/>
              </a:defRPr>
            </a:lvl2pPr>
            <a:lvl3pPr algn="l">
              <a:defRPr sz="2250" b="1">
                <a:solidFill>
                  <a:srgbClr val="123452"/>
                </a:solidFill>
                <a:latin typeface="Arial"/>
                <a:ea typeface="Arial"/>
                <a:cs typeface="Arial"/>
              </a:defRPr>
            </a:lvl3pPr>
            <a:lvl4pPr algn="l">
              <a:defRPr sz="2250" b="1">
                <a:solidFill>
                  <a:srgbClr val="123452"/>
                </a:solidFill>
                <a:latin typeface="Arial"/>
                <a:ea typeface="Arial"/>
                <a:cs typeface="Arial"/>
              </a:defRPr>
            </a:lvl4pPr>
            <a:lvl5pPr algn="l">
              <a:defRPr sz="2250" b="1">
                <a:solidFill>
                  <a:srgbClr val="123452"/>
                </a:solidFill>
                <a:latin typeface="Arial"/>
                <a:ea typeface="Arial"/>
                <a:cs typeface="Arial"/>
              </a:defRPr>
            </a:lvl5pPr>
            <a:lvl6pPr algn="l">
              <a:defRPr sz="2250" b="1">
                <a:solidFill>
                  <a:srgbClr val="123452"/>
                </a:solidFill>
                <a:latin typeface="Arial"/>
                <a:ea typeface="Arial"/>
                <a:cs typeface="Arial"/>
              </a:defRPr>
            </a:lvl6pPr>
            <a:lvl7pPr algn="l">
              <a:defRPr sz="2250" b="1">
                <a:solidFill>
                  <a:srgbClr val="123452"/>
                </a:solidFill>
                <a:latin typeface="Arial"/>
                <a:ea typeface="Arial"/>
                <a:cs typeface="Arial"/>
              </a:defRPr>
            </a:lvl7pPr>
            <a:lvl8pPr algn="l">
              <a:defRPr sz="2250" b="1">
                <a:solidFill>
                  <a:srgbClr val="123452"/>
                </a:solidFill>
                <a:latin typeface="Arial"/>
                <a:ea typeface="Arial"/>
                <a:cs typeface="Arial"/>
              </a:defRPr>
            </a:lvl8pPr>
            <a:lvl9pPr algn="l">
              <a:defRPr sz="2250" b="1">
                <a:solidFill>
                  <a:srgbClr val="123452"/>
                </a:solidFill>
                <a:latin typeface="Arial"/>
                <a:ea typeface="Arial"/>
                <a:cs typeface="Arial"/>
              </a:defRPr>
            </a:lvl9pPr>
          </a:lstStyle>
          <a:p xmlns:a="http://schemas.openxmlformats.org/drawingml/2006/main">
            <a:pPr algn="l">
              <a:defRPr sz="2250" b="1">
                <a:solidFill>
                  <a:srgbClr val="123452"/>
                </a:solidFill>
                <a:latin typeface="Arial"/>
                <a:ea typeface="Arial"/>
                <a:cs typeface="Arial"/>
              </a:defRPr>
            </a:pPr>
            <a:r>
              <a:rPr sz="2250" b="1">
                <a:solidFill>
                  <a:srgbClr val="123452"/>
                </a:solidFill>
                <a:latin typeface="Arial"/>
                <a:ea typeface="Arial"/>
                <a:cs typeface="Arial"/>
              </a:rPr>
              <a:t>History: previous 6 months                Label: next 90 days</a:t>
            </a:r>
          </a:p>
        </p:txBody>
      </p:sp>
      <p:sp>
        <p:nvSpPr>
          <p:cNvPr id="22" name="coverage">
            <a:extLst xmlns:a="http://schemas.openxmlformats.org/drawingml/2006/main">
              <a:ext uri="{FF2B5EF4-FFF2-40B4-BE49-F238E27FC236}">
                <a16:creationId xmlns:a16="http://schemas.microsoft.com/office/drawing/2014/main" id="{773C440E-F158-424C-8734-1A0E49566409}"/>
              </a:ext>
            </a:extLst>
          </p:cNvPr>
          <p:cNvSpPr>
            <a:spLocks xmlns:a="http://schemas.openxmlformats.org/drawingml/2006/main" noGrp="1"/>
          </p:cNvSpPr>
          <p:nvPr/>
        </p:nvSpPr>
        <p:spPr>
          <a:xfrm xmlns:a="http://schemas.openxmlformats.org/drawingml/2006/main">
            <a:off x="723900" y="5191125"/>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A94842"/>
                </a:solidFill>
                <a:latin typeface="Arial"/>
                <a:ea typeface="Arial"/>
                <a:cs typeface="Arial"/>
              </a:defRPr>
            </a:defPPr>
            <a:lvl1pPr algn="l">
              <a:defRPr sz="1800" b="0">
                <a:solidFill>
                  <a:srgbClr val="A94842"/>
                </a:solidFill>
                <a:latin typeface="Arial"/>
                <a:ea typeface="Arial"/>
                <a:cs typeface="Arial"/>
              </a:defRPr>
            </a:lvl1pPr>
            <a:lvl2pPr algn="l">
              <a:defRPr sz="1800" b="0">
                <a:solidFill>
                  <a:srgbClr val="A94842"/>
                </a:solidFill>
                <a:latin typeface="Arial"/>
                <a:ea typeface="Arial"/>
                <a:cs typeface="Arial"/>
              </a:defRPr>
            </a:lvl2pPr>
            <a:lvl3pPr algn="l">
              <a:defRPr sz="1800" b="0">
                <a:solidFill>
                  <a:srgbClr val="A94842"/>
                </a:solidFill>
                <a:latin typeface="Arial"/>
                <a:ea typeface="Arial"/>
                <a:cs typeface="Arial"/>
              </a:defRPr>
            </a:lvl3pPr>
            <a:lvl4pPr algn="l">
              <a:defRPr sz="1800" b="0">
                <a:solidFill>
                  <a:srgbClr val="A94842"/>
                </a:solidFill>
                <a:latin typeface="Arial"/>
                <a:ea typeface="Arial"/>
                <a:cs typeface="Arial"/>
              </a:defRPr>
            </a:lvl4pPr>
            <a:lvl5pPr algn="l">
              <a:defRPr sz="1800" b="0">
                <a:solidFill>
                  <a:srgbClr val="A94842"/>
                </a:solidFill>
                <a:latin typeface="Arial"/>
                <a:ea typeface="Arial"/>
                <a:cs typeface="Arial"/>
              </a:defRPr>
            </a:lvl5pPr>
            <a:lvl6pPr algn="l">
              <a:defRPr sz="1800" b="0">
                <a:solidFill>
                  <a:srgbClr val="A94842"/>
                </a:solidFill>
                <a:latin typeface="Arial"/>
                <a:ea typeface="Arial"/>
                <a:cs typeface="Arial"/>
              </a:defRPr>
            </a:lvl6pPr>
            <a:lvl7pPr algn="l">
              <a:defRPr sz="1800" b="0">
                <a:solidFill>
                  <a:srgbClr val="A94842"/>
                </a:solidFill>
                <a:latin typeface="Arial"/>
                <a:ea typeface="Arial"/>
                <a:cs typeface="Arial"/>
              </a:defRPr>
            </a:lvl7pPr>
            <a:lvl8pPr algn="l">
              <a:defRPr sz="1800" b="0">
                <a:solidFill>
                  <a:srgbClr val="A94842"/>
                </a:solidFill>
                <a:latin typeface="Arial"/>
                <a:ea typeface="Arial"/>
                <a:cs typeface="Arial"/>
              </a:defRPr>
            </a:lvl8pPr>
            <a:lvl9pPr algn="l">
              <a:defRPr sz="1800" b="0">
                <a:solidFill>
                  <a:srgbClr val="A94842"/>
                </a:solidFill>
                <a:latin typeface="Arial"/>
                <a:ea typeface="Arial"/>
                <a:cs typeface="Arial"/>
              </a:defRPr>
            </a:lvl9pPr>
          </a:lstStyle>
          <a:p xmlns:a="http://schemas.openxmlformats.org/drawingml/2006/main">
            <a:pPr algn="l">
              <a:defRPr sz="1800" b="0">
                <a:solidFill>
                  <a:srgbClr val="A94842"/>
                </a:solidFill>
                <a:latin typeface="Arial"/>
                <a:ea typeface="Arial"/>
                <a:cs typeface="Arial"/>
              </a:defRPr>
            </a:pPr>
            <a:r>
              <a:rPr sz="1800" b="0">
                <a:solidFill>
                  <a:srgbClr val="A94842"/>
                </a:solidFill>
                <a:latin typeface="Arial"/>
                <a:ea typeface="Arial"/>
                <a:cs typeface="Arial"/>
              </a:rPr>
              <a:t>The 2018 test quarter had already appeared in earlier results; it is exploratory here.</a:t>
            </a:r>
          </a:p>
        </p:txBody>
      </p:sp>
    </p:spTree>
    <p:extLst>
      <p:ext uri="{BB962C8B-B14F-4D97-AF65-F5344CB8AC3E}">
        <p14:creationId xmlns:p14="http://schemas.microsoft.com/office/powerpoint/2010/main" val="18958350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eyebrow-5">
            <a:extLst xmlns:a="http://schemas.openxmlformats.org/drawingml/2006/main">
              <a:ext uri="{FF2B5EF4-FFF2-40B4-BE49-F238E27FC236}">
                <a16:creationId xmlns:a16="http://schemas.microsoft.com/office/drawing/2014/main" id="{020061C9-29D8-429D-9A72-54F1D0785FD1}"/>
              </a:ext>
            </a:extLst>
          </p:cNvPr>
          <p:cNvSpPr>
            <a:spLocks xmlns:a="http://schemas.openxmlformats.org/drawingml/2006/main" noGrp="1"/>
          </p:cNvSpPr>
          <p:nvPr/>
        </p:nvSpPr>
        <p:spPr>
          <a:xfrm xmlns:a="http://schemas.openxmlformats.org/drawingml/2006/main">
            <a:off x="647700" y="2667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46895"/>
                </a:solidFill>
                <a:latin typeface="Arial"/>
                <a:ea typeface="Arial"/>
                <a:cs typeface="Arial"/>
              </a:defRPr>
            </a:defPPr>
            <a:lvl1pPr algn="l">
              <a:defRPr sz="1200" b="1">
                <a:solidFill>
                  <a:srgbClr val="246895"/>
                </a:solidFill>
                <a:latin typeface="Arial"/>
                <a:ea typeface="Arial"/>
                <a:cs typeface="Arial"/>
              </a:defRPr>
            </a:lvl1pPr>
            <a:lvl2pPr algn="l">
              <a:defRPr sz="1200" b="1">
                <a:solidFill>
                  <a:srgbClr val="246895"/>
                </a:solidFill>
                <a:latin typeface="Arial"/>
                <a:ea typeface="Arial"/>
                <a:cs typeface="Arial"/>
              </a:defRPr>
            </a:lvl2pPr>
            <a:lvl3pPr algn="l">
              <a:defRPr sz="1200" b="1">
                <a:solidFill>
                  <a:srgbClr val="246895"/>
                </a:solidFill>
                <a:latin typeface="Arial"/>
                <a:ea typeface="Arial"/>
                <a:cs typeface="Arial"/>
              </a:defRPr>
            </a:lvl3pPr>
            <a:lvl4pPr algn="l">
              <a:defRPr sz="1200" b="1">
                <a:solidFill>
                  <a:srgbClr val="246895"/>
                </a:solidFill>
                <a:latin typeface="Arial"/>
                <a:ea typeface="Arial"/>
                <a:cs typeface="Arial"/>
              </a:defRPr>
            </a:lvl4pPr>
            <a:lvl5pPr algn="l">
              <a:defRPr sz="1200" b="1">
                <a:solidFill>
                  <a:srgbClr val="246895"/>
                </a:solidFill>
                <a:latin typeface="Arial"/>
                <a:ea typeface="Arial"/>
                <a:cs typeface="Arial"/>
              </a:defRPr>
            </a:lvl5pPr>
            <a:lvl6pPr algn="l">
              <a:defRPr sz="1200" b="1">
                <a:solidFill>
                  <a:srgbClr val="246895"/>
                </a:solidFill>
                <a:latin typeface="Arial"/>
                <a:ea typeface="Arial"/>
                <a:cs typeface="Arial"/>
              </a:defRPr>
            </a:lvl6pPr>
            <a:lvl7pPr algn="l">
              <a:defRPr sz="1200" b="1">
                <a:solidFill>
                  <a:srgbClr val="246895"/>
                </a:solidFill>
                <a:latin typeface="Arial"/>
                <a:ea typeface="Arial"/>
                <a:cs typeface="Arial"/>
              </a:defRPr>
            </a:lvl7pPr>
            <a:lvl8pPr algn="l">
              <a:defRPr sz="1200" b="1">
                <a:solidFill>
                  <a:srgbClr val="246895"/>
                </a:solidFill>
                <a:latin typeface="Arial"/>
                <a:ea typeface="Arial"/>
                <a:cs typeface="Arial"/>
              </a:defRPr>
            </a:lvl8pPr>
            <a:lvl9pPr algn="l">
              <a:defRPr sz="1200" b="1">
                <a:solidFill>
                  <a:srgbClr val="246895"/>
                </a:solidFill>
                <a:latin typeface="Arial"/>
                <a:ea typeface="Arial"/>
                <a:cs typeface="Arial"/>
              </a:defRPr>
            </a:lvl9pPr>
          </a:lstStyle>
          <a:p xmlns:a="http://schemas.openxmlformats.org/drawingml/2006/main">
            <a:pPr algn="l">
              <a:defRPr sz="1200" b="1">
                <a:solidFill>
                  <a:srgbClr val="246895"/>
                </a:solidFill>
                <a:latin typeface="Arial"/>
                <a:ea typeface="Arial"/>
                <a:cs typeface="Arial"/>
              </a:defRPr>
            </a:pPr>
            <a:r>
              <a:rPr sz="1200" b="1">
                <a:solidFill>
                  <a:srgbClr val="246895"/>
                </a:solidFill>
                <a:latin typeface="Arial"/>
                <a:ea typeface="Arial"/>
                <a:cs typeface="Arial"/>
              </a:rPr>
              <a:t>IS6400  /  OLIST REPURCHASE</a:t>
            </a:r>
          </a:p>
        </p:txBody>
      </p:sp>
      <p:sp>
        <p:nvSpPr>
          <p:cNvPr id="2" name="title-5">
            <a:extLst xmlns:a="http://schemas.openxmlformats.org/drawingml/2006/main">
              <a:ext uri="{FF2B5EF4-FFF2-40B4-BE49-F238E27FC236}">
                <a16:creationId xmlns:a16="http://schemas.microsoft.com/office/drawing/2014/main" id="{DA84044B-D96E-4FA9-8730-B2D8A39E9760}"/>
              </a:ext>
            </a:extLst>
          </p:cNvPr>
          <p:cNvSpPr>
            <a:spLocks xmlns:a="http://schemas.openxmlformats.org/drawingml/2006/main" noGrp="1"/>
          </p:cNvSpPr>
          <p:nvPr/>
        </p:nvSpPr>
        <p:spPr>
          <a:xfrm xmlns:a="http://schemas.openxmlformats.org/drawingml/2006/main">
            <a:off x="647700" y="6667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23452"/>
                </a:solidFill>
                <a:latin typeface="Arial"/>
                <a:ea typeface="Arial"/>
                <a:cs typeface="Arial"/>
              </a:defRPr>
            </a:defPPr>
            <a:lvl1pPr algn="l">
              <a:defRPr sz="3225" b="1">
                <a:solidFill>
                  <a:srgbClr val="123452"/>
                </a:solidFill>
                <a:latin typeface="Arial"/>
                <a:ea typeface="Arial"/>
                <a:cs typeface="Arial"/>
              </a:defRPr>
            </a:lvl1pPr>
            <a:lvl2pPr algn="l">
              <a:defRPr sz="3225" b="1">
                <a:solidFill>
                  <a:srgbClr val="123452"/>
                </a:solidFill>
                <a:latin typeface="Arial"/>
                <a:ea typeface="Arial"/>
                <a:cs typeface="Arial"/>
              </a:defRPr>
            </a:lvl2pPr>
            <a:lvl3pPr algn="l">
              <a:defRPr sz="3225" b="1">
                <a:solidFill>
                  <a:srgbClr val="123452"/>
                </a:solidFill>
                <a:latin typeface="Arial"/>
                <a:ea typeface="Arial"/>
                <a:cs typeface="Arial"/>
              </a:defRPr>
            </a:lvl3pPr>
            <a:lvl4pPr algn="l">
              <a:defRPr sz="3225" b="1">
                <a:solidFill>
                  <a:srgbClr val="123452"/>
                </a:solidFill>
                <a:latin typeface="Arial"/>
                <a:ea typeface="Arial"/>
                <a:cs typeface="Arial"/>
              </a:defRPr>
            </a:lvl4pPr>
            <a:lvl5pPr algn="l">
              <a:defRPr sz="3225" b="1">
                <a:solidFill>
                  <a:srgbClr val="123452"/>
                </a:solidFill>
                <a:latin typeface="Arial"/>
                <a:ea typeface="Arial"/>
                <a:cs typeface="Arial"/>
              </a:defRPr>
            </a:lvl5pPr>
            <a:lvl6pPr algn="l">
              <a:defRPr sz="3225" b="1">
                <a:solidFill>
                  <a:srgbClr val="123452"/>
                </a:solidFill>
                <a:latin typeface="Arial"/>
                <a:ea typeface="Arial"/>
                <a:cs typeface="Arial"/>
              </a:defRPr>
            </a:lvl6pPr>
            <a:lvl7pPr algn="l">
              <a:defRPr sz="3225" b="1">
                <a:solidFill>
                  <a:srgbClr val="123452"/>
                </a:solidFill>
                <a:latin typeface="Arial"/>
                <a:ea typeface="Arial"/>
                <a:cs typeface="Arial"/>
              </a:defRPr>
            </a:lvl7pPr>
            <a:lvl8pPr algn="l">
              <a:defRPr sz="3225" b="1">
                <a:solidFill>
                  <a:srgbClr val="123452"/>
                </a:solidFill>
                <a:latin typeface="Arial"/>
                <a:ea typeface="Arial"/>
                <a:cs typeface="Arial"/>
              </a:defRPr>
            </a:lvl8pPr>
            <a:lvl9pPr algn="l">
              <a:defRPr sz="3225" b="1">
                <a:solidFill>
                  <a:srgbClr val="123452"/>
                </a:solidFill>
                <a:latin typeface="Arial"/>
                <a:ea typeface="Arial"/>
                <a:cs typeface="Arial"/>
              </a:defRPr>
            </a:lvl9pPr>
          </a:lstStyle>
          <a:p xmlns:a="http://schemas.openxmlformats.org/drawingml/2006/main">
            <a:pPr algn="l">
              <a:defRPr sz="3225" b="1">
                <a:solidFill>
                  <a:srgbClr val="123452"/>
                </a:solidFill>
                <a:latin typeface="Arial"/>
                <a:ea typeface="Arial"/>
                <a:cs typeface="Arial"/>
              </a:defRPr>
            </a:pPr>
            <a:r>
              <a:rPr sz="3225" b="1">
                <a:solidFill>
                  <a:srgbClr val="123452"/>
                </a:solidFill>
                <a:latin typeface="Arial"/>
                <a:ea typeface="Arial"/>
                <a:cs typeface="Arial"/>
              </a:rPr>
              <a:t>The original models beat a simple recency rule</a:t>
            </a:r>
          </a:p>
        </p:txBody>
      </p:sp>
      <p:sp>
        <p:nvSpPr>
          <p:cNvPr id="3" name="footer-5">
            <a:extLst xmlns:a="http://schemas.openxmlformats.org/drawingml/2006/main">
              <a:ext uri="{FF2B5EF4-FFF2-40B4-BE49-F238E27FC236}">
                <a16:creationId xmlns:a16="http://schemas.microsoft.com/office/drawing/2014/main" id="{3A45BF1F-898B-43B7-BFDA-0FD26D0D2AB8}"/>
              </a:ext>
            </a:extLst>
          </p:cNvPr>
          <p:cNvSpPr>
            <a:spLocks xmlns:a="http://schemas.openxmlformats.org/drawingml/2006/main" noGrp="1"/>
          </p:cNvSpPr>
          <p:nvPr/>
        </p:nvSpPr>
        <p:spPr>
          <a:xfrm xmlns:a="http://schemas.openxmlformats.org/drawingml/2006/main">
            <a:off x="647700" y="6248400"/>
            <a:ext cx="923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77C8D"/>
                </a:solidFill>
                <a:latin typeface="Arial"/>
                <a:ea typeface="Arial"/>
                <a:cs typeface="Arial"/>
              </a:defRPr>
            </a:defPPr>
            <a:lvl1pPr algn="l">
              <a:defRPr sz="1125" b="0">
                <a:solidFill>
                  <a:srgbClr val="677C8D"/>
                </a:solidFill>
                <a:latin typeface="Arial"/>
                <a:ea typeface="Arial"/>
                <a:cs typeface="Arial"/>
              </a:defRPr>
            </a:lvl1pPr>
            <a:lvl2pPr algn="l">
              <a:defRPr sz="1125" b="0">
                <a:solidFill>
                  <a:srgbClr val="677C8D"/>
                </a:solidFill>
                <a:latin typeface="Arial"/>
                <a:ea typeface="Arial"/>
                <a:cs typeface="Arial"/>
              </a:defRPr>
            </a:lvl2pPr>
            <a:lvl3pPr algn="l">
              <a:defRPr sz="1125" b="0">
                <a:solidFill>
                  <a:srgbClr val="677C8D"/>
                </a:solidFill>
                <a:latin typeface="Arial"/>
                <a:ea typeface="Arial"/>
                <a:cs typeface="Arial"/>
              </a:defRPr>
            </a:lvl3pPr>
            <a:lvl4pPr algn="l">
              <a:defRPr sz="1125" b="0">
                <a:solidFill>
                  <a:srgbClr val="677C8D"/>
                </a:solidFill>
                <a:latin typeface="Arial"/>
                <a:ea typeface="Arial"/>
                <a:cs typeface="Arial"/>
              </a:defRPr>
            </a:lvl4pPr>
            <a:lvl5pPr algn="l">
              <a:defRPr sz="1125" b="0">
                <a:solidFill>
                  <a:srgbClr val="677C8D"/>
                </a:solidFill>
                <a:latin typeface="Arial"/>
                <a:ea typeface="Arial"/>
                <a:cs typeface="Arial"/>
              </a:defRPr>
            </a:lvl5pPr>
            <a:lvl6pPr algn="l">
              <a:defRPr sz="1125" b="0">
                <a:solidFill>
                  <a:srgbClr val="677C8D"/>
                </a:solidFill>
                <a:latin typeface="Arial"/>
                <a:ea typeface="Arial"/>
                <a:cs typeface="Arial"/>
              </a:defRPr>
            </a:lvl6pPr>
            <a:lvl7pPr algn="l">
              <a:defRPr sz="1125" b="0">
                <a:solidFill>
                  <a:srgbClr val="677C8D"/>
                </a:solidFill>
                <a:latin typeface="Arial"/>
                <a:ea typeface="Arial"/>
                <a:cs typeface="Arial"/>
              </a:defRPr>
            </a:lvl7pPr>
            <a:lvl8pPr algn="l">
              <a:defRPr sz="1125" b="0">
                <a:solidFill>
                  <a:srgbClr val="677C8D"/>
                </a:solidFill>
                <a:latin typeface="Arial"/>
                <a:ea typeface="Arial"/>
                <a:cs typeface="Arial"/>
              </a:defRPr>
            </a:lvl8pPr>
            <a:lvl9pPr algn="l">
              <a:defRPr sz="1125" b="0">
                <a:solidFill>
                  <a:srgbClr val="677C8D"/>
                </a:solidFill>
                <a:latin typeface="Arial"/>
                <a:ea typeface="Arial"/>
                <a:cs typeface="Arial"/>
              </a:defRPr>
            </a:lvl9pPr>
          </a:lstStyle>
          <a:p xmlns:a="http://schemas.openxmlformats.org/drawingml/2006/main">
            <a:pPr algn="l">
              <a:defRPr sz="1125" b="0">
                <a:solidFill>
                  <a:srgbClr val="677C8D"/>
                </a:solidFill>
                <a:latin typeface="Arial"/>
                <a:ea typeface="Arial"/>
                <a:cs typeface="Arial"/>
              </a:defRPr>
            </a:pPr>
            <a:r>
              <a:rPr sz="1125" b="0">
                <a:solidFill>
                  <a:srgbClr val="677C8D"/>
                </a:solidFill>
                <a:latin typeface="Arial"/>
                <a:ea typeface="Arial"/>
                <a:cs typeface="Arial"/>
              </a:rPr>
              <a:t>Olist historical orders, 2016–2018  •  Exploratory evidence</a:t>
            </a:r>
          </a:p>
        </p:txBody>
      </p:sp>
      <p:sp>
        <p:nvSpPr>
          <p:cNvPr id="4" name="page-5">
            <a:extLst xmlns:a="http://schemas.openxmlformats.org/drawingml/2006/main">
              <a:ext uri="{FF2B5EF4-FFF2-40B4-BE49-F238E27FC236}">
                <a16:creationId xmlns:a16="http://schemas.microsoft.com/office/drawing/2014/main" id="{6BEDA405-62F7-459F-AB30-5C34CE632A8B}"/>
              </a:ext>
            </a:extLst>
          </p:cNvPr>
          <p:cNvSpPr>
            <a:spLocks xmlns:a="http://schemas.openxmlformats.org/drawingml/2006/main" noGrp="1"/>
          </p:cNvSpPr>
          <p:nvPr/>
        </p:nvSpPr>
        <p:spPr>
          <a:xfrm xmlns:a="http://schemas.openxmlformats.org/drawingml/2006/main">
            <a:off x="10763250" y="6248400"/>
            <a:ext cx="76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677C8D"/>
                </a:solidFill>
                <a:latin typeface="Arial"/>
                <a:ea typeface="Arial"/>
                <a:cs typeface="Arial"/>
              </a:defRPr>
            </a:defPPr>
            <a:lvl1pPr algn="r">
              <a:defRPr sz="1125" b="0">
                <a:solidFill>
                  <a:srgbClr val="677C8D"/>
                </a:solidFill>
                <a:latin typeface="Arial"/>
                <a:ea typeface="Arial"/>
                <a:cs typeface="Arial"/>
              </a:defRPr>
            </a:lvl1pPr>
            <a:lvl2pPr algn="r">
              <a:defRPr sz="1125" b="0">
                <a:solidFill>
                  <a:srgbClr val="677C8D"/>
                </a:solidFill>
                <a:latin typeface="Arial"/>
                <a:ea typeface="Arial"/>
                <a:cs typeface="Arial"/>
              </a:defRPr>
            </a:lvl2pPr>
            <a:lvl3pPr algn="r">
              <a:defRPr sz="1125" b="0">
                <a:solidFill>
                  <a:srgbClr val="677C8D"/>
                </a:solidFill>
                <a:latin typeface="Arial"/>
                <a:ea typeface="Arial"/>
                <a:cs typeface="Arial"/>
              </a:defRPr>
            </a:lvl3pPr>
            <a:lvl4pPr algn="r">
              <a:defRPr sz="1125" b="0">
                <a:solidFill>
                  <a:srgbClr val="677C8D"/>
                </a:solidFill>
                <a:latin typeface="Arial"/>
                <a:ea typeface="Arial"/>
                <a:cs typeface="Arial"/>
              </a:defRPr>
            </a:lvl4pPr>
            <a:lvl5pPr algn="r">
              <a:defRPr sz="1125" b="0">
                <a:solidFill>
                  <a:srgbClr val="677C8D"/>
                </a:solidFill>
                <a:latin typeface="Arial"/>
                <a:ea typeface="Arial"/>
                <a:cs typeface="Arial"/>
              </a:defRPr>
            </a:lvl5pPr>
            <a:lvl6pPr algn="r">
              <a:defRPr sz="1125" b="0">
                <a:solidFill>
                  <a:srgbClr val="677C8D"/>
                </a:solidFill>
                <a:latin typeface="Arial"/>
                <a:ea typeface="Arial"/>
                <a:cs typeface="Arial"/>
              </a:defRPr>
            </a:lvl6pPr>
            <a:lvl7pPr algn="r">
              <a:defRPr sz="1125" b="0">
                <a:solidFill>
                  <a:srgbClr val="677C8D"/>
                </a:solidFill>
                <a:latin typeface="Arial"/>
                <a:ea typeface="Arial"/>
                <a:cs typeface="Arial"/>
              </a:defRPr>
            </a:lvl7pPr>
            <a:lvl8pPr algn="r">
              <a:defRPr sz="1125" b="0">
                <a:solidFill>
                  <a:srgbClr val="677C8D"/>
                </a:solidFill>
                <a:latin typeface="Arial"/>
                <a:ea typeface="Arial"/>
                <a:cs typeface="Arial"/>
              </a:defRPr>
            </a:lvl8pPr>
            <a:lvl9pPr algn="r">
              <a:defRPr sz="1125" b="0">
                <a:solidFill>
                  <a:srgbClr val="677C8D"/>
                </a:solidFill>
                <a:latin typeface="Arial"/>
                <a:ea typeface="Arial"/>
                <a:cs typeface="Arial"/>
              </a:defRPr>
            </a:lvl9pPr>
          </a:lstStyle>
          <a:p xmlns:a="http://schemas.openxmlformats.org/drawingml/2006/main">
            <a:pPr algn="r">
              <a:defRPr sz="1125" b="0">
                <a:solidFill>
                  <a:srgbClr val="677C8D"/>
                </a:solidFill>
                <a:latin typeface="Arial"/>
                <a:ea typeface="Arial"/>
                <a:cs typeface="Arial"/>
              </a:defRPr>
            </a:pPr>
            <a:r>
              <a:rPr sz="1125" b="0">
                <a:solidFill>
                  <a:srgbClr val="677C8D"/>
                </a:solidFill>
                <a:latin typeface="Arial"/>
                <a:ea typeface="Arial"/>
                <a:cs typeface="Arial"/>
              </a:rPr>
              <a:t>5 / 8</a:t>
            </a:r>
          </a:p>
        </p:txBody>
      </p:sp>
      <p:sp>
        <p:nvSpPr>
          <p:cNvPr id="5" name="model-head-a">
            <a:extLst xmlns:a="http://schemas.openxmlformats.org/drawingml/2006/main">
              <a:ext uri="{FF2B5EF4-FFF2-40B4-BE49-F238E27FC236}">
                <a16:creationId xmlns:a16="http://schemas.microsoft.com/office/drawing/2014/main" id="{798ACEDC-394A-48E0-A76B-B5667D6E8C52}"/>
              </a:ext>
            </a:extLst>
          </p:cNvPr>
          <p:cNvSpPr>
            <a:spLocks xmlns:a="http://schemas.openxmlformats.org/drawingml/2006/main" noGrp="1"/>
          </p:cNvSpPr>
          <p:nvPr/>
        </p:nvSpPr>
        <p:spPr>
          <a:xfrm xmlns:a="http://schemas.openxmlformats.org/drawingml/2006/main">
            <a:off x="723900" y="17145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Method</a:t>
            </a:r>
          </a:p>
        </p:txBody>
      </p:sp>
      <p:sp>
        <p:nvSpPr>
          <p:cNvPr id="6" name="model-head-b">
            <a:extLst xmlns:a="http://schemas.openxmlformats.org/drawingml/2006/main">
              <a:ext uri="{FF2B5EF4-FFF2-40B4-BE49-F238E27FC236}">
                <a16:creationId xmlns:a16="http://schemas.microsoft.com/office/drawing/2014/main" id="{40455DDA-34CD-45A4-8F47-B9F2D8501B8B}"/>
              </a:ext>
            </a:extLst>
          </p:cNvPr>
          <p:cNvSpPr>
            <a:spLocks xmlns:a="http://schemas.openxmlformats.org/drawingml/2006/main" noGrp="1"/>
          </p:cNvSpPr>
          <p:nvPr/>
        </p:nvSpPr>
        <p:spPr>
          <a:xfrm xmlns:a="http://schemas.openxmlformats.org/drawingml/2006/main">
            <a:off x="4810125" y="17145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Test AP</a:t>
            </a:r>
          </a:p>
        </p:txBody>
      </p:sp>
      <p:sp>
        <p:nvSpPr>
          <p:cNvPr id="7" name="model-head-c">
            <a:extLst xmlns:a="http://schemas.openxmlformats.org/drawingml/2006/main">
              <a:ext uri="{FF2B5EF4-FFF2-40B4-BE49-F238E27FC236}">
                <a16:creationId xmlns:a16="http://schemas.microsoft.com/office/drawing/2014/main" id="{900BE067-6810-4B21-B96C-F26AEC51422F}"/>
              </a:ext>
            </a:extLst>
          </p:cNvPr>
          <p:cNvSpPr>
            <a:spLocks xmlns:a="http://schemas.openxmlformats.org/drawingml/2006/main" noGrp="1"/>
          </p:cNvSpPr>
          <p:nvPr/>
        </p:nvSpPr>
        <p:spPr>
          <a:xfrm xmlns:a="http://schemas.openxmlformats.org/drawingml/2006/main">
            <a:off x="6905625" y="17145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Top 10% hits</a:t>
            </a:r>
          </a:p>
        </p:txBody>
      </p:sp>
      <p:sp>
        <p:nvSpPr>
          <p:cNvPr id="8" name="model-head-d">
            <a:extLst xmlns:a="http://schemas.openxmlformats.org/drawingml/2006/main">
              <a:ext uri="{FF2B5EF4-FFF2-40B4-BE49-F238E27FC236}">
                <a16:creationId xmlns:a16="http://schemas.microsoft.com/office/drawing/2014/main" id="{54000DE2-3AF2-463E-94A2-3C327D60C24E}"/>
              </a:ext>
            </a:extLst>
          </p:cNvPr>
          <p:cNvSpPr>
            <a:spLocks xmlns:a="http://schemas.openxmlformats.org/drawingml/2006/main" noGrp="1"/>
          </p:cNvSpPr>
          <p:nvPr/>
        </p:nvSpPr>
        <p:spPr>
          <a:xfrm xmlns:a="http://schemas.openxmlformats.org/drawingml/2006/main">
            <a:off x="9048750" y="17145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Selected</a:t>
            </a:r>
          </a:p>
        </p:txBody>
      </p:sp>
      <p:sp>
        <p:nvSpPr>
          <p:cNvPr id="9" name="model-0-a">
            <a:extLst xmlns:a="http://schemas.openxmlformats.org/drawingml/2006/main">
              <a:ext uri="{FF2B5EF4-FFF2-40B4-BE49-F238E27FC236}">
                <a16:creationId xmlns:a16="http://schemas.microsoft.com/office/drawing/2014/main" id="{8E87F802-4419-4F31-B10E-5A6641A6A5B3}"/>
              </a:ext>
            </a:extLst>
          </p:cNvPr>
          <p:cNvSpPr>
            <a:spLocks xmlns:a="http://schemas.openxmlformats.org/drawingml/2006/main" noGrp="1"/>
          </p:cNvSpPr>
          <p:nvPr/>
        </p:nvSpPr>
        <p:spPr>
          <a:xfrm xmlns:a="http://schemas.openxmlformats.org/drawingml/2006/main">
            <a:off x="723900" y="2276475"/>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Logistic regression</a:t>
            </a:r>
          </a:p>
        </p:txBody>
      </p:sp>
      <p:sp>
        <p:nvSpPr>
          <p:cNvPr id="10" name="model-0-b">
            <a:extLst xmlns:a="http://schemas.openxmlformats.org/drawingml/2006/main">
              <a:ext uri="{FF2B5EF4-FFF2-40B4-BE49-F238E27FC236}">
                <a16:creationId xmlns:a16="http://schemas.microsoft.com/office/drawing/2014/main" id="{1A66846C-43BC-492B-A17B-3B0B7BE5594C}"/>
              </a:ext>
            </a:extLst>
          </p:cNvPr>
          <p:cNvSpPr>
            <a:spLocks xmlns:a="http://schemas.openxmlformats.org/drawingml/2006/main" noGrp="1"/>
          </p:cNvSpPr>
          <p:nvPr/>
        </p:nvSpPr>
        <p:spPr>
          <a:xfrm xmlns:a="http://schemas.openxmlformats.org/drawingml/2006/main">
            <a:off x="4810125" y="2276475"/>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0.0216</a:t>
            </a:r>
          </a:p>
        </p:txBody>
      </p:sp>
      <p:sp>
        <p:nvSpPr>
          <p:cNvPr id="11" name="model-0-c">
            <a:extLst xmlns:a="http://schemas.openxmlformats.org/drawingml/2006/main">
              <a:ext uri="{FF2B5EF4-FFF2-40B4-BE49-F238E27FC236}">
                <a16:creationId xmlns:a16="http://schemas.microsoft.com/office/drawing/2014/main" id="{3086AD2D-A656-4469-8036-9A8FA91C943D}"/>
              </a:ext>
            </a:extLst>
          </p:cNvPr>
          <p:cNvSpPr>
            <a:spLocks xmlns:a="http://schemas.openxmlformats.org/drawingml/2006/main" noGrp="1"/>
          </p:cNvSpPr>
          <p:nvPr/>
        </p:nvSpPr>
        <p:spPr>
          <a:xfrm xmlns:a="http://schemas.openxmlformats.org/drawingml/2006/main">
            <a:off x="6905625" y="2276475"/>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73</a:t>
            </a:r>
          </a:p>
        </p:txBody>
      </p:sp>
      <p:sp>
        <p:nvSpPr>
          <p:cNvPr id="12" name="model-0-d">
            <a:extLst xmlns:a="http://schemas.openxmlformats.org/drawingml/2006/main">
              <a:ext uri="{FF2B5EF4-FFF2-40B4-BE49-F238E27FC236}">
                <a16:creationId xmlns:a16="http://schemas.microsoft.com/office/drawing/2014/main" id="{9759BA0A-C39A-4655-B0DF-E6BF1D3E66DD}"/>
              </a:ext>
            </a:extLst>
          </p:cNvPr>
          <p:cNvSpPr>
            <a:spLocks xmlns:a="http://schemas.openxmlformats.org/drawingml/2006/main" noGrp="1"/>
          </p:cNvSpPr>
          <p:nvPr/>
        </p:nvSpPr>
        <p:spPr>
          <a:xfrm xmlns:a="http://schemas.openxmlformats.org/drawingml/2006/main">
            <a:off x="9048750" y="227647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3,782</a:t>
            </a:r>
          </a:p>
        </p:txBody>
      </p:sp>
      <p:sp>
        <p:nvSpPr>
          <p:cNvPr id="13" name="model-1-a">
            <a:extLst xmlns:a="http://schemas.openxmlformats.org/drawingml/2006/main">
              <a:ext uri="{FF2B5EF4-FFF2-40B4-BE49-F238E27FC236}">
                <a16:creationId xmlns:a16="http://schemas.microsoft.com/office/drawing/2014/main" id="{058D64C1-100F-42FB-800B-E7B4F56D66D8}"/>
              </a:ext>
            </a:extLst>
          </p:cNvPr>
          <p:cNvSpPr>
            <a:spLocks xmlns:a="http://schemas.openxmlformats.org/drawingml/2006/main" noGrp="1"/>
          </p:cNvSpPr>
          <p:nvPr/>
        </p:nvSpPr>
        <p:spPr>
          <a:xfrm xmlns:a="http://schemas.openxmlformats.org/drawingml/2006/main">
            <a:off x="723900" y="28194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CatBoost</a:t>
            </a:r>
          </a:p>
        </p:txBody>
      </p:sp>
      <p:sp>
        <p:nvSpPr>
          <p:cNvPr id="14" name="model-1-b">
            <a:extLst xmlns:a="http://schemas.openxmlformats.org/drawingml/2006/main">
              <a:ext uri="{FF2B5EF4-FFF2-40B4-BE49-F238E27FC236}">
                <a16:creationId xmlns:a16="http://schemas.microsoft.com/office/drawing/2014/main" id="{548B0345-13FB-4F70-BDF6-2A6A0ACE3E8B}"/>
              </a:ext>
            </a:extLst>
          </p:cNvPr>
          <p:cNvSpPr>
            <a:spLocks xmlns:a="http://schemas.openxmlformats.org/drawingml/2006/main" noGrp="1"/>
          </p:cNvSpPr>
          <p:nvPr/>
        </p:nvSpPr>
        <p:spPr>
          <a:xfrm xmlns:a="http://schemas.openxmlformats.org/drawingml/2006/main">
            <a:off x="4810125" y="28194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0.0212</a:t>
            </a:r>
          </a:p>
        </p:txBody>
      </p:sp>
      <p:sp>
        <p:nvSpPr>
          <p:cNvPr id="15" name="model-1-c">
            <a:extLst xmlns:a="http://schemas.openxmlformats.org/drawingml/2006/main">
              <a:ext uri="{FF2B5EF4-FFF2-40B4-BE49-F238E27FC236}">
                <a16:creationId xmlns:a16="http://schemas.microsoft.com/office/drawing/2014/main" id="{890A48FA-19BE-4C39-8B51-A4BA569E5E4E}"/>
              </a:ext>
            </a:extLst>
          </p:cNvPr>
          <p:cNvSpPr>
            <a:spLocks xmlns:a="http://schemas.openxmlformats.org/drawingml/2006/main" noGrp="1"/>
          </p:cNvSpPr>
          <p:nvPr/>
        </p:nvSpPr>
        <p:spPr>
          <a:xfrm xmlns:a="http://schemas.openxmlformats.org/drawingml/2006/main">
            <a:off x="6905625" y="28194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70</a:t>
            </a:r>
          </a:p>
        </p:txBody>
      </p:sp>
      <p:sp>
        <p:nvSpPr>
          <p:cNvPr id="16" name="model-1-d">
            <a:extLst xmlns:a="http://schemas.openxmlformats.org/drawingml/2006/main">
              <a:ext uri="{FF2B5EF4-FFF2-40B4-BE49-F238E27FC236}">
                <a16:creationId xmlns:a16="http://schemas.microsoft.com/office/drawing/2014/main" id="{7BEED298-8F45-4872-81BC-673FD1812FC7}"/>
              </a:ext>
            </a:extLst>
          </p:cNvPr>
          <p:cNvSpPr>
            <a:spLocks xmlns:a="http://schemas.openxmlformats.org/drawingml/2006/main" noGrp="1"/>
          </p:cNvSpPr>
          <p:nvPr/>
        </p:nvSpPr>
        <p:spPr>
          <a:xfrm xmlns:a="http://schemas.openxmlformats.org/drawingml/2006/main">
            <a:off x="9048750" y="28194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3,782</a:t>
            </a:r>
          </a:p>
        </p:txBody>
      </p:sp>
      <p:sp>
        <p:nvSpPr>
          <p:cNvPr id="17" name="model-2-a">
            <a:extLst xmlns:a="http://schemas.openxmlformats.org/drawingml/2006/main">
              <a:ext uri="{FF2B5EF4-FFF2-40B4-BE49-F238E27FC236}">
                <a16:creationId xmlns:a16="http://schemas.microsoft.com/office/drawing/2014/main" id="{DFF1473F-0C23-49D1-A7B2-F414C414A6A2}"/>
              </a:ext>
            </a:extLst>
          </p:cNvPr>
          <p:cNvSpPr>
            <a:spLocks xmlns:a="http://schemas.openxmlformats.org/drawingml/2006/main" noGrp="1"/>
          </p:cNvSpPr>
          <p:nvPr/>
        </p:nvSpPr>
        <p:spPr>
          <a:xfrm xmlns:a="http://schemas.openxmlformats.org/drawingml/2006/main">
            <a:off x="723900" y="3362325"/>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Random forest</a:t>
            </a:r>
          </a:p>
        </p:txBody>
      </p:sp>
      <p:sp>
        <p:nvSpPr>
          <p:cNvPr id="18" name="model-2-b">
            <a:extLst xmlns:a="http://schemas.openxmlformats.org/drawingml/2006/main">
              <a:ext uri="{FF2B5EF4-FFF2-40B4-BE49-F238E27FC236}">
                <a16:creationId xmlns:a16="http://schemas.microsoft.com/office/drawing/2014/main" id="{7EAFE6F6-E467-49F1-9412-70906846C4BE}"/>
              </a:ext>
            </a:extLst>
          </p:cNvPr>
          <p:cNvSpPr>
            <a:spLocks xmlns:a="http://schemas.openxmlformats.org/drawingml/2006/main" noGrp="1"/>
          </p:cNvSpPr>
          <p:nvPr/>
        </p:nvSpPr>
        <p:spPr>
          <a:xfrm xmlns:a="http://schemas.openxmlformats.org/drawingml/2006/main">
            <a:off x="4810125" y="3362325"/>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0.0226</a:t>
            </a:r>
          </a:p>
        </p:txBody>
      </p:sp>
      <p:sp>
        <p:nvSpPr>
          <p:cNvPr id="19" name="model-2-c">
            <a:extLst xmlns:a="http://schemas.openxmlformats.org/drawingml/2006/main">
              <a:ext uri="{FF2B5EF4-FFF2-40B4-BE49-F238E27FC236}">
                <a16:creationId xmlns:a16="http://schemas.microsoft.com/office/drawing/2014/main" id="{19AE4256-5DB5-4E8A-A2CD-D79BC2FDC3F4}"/>
              </a:ext>
            </a:extLst>
          </p:cNvPr>
          <p:cNvSpPr>
            <a:spLocks xmlns:a="http://schemas.openxmlformats.org/drawingml/2006/main" noGrp="1"/>
          </p:cNvSpPr>
          <p:nvPr/>
        </p:nvSpPr>
        <p:spPr>
          <a:xfrm xmlns:a="http://schemas.openxmlformats.org/drawingml/2006/main">
            <a:off x="6905625" y="3362325"/>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59</a:t>
            </a:r>
          </a:p>
        </p:txBody>
      </p:sp>
      <p:sp>
        <p:nvSpPr>
          <p:cNvPr id="20" name="model-2-d">
            <a:extLst xmlns:a="http://schemas.openxmlformats.org/drawingml/2006/main">
              <a:ext uri="{FF2B5EF4-FFF2-40B4-BE49-F238E27FC236}">
                <a16:creationId xmlns:a16="http://schemas.microsoft.com/office/drawing/2014/main" id="{8144166C-9973-424C-BCA0-971DE40D3E3C}"/>
              </a:ext>
            </a:extLst>
          </p:cNvPr>
          <p:cNvSpPr>
            <a:spLocks xmlns:a="http://schemas.openxmlformats.org/drawingml/2006/main" noGrp="1"/>
          </p:cNvSpPr>
          <p:nvPr/>
        </p:nvSpPr>
        <p:spPr>
          <a:xfrm xmlns:a="http://schemas.openxmlformats.org/drawingml/2006/main">
            <a:off x="9048750" y="336232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3,782</a:t>
            </a:r>
          </a:p>
        </p:txBody>
      </p:sp>
      <p:sp>
        <p:nvSpPr>
          <p:cNvPr id="21" name="model-3-a">
            <a:extLst xmlns:a="http://schemas.openxmlformats.org/drawingml/2006/main">
              <a:ext uri="{FF2B5EF4-FFF2-40B4-BE49-F238E27FC236}">
                <a16:creationId xmlns:a16="http://schemas.microsoft.com/office/drawing/2014/main" id="{9E8D4262-A3F8-42A7-90B2-FB0184BC4EEF}"/>
              </a:ext>
            </a:extLst>
          </p:cNvPr>
          <p:cNvSpPr>
            <a:spLocks xmlns:a="http://schemas.openxmlformats.org/drawingml/2006/main" noGrp="1"/>
          </p:cNvSpPr>
          <p:nvPr/>
        </p:nvSpPr>
        <p:spPr>
          <a:xfrm xmlns:a="http://schemas.openxmlformats.org/drawingml/2006/main">
            <a:off x="723900" y="39052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Hist. gradient boost</a:t>
            </a:r>
          </a:p>
        </p:txBody>
      </p:sp>
      <p:sp>
        <p:nvSpPr>
          <p:cNvPr id="22" name="model-3-b">
            <a:extLst xmlns:a="http://schemas.openxmlformats.org/drawingml/2006/main">
              <a:ext uri="{FF2B5EF4-FFF2-40B4-BE49-F238E27FC236}">
                <a16:creationId xmlns:a16="http://schemas.microsoft.com/office/drawing/2014/main" id="{25BA825C-6699-4C00-BCE6-4172BE5AD22A}"/>
              </a:ext>
            </a:extLst>
          </p:cNvPr>
          <p:cNvSpPr>
            <a:spLocks xmlns:a="http://schemas.openxmlformats.org/drawingml/2006/main" noGrp="1"/>
          </p:cNvSpPr>
          <p:nvPr/>
        </p:nvSpPr>
        <p:spPr>
          <a:xfrm xmlns:a="http://schemas.openxmlformats.org/drawingml/2006/main">
            <a:off x="4810125" y="39052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0.0144</a:t>
            </a:r>
          </a:p>
        </p:txBody>
      </p:sp>
      <p:sp>
        <p:nvSpPr>
          <p:cNvPr id="23" name="model-3-c">
            <a:extLst xmlns:a="http://schemas.openxmlformats.org/drawingml/2006/main">
              <a:ext uri="{FF2B5EF4-FFF2-40B4-BE49-F238E27FC236}">
                <a16:creationId xmlns:a16="http://schemas.microsoft.com/office/drawing/2014/main" id="{72B5AC5A-7350-43F3-B326-1910D8098B99}"/>
              </a:ext>
            </a:extLst>
          </p:cNvPr>
          <p:cNvSpPr>
            <a:spLocks xmlns:a="http://schemas.openxmlformats.org/drawingml/2006/main" noGrp="1"/>
          </p:cNvSpPr>
          <p:nvPr/>
        </p:nvSpPr>
        <p:spPr>
          <a:xfrm xmlns:a="http://schemas.openxmlformats.org/drawingml/2006/main">
            <a:off x="6905625" y="39052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57</a:t>
            </a:r>
          </a:p>
        </p:txBody>
      </p:sp>
      <p:sp>
        <p:nvSpPr>
          <p:cNvPr id="24" name="model-3-d">
            <a:extLst xmlns:a="http://schemas.openxmlformats.org/drawingml/2006/main">
              <a:ext uri="{FF2B5EF4-FFF2-40B4-BE49-F238E27FC236}">
                <a16:creationId xmlns:a16="http://schemas.microsoft.com/office/drawing/2014/main" id="{F67D102C-BF64-4675-95B2-118CDB0E2D57}"/>
              </a:ext>
            </a:extLst>
          </p:cNvPr>
          <p:cNvSpPr>
            <a:spLocks xmlns:a="http://schemas.openxmlformats.org/drawingml/2006/main" noGrp="1"/>
          </p:cNvSpPr>
          <p:nvPr/>
        </p:nvSpPr>
        <p:spPr>
          <a:xfrm xmlns:a="http://schemas.openxmlformats.org/drawingml/2006/main">
            <a:off x="9048750" y="39052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3,782</a:t>
            </a:r>
          </a:p>
        </p:txBody>
      </p:sp>
      <p:sp>
        <p:nvSpPr>
          <p:cNvPr id="25" name="model-4-a">
            <a:extLst xmlns:a="http://schemas.openxmlformats.org/drawingml/2006/main">
              <a:ext uri="{FF2B5EF4-FFF2-40B4-BE49-F238E27FC236}">
                <a16:creationId xmlns:a16="http://schemas.microsoft.com/office/drawing/2014/main" id="{DAE01FB7-8668-40BA-A2A2-5AB2A8454171}"/>
              </a:ext>
            </a:extLst>
          </p:cNvPr>
          <p:cNvSpPr>
            <a:spLocks xmlns:a="http://schemas.openxmlformats.org/drawingml/2006/main" noGrp="1"/>
          </p:cNvSpPr>
          <p:nvPr/>
        </p:nvSpPr>
        <p:spPr>
          <a:xfrm xmlns:a="http://schemas.openxmlformats.org/drawingml/2006/main">
            <a:off x="723900" y="4448175"/>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Recency rule</a:t>
            </a:r>
          </a:p>
        </p:txBody>
      </p:sp>
      <p:sp>
        <p:nvSpPr>
          <p:cNvPr id="26" name="model-4-b">
            <a:extLst xmlns:a="http://schemas.openxmlformats.org/drawingml/2006/main">
              <a:ext uri="{FF2B5EF4-FFF2-40B4-BE49-F238E27FC236}">
                <a16:creationId xmlns:a16="http://schemas.microsoft.com/office/drawing/2014/main" id="{4BCFDC8D-4382-4FB9-B2BF-5A76584B487F}"/>
              </a:ext>
            </a:extLst>
          </p:cNvPr>
          <p:cNvSpPr>
            <a:spLocks xmlns:a="http://schemas.openxmlformats.org/drawingml/2006/main" noGrp="1"/>
          </p:cNvSpPr>
          <p:nvPr/>
        </p:nvSpPr>
        <p:spPr>
          <a:xfrm xmlns:a="http://schemas.openxmlformats.org/drawingml/2006/main">
            <a:off x="4810125" y="4448175"/>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0.0110</a:t>
            </a:r>
          </a:p>
        </p:txBody>
      </p:sp>
      <p:sp>
        <p:nvSpPr>
          <p:cNvPr id="27" name="model-4-c">
            <a:extLst xmlns:a="http://schemas.openxmlformats.org/drawingml/2006/main">
              <a:ext uri="{FF2B5EF4-FFF2-40B4-BE49-F238E27FC236}">
                <a16:creationId xmlns:a16="http://schemas.microsoft.com/office/drawing/2014/main" id="{C1A797F2-492E-4976-B92F-9945B0A0ED3E}"/>
              </a:ext>
            </a:extLst>
          </p:cNvPr>
          <p:cNvSpPr>
            <a:spLocks xmlns:a="http://schemas.openxmlformats.org/drawingml/2006/main" noGrp="1"/>
          </p:cNvSpPr>
          <p:nvPr/>
        </p:nvSpPr>
        <p:spPr>
          <a:xfrm xmlns:a="http://schemas.openxmlformats.org/drawingml/2006/main">
            <a:off x="6905625" y="4448175"/>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45</a:t>
            </a:r>
          </a:p>
        </p:txBody>
      </p:sp>
      <p:sp>
        <p:nvSpPr>
          <p:cNvPr id="28" name="model-4-d">
            <a:extLst xmlns:a="http://schemas.openxmlformats.org/drawingml/2006/main">
              <a:ext uri="{FF2B5EF4-FFF2-40B4-BE49-F238E27FC236}">
                <a16:creationId xmlns:a16="http://schemas.microsoft.com/office/drawing/2014/main" id="{74AD2152-02E6-416B-8C2A-F76B632C88D0}"/>
              </a:ext>
            </a:extLst>
          </p:cNvPr>
          <p:cNvSpPr>
            <a:spLocks xmlns:a="http://schemas.openxmlformats.org/drawingml/2006/main" noGrp="1"/>
          </p:cNvSpPr>
          <p:nvPr/>
        </p:nvSpPr>
        <p:spPr>
          <a:xfrm xmlns:a="http://schemas.openxmlformats.org/drawingml/2006/main">
            <a:off x="9048750" y="444817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3,782</a:t>
            </a:r>
          </a:p>
        </p:txBody>
      </p:sp>
      <p:sp>
        <p:nvSpPr>
          <p:cNvPr id="29" name="interpretation">
            <a:extLst xmlns:a="http://schemas.openxmlformats.org/drawingml/2006/main">
              <a:ext uri="{FF2B5EF4-FFF2-40B4-BE49-F238E27FC236}">
                <a16:creationId xmlns:a16="http://schemas.microsoft.com/office/drawing/2014/main" id="{0AD5C0EA-F479-4D40-8AE6-B847ED310646}"/>
              </a:ext>
            </a:extLst>
          </p:cNvPr>
          <p:cNvSpPr>
            <a:spLocks xmlns:a="http://schemas.openxmlformats.org/drawingml/2006/main" noGrp="1"/>
          </p:cNvSpPr>
          <p:nvPr/>
        </p:nvSpPr>
        <p:spPr>
          <a:xfrm xmlns:a="http://schemas.openxmlformats.org/drawingml/2006/main">
            <a:off x="723900" y="539115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A94842"/>
                </a:solidFill>
                <a:latin typeface="Arial"/>
                <a:ea typeface="Arial"/>
                <a:cs typeface="Arial"/>
              </a:defRPr>
            </a:defPPr>
            <a:lvl1pPr algn="l">
              <a:defRPr sz="1800" b="1">
                <a:solidFill>
                  <a:srgbClr val="A94842"/>
                </a:solidFill>
                <a:latin typeface="Arial"/>
                <a:ea typeface="Arial"/>
                <a:cs typeface="Arial"/>
              </a:defRPr>
            </a:lvl1pPr>
            <a:lvl2pPr algn="l">
              <a:defRPr sz="1800" b="1">
                <a:solidFill>
                  <a:srgbClr val="A94842"/>
                </a:solidFill>
                <a:latin typeface="Arial"/>
                <a:ea typeface="Arial"/>
                <a:cs typeface="Arial"/>
              </a:defRPr>
            </a:lvl2pPr>
            <a:lvl3pPr algn="l">
              <a:defRPr sz="1800" b="1">
                <a:solidFill>
                  <a:srgbClr val="A94842"/>
                </a:solidFill>
                <a:latin typeface="Arial"/>
                <a:ea typeface="Arial"/>
                <a:cs typeface="Arial"/>
              </a:defRPr>
            </a:lvl3pPr>
            <a:lvl4pPr algn="l">
              <a:defRPr sz="1800" b="1">
                <a:solidFill>
                  <a:srgbClr val="A94842"/>
                </a:solidFill>
                <a:latin typeface="Arial"/>
                <a:ea typeface="Arial"/>
                <a:cs typeface="Arial"/>
              </a:defRPr>
            </a:lvl4pPr>
            <a:lvl5pPr algn="l">
              <a:defRPr sz="1800" b="1">
                <a:solidFill>
                  <a:srgbClr val="A94842"/>
                </a:solidFill>
                <a:latin typeface="Arial"/>
                <a:ea typeface="Arial"/>
                <a:cs typeface="Arial"/>
              </a:defRPr>
            </a:lvl5pPr>
            <a:lvl6pPr algn="l">
              <a:defRPr sz="1800" b="1">
                <a:solidFill>
                  <a:srgbClr val="A94842"/>
                </a:solidFill>
                <a:latin typeface="Arial"/>
                <a:ea typeface="Arial"/>
                <a:cs typeface="Arial"/>
              </a:defRPr>
            </a:lvl6pPr>
            <a:lvl7pPr algn="l">
              <a:defRPr sz="1800" b="1">
                <a:solidFill>
                  <a:srgbClr val="A94842"/>
                </a:solidFill>
                <a:latin typeface="Arial"/>
                <a:ea typeface="Arial"/>
                <a:cs typeface="Arial"/>
              </a:defRPr>
            </a:lvl7pPr>
            <a:lvl8pPr algn="l">
              <a:defRPr sz="1800" b="1">
                <a:solidFill>
                  <a:srgbClr val="A94842"/>
                </a:solidFill>
                <a:latin typeface="Arial"/>
                <a:ea typeface="Arial"/>
                <a:cs typeface="Arial"/>
              </a:defRPr>
            </a:lvl8pPr>
            <a:lvl9pPr algn="l">
              <a:defRPr sz="1800" b="1">
                <a:solidFill>
                  <a:srgbClr val="A94842"/>
                </a:solidFill>
                <a:latin typeface="Arial"/>
                <a:ea typeface="Arial"/>
                <a:cs typeface="Arial"/>
              </a:defRPr>
            </a:lvl9pPr>
          </a:lstStyle>
          <a:p xmlns:a="http://schemas.openxmlformats.org/drawingml/2006/main">
            <a:pPr algn="l">
              <a:defRPr sz="1800" b="1">
                <a:solidFill>
                  <a:srgbClr val="A94842"/>
                </a:solidFill>
                <a:latin typeface="Arial"/>
                <a:ea typeface="Arial"/>
                <a:cs typeface="Arial"/>
              </a:defRPr>
            </a:pPr>
            <a:r>
              <a:rPr sz="1800" b="1">
                <a:solidFill>
                  <a:srgbClr val="A94842"/>
                </a:solidFill>
                <a:latin typeface="Arial"/>
                <a:ea typeface="Arial"/>
                <a:cs typeface="Arial"/>
              </a:rPr>
              <a:t>73 hits in 3,782 names = 1.93% precision. This is ranking, not uplift.</a:t>
            </a:r>
          </a:p>
        </p:txBody>
      </p:sp>
    </p:spTree>
    <p:extLst>
      <p:ext uri="{BB962C8B-B14F-4D97-AF65-F5344CB8AC3E}">
        <p14:creationId xmlns:p14="http://schemas.microsoft.com/office/powerpoint/2010/main" val="1244318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eyebrow-6">
            <a:extLst xmlns:a="http://schemas.openxmlformats.org/drawingml/2006/main">
              <a:ext uri="{FF2B5EF4-FFF2-40B4-BE49-F238E27FC236}">
                <a16:creationId xmlns:a16="http://schemas.microsoft.com/office/drawing/2014/main" id="{0B3E3795-0D02-4951-9C30-004638DB275A}"/>
              </a:ext>
            </a:extLst>
          </p:cNvPr>
          <p:cNvSpPr>
            <a:spLocks xmlns:a="http://schemas.openxmlformats.org/drawingml/2006/main" noGrp="1"/>
          </p:cNvSpPr>
          <p:nvPr/>
        </p:nvSpPr>
        <p:spPr>
          <a:xfrm xmlns:a="http://schemas.openxmlformats.org/drawingml/2006/main">
            <a:off x="647700" y="2667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46895"/>
                </a:solidFill>
                <a:latin typeface="Arial"/>
                <a:ea typeface="Arial"/>
                <a:cs typeface="Arial"/>
              </a:defRPr>
            </a:defPPr>
            <a:lvl1pPr algn="l">
              <a:defRPr sz="1200" b="1">
                <a:solidFill>
                  <a:srgbClr val="246895"/>
                </a:solidFill>
                <a:latin typeface="Arial"/>
                <a:ea typeface="Arial"/>
                <a:cs typeface="Arial"/>
              </a:defRPr>
            </a:lvl1pPr>
            <a:lvl2pPr algn="l">
              <a:defRPr sz="1200" b="1">
                <a:solidFill>
                  <a:srgbClr val="246895"/>
                </a:solidFill>
                <a:latin typeface="Arial"/>
                <a:ea typeface="Arial"/>
                <a:cs typeface="Arial"/>
              </a:defRPr>
            </a:lvl2pPr>
            <a:lvl3pPr algn="l">
              <a:defRPr sz="1200" b="1">
                <a:solidFill>
                  <a:srgbClr val="246895"/>
                </a:solidFill>
                <a:latin typeface="Arial"/>
                <a:ea typeface="Arial"/>
                <a:cs typeface="Arial"/>
              </a:defRPr>
            </a:lvl3pPr>
            <a:lvl4pPr algn="l">
              <a:defRPr sz="1200" b="1">
                <a:solidFill>
                  <a:srgbClr val="246895"/>
                </a:solidFill>
                <a:latin typeface="Arial"/>
                <a:ea typeface="Arial"/>
                <a:cs typeface="Arial"/>
              </a:defRPr>
            </a:lvl4pPr>
            <a:lvl5pPr algn="l">
              <a:defRPr sz="1200" b="1">
                <a:solidFill>
                  <a:srgbClr val="246895"/>
                </a:solidFill>
                <a:latin typeface="Arial"/>
                <a:ea typeface="Arial"/>
                <a:cs typeface="Arial"/>
              </a:defRPr>
            </a:lvl5pPr>
            <a:lvl6pPr algn="l">
              <a:defRPr sz="1200" b="1">
                <a:solidFill>
                  <a:srgbClr val="246895"/>
                </a:solidFill>
                <a:latin typeface="Arial"/>
                <a:ea typeface="Arial"/>
                <a:cs typeface="Arial"/>
              </a:defRPr>
            </a:lvl6pPr>
            <a:lvl7pPr algn="l">
              <a:defRPr sz="1200" b="1">
                <a:solidFill>
                  <a:srgbClr val="246895"/>
                </a:solidFill>
                <a:latin typeface="Arial"/>
                <a:ea typeface="Arial"/>
                <a:cs typeface="Arial"/>
              </a:defRPr>
            </a:lvl7pPr>
            <a:lvl8pPr algn="l">
              <a:defRPr sz="1200" b="1">
                <a:solidFill>
                  <a:srgbClr val="246895"/>
                </a:solidFill>
                <a:latin typeface="Arial"/>
                <a:ea typeface="Arial"/>
                <a:cs typeface="Arial"/>
              </a:defRPr>
            </a:lvl8pPr>
            <a:lvl9pPr algn="l">
              <a:defRPr sz="1200" b="1">
                <a:solidFill>
                  <a:srgbClr val="246895"/>
                </a:solidFill>
                <a:latin typeface="Arial"/>
                <a:ea typeface="Arial"/>
                <a:cs typeface="Arial"/>
              </a:defRPr>
            </a:lvl9pPr>
          </a:lstStyle>
          <a:p xmlns:a="http://schemas.openxmlformats.org/drawingml/2006/main">
            <a:pPr algn="l">
              <a:defRPr sz="1200" b="1">
                <a:solidFill>
                  <a:srgbClr val="246895"/>
                </a:solidFill>
                <a:latin typeface="Arial"/>
                <a:ea typeface="Arial"/>
                <a:cs typeface="Arial"/>
              </a:defRPr>
            </a:pPr>
            <a:r>
              <a:rPr sz="1200" b="1">
                <a:solidFill>
                  <a:srgbClr val="246895"/>
                </a:solidFill>
                <a:latin typeface="Arial"/>
                <a:ea typeface="Arial"/>
                <a:cs typeface="Arial"/>
              </a:rPr>
              <a:t>IS6400  /  OLIST REPURCHASE</a:t>
            </a:r>
          </a:p>
        </p:txBody>
      </p:sp>
      <p:sp>
        <p:nvSpPr>
          <p:cNvPr id="2" name="title-6">
            <a:extLst xmlns:a="http://schemas.openxmlformats.org/drawingml/2006/main">
              <a:ext uri="{FF2B5EF4-FFF2-40B4-BE49-F238E27FC236}">
                <a16:creationId xmlns:a16="http://schemas.microsoft.com/office/drawing/2014/main" id="{DF679BCF-4876-4B7F-BEBC-F728ED34A30F}"/>
              </a:ext>
            </a:extLst>
          </p:cNvPr>
          <p:cNvSpPr>
            <a:spLocks xmlns:a="http://schemas.openxmlformats.org/drawingml/2006/main" noGrp="1"/>
          </p:cNvSpPr>
          <p:nvPr/>
        </p:nvSpPr>
        <p:spPr>
          <a:xfrm xmlns:a="http://schemas.openxmlformats.org/drawingml/2006/main">
            <a:off x="647700" y="6667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23452"/>
                </a:solidFill>
                <a:latin typeface="Arial"/>
                <a:ea typeface="Arial"/>
                <a:cs typeface="Arial"/>
              </a:defRPr>
            </a:defPPr>
            <a:lvl1pPr algn="l">
              <a:defRPr sz="3225" b="1">
                <a:solidFill>
                  <a:srgbClr val="123452"/>
                </a:solidFill>
                <a:latin typeface="Arial"/>
                <a:ea typeface="Arial"/>
                <a:cs typeface="Arial"/>
              </a:defRPr>
            </a:lvl1pPr>
            <a:lvl2pPr algn="l">
              <a:defRPr sz="3225" b="1">
                <a:solidFill>
                  <a:srgbClr val="123452"/>
                </a:solidFill>
                <a:latin typeface="Arial"/>
                <a:ea typeface="Arial"/>
                <a:cs typeface="Arial"/>
              </a:defRPr>
            </a:lvl2pPr>
            <a:lvl3pPr algn="l">
              <a:defRPr sz="3225" b="1">
                <a:solidFill>
                  <a:srgbClr val="123452"/>
                </a:solidFill>
                <a:latin typeface="Arial"/>
                <a:ea typeface="Arial"/>
                <a:cs typeface="Arial"/>
              </a:defRPr>
            </a:lvl3pPr>
            <a:lvl4pPr algn="l">
              <a:defRPr sz="3225" b="1">
                <a:solidFill>
                  <a:srgbClr val="123452"/>
                </a:solidFill>
                <a:latin typeface="Arial"/>
                <a:ea typeface="Arial"/>
                <a:cs typeface="Arial"/>
              </a:defRPr>
            </a:lvl4pPr>
            <a:lvl5pPr algn="l">
              <a:defRPr sz="3225" b="1">
                <a:solidFill>
                  <a:srgbClr val="123452"/>
                </a:solidFill>
                <a:latin typeface="Arial"/>
                <a:ea typeface="Arial"/>
                <a:cs typeface="Arial"/>
              </a:defRPr>
            </a:lvl5pPr>
            <a:lvl6pPr algn="l">
              <a:defRPr sz="3225" b="1">
                <a:solidFill>
                  <a:srgbClr val="123452"/>
                </a:solidFill>
                <a:latin typeface="Arial"/>
                <a:ea typeface="Arial"/>
                <a:cs typeface="Arial"/>
              </a:defRPr>
            </a:lvl6pPr>
            <a:lvl7pPr algn="l">
              <a:defRPr sz="3225" b="1">
                <a:solidFill>
                  <a:srgbClr val="123452"/>
                </a:solidFill>
                <a:latin typeface="Arial"/>
                <a:ea typeface="Arial"/>
                <a:cs typeface="Arial"/>
              </a:defRPr>
            </a:lvl7pPr>
            <a:lvl8pPr algn="l">
              <a:defRPr sz="3225" b="1">
                <a:solidFill>
                  <a:srgbClr val="123452"/>
                </a:solidFill>
                <a:latin typeface="Arial"/>
                <a:ea typeface="Arial"/>
                <a:cs typeface="Arial"/>
              </a:defRPr>
            </a:lvl8pPr>
            <a:lvl9pPr algn="l">
              <a:defRPr sz="3225" b="1">
                <a:solidFill>
                  <a:srgbClr val="123452"/>
                </a:solidFill>
                <a:latin typeface="Arial"/>
                <a:ea typeface="Arial"/>
                <a:cs typeface="Arial"/>
              </a:defRPr>
            </a:lvl9pPr>
          </a:lstStyle>
          <a:p xmlns:a="http://schemas.openxmlformats.org/drawingml/2006/main">
            <a:pPr algn="l">
              <a:defRPr sz="3225" b="1">
                <a:solidFill>
                  <a:srgbClr val="123452"/>
                </a:solidFill>
                <a:latin typeface="Arial"/>
                <a:ea typeface="Arial"/>
                <a:cs typeface="Arial"/>
              </a:defRPr>
            </a:pPr>
            <a:r>
              <a:rPr sz="3225" b="1">
                <a:solidFill>
                  <a:srgbClr val="123452"/>
                </a:solidFill>
                <a:latin typeface="Arial"/>
                <a:ea typeface="Arial"/>
                <a:cs typeface="Arial"/>
              </a:rPr>
              <a:t>Four groups differ in observed buying history</a:t>
            </a:r>
          </a:p>
        </p:txBody>
      </p:sp>
      <p:sp>
        <p:nvSpPr>
          <p:cNvPr id="3" name="footer-6">
            <a:extLst xmlns:a="http://schemas.openxmlformats.org/drawingml/2006/main">
              <a:ext uri="{FF2B5EF4-FFF2-40B4-BE49-F238E27FC236}">
                <a16:creationId xmlns:a16="http://schemas.microsoft.com/office/drawing/2014/main" id="{FEE6EA1D-2C5D-42B2-A5D4-98AF9721DE14}"/>
              </a:ext>
            </a:extLst>
          </p:cNvPr>
          <p:cNvSpPr>
            <a:spLocks xmlns:a="http://schemas.openxmlformats.org/drawingml/2006/main" noGrp="1"/>
          </p:cNvSpPr>
          <p:nvPr/>
        </p:nvSpPr>
        <p:spPr>
          <a:xfrm xmlns:a="http://schemas.openxmlformats.org/drawingml/2006/main">
            <a:off x="647700" y="6248400"/>
            <a:ext cx="923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77C8D"/>
                </a:solidFill>
                <a:latin typeface="Arial"/>
                <a:ea typeface="Arial"/>
                <a:cs typeface="Arial"/>
              </a:defRPr>
            </a:defPPr>
            <a:lvl1pPr algn="l">
              <a:defRPr sz="1125" b="0">
                <a:solidFill>
                  <a:srgbClr val="677C8D"/>
                </a:solidFill>
                <a:latin typeface="Arial"/>
                <a:ea typeface="Arial"/>
                <a:cs typeface="Arial"/>
              </a:defRPr>
            </a:lvl1pPr>
            <a:lvl2pPr algn="l">
              <a:defRPr sz="1125" b="0">
                <a:solidFill>
                  <a:srgbClr val="677C8D"/>
                </a:solidFill>
                <a:latin typeface="Arial"/>
                <a:ea typeface="Arial"/>
                <a:cs typeface="Arial"/>
              </a:defRPr>
            </a:lvl2pPr>
            <a:lvl3pPr algn="l">
              <a:defRPr sz="1125" b="0">
                <a:solidFill>
                  <a:srgbClr val="677C8D"/>
                </a:solidFill>
                <a:latin typeface="Arial"/>
                <a:ea typeface="Arial"/>
                <a:cs typeface="Arial"/>
              </a:defRPr>
            </a:lvl3pPr>
            <a:lvl4pPr algn="l">
              <a:defRPr sz="1125" b="0">
                <a:solidFill>
                  <a:srgbClr val="677C8D"/>
                </a:solidFill>
                <a:latin typeface="Arial"/>
                <a:ea typeface="Arial"/>
                <a:cs typeface="Arial"/>
              </a:defRPr>
            </a:lvl4pPr>
            <a:lvl5pPr algn="l">
              <a:defRPr sz="1125" b="0">
                <a:solidFill>
                  <a:srgbClr val="677C8D"/>
                </a:solidFill>
                <a:latin typeface="Arial"/>
                <a:ea typeface="Arial"/>
                <a:cs typeface="Arial"/>
              </a:defRPr>
            </a:lvl5pPr>
            <a:lvl6pPr algn="l">
              <a:defRPr sz="1125" b="0">
                <a:solidFill>
                  <a:srgbClr val="677C8D"/>
                </a:solidFill>
                <a:latin typeface="Arial"/>
                <a:ea typeface="Arial"/>
                <a:cs typeface="Arial"/>
              </a:defRPr>
            </a:lvl6pPr>
            <a:lvl7pPr algn="l">
              <a:defRPr sz="1125" b="0">
                <a:solidFill>
                  <a:srgbClr val="677C8D"/>
                </a:solidFill>
                <a:latin typeface="Arial"/>
                <a:ea typeface="Arial"/>
                <a:cs typeface="Arial"/>
              </a:defRPr>
            </a:lvl7pPr>
            <a:lvl8pPr algn="l">
              <a:defRPr sz="1125" b="0">
                <a:solidFill>
                  <a:srgbClr val="677C8D"/>
                </a:solidFill>
                <a:latin typeface="Arial"/>
                <a:ea typeface="Arial"/>
                <a:cs typeface="Arial"/>
              </a:defRPr>
            </a:lvl8pPr>
            <a:lvl9pPr algn="l">
              <a:defRPr sz="1125" b="0">
                <a:solidFill>
                  <a:srgbClr val="677C8D"/>
                </a:solidFill>
                <a:latin typeface="Arial"/>
                <a:ea typeface="Arial"/>
                <a:cs typeface="Arial"/>
              </a:defRPr>
            </a:lvl9pPr>
          </a:lstStyle>
          <a:p xmlns:a="http://schemas.openxmlformats.org/drawingml/2006/main">
            <a:pPr algn="l">
              <a:defRPr sz="1125" b="0">
                <a:solidFill>
                  <a:srgbClr val="677C8D"/>
                </a:solidFill>
                <a:latin typeface="Arial"/>
                <a:ea typeface="Arial"/>
                <a:cs typeface="Arial"/>
              </a:defRPr>
            </a:pPr>
            <a:r>
              <a:rPr sz="1125" b="0">
                <a:solidFill>
                  <a:srgbClr val="677C8D"/>
                </a:solidFill>
                <a:latin typeface="Arial"/>
                <a:ea typeface="Arial"/>
                <a:cs typeface="Arial"/>
              </a:rPr>
              <a:t>Olist historical orders, 2016–2018  •  Exploratory evidence</a:t>
            </a:r>
          </a:p>
        </p:txBody>
      </p:sp>
      <p:sp>
        <p:nvSpPr>
          <p:cNvPr id="4" name="page-6">
            <a:extLst xmlns:a="http://schemas.openxmlformats.org/drawingml/2006/main">
              <a:ext uri="{FF2B5EF4-FFF2-40B4-BE49-F238E27FC236}">
                <a16:creationId xmlns:a16="http://schemas.microsoft.com/office/drawing/2014/main" id="{0F00D969-E711-4621-AE8E-F9DF5DB12461}"/>
              </a:ext>
            </a:extLst>
          </p:cNvPr>
          <p:cNvSpPr>
            <a:spLocks xmlns:a="http://schemas.openxmlformats.org/drawingml/2006/main" noGrp="1"/>
          </p:cNvSpPr>
          <p:nvPr/>
        </p:nvSpPr>
        <p:spPr>
          <a:xfrm xmlns:a="http://schemas.openxmlformats.org/drawingml/2006/main">
            <a:off x="10763250" y="6248400"/>
            <a:ext cx="76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677C8D"/>
                </a:solidFill>
                <a:latin typeface="Arial"/>
                <a:ea typeface="Arial"/>
                <a:cs typeface="Arial"/>
              </a:defRPr>
            </a:defPPr>
            <a:lvl1pPr algn="r">
              <a:defRPr sz="1125" b="0">
                <a:solidFill>
                  <a:srgbClr val="677C8D"/>
                </a:solidFill>
                <a:latin typeface="Arial"/>
                <a:ea typeface="Arial"/>
                <a:cs typeface="Arial"/>
              </a:defRPr>
            </a:lvl1pPr>
            <a:lvl2pPr algn="r">
              <a:defRPr sz="1125" b="0">
                <a:solidFill>
                  <a:srgbClr val="677C8D"/>
                </a:solidFill>
                <a:latin typeface="Arial"/>
                <a:ea typeface="Arial"/>
                <a:cs typeface="Arial"/>
              </a:defRPr>
            </a:lvl2pPr>
            <a:lvl3pPr algn="r">
              <a:defRPr sz="1125" b="0">
                <a:solidFill>
                  <a:srgbClr val="677C8D"/>
                </a:solidFill>
                <a:latin typeface="Arial"/>
                <a:ea typeface="Arial"/>
                <a:cs typeface="Arial"/>
              </a:defRPr>
            </a:lvl3pPr>
            <a:lvl4pPr algn="r">
              <a:defRPr sz="1125" b="0">
                <a:solidFill>
                  <a:srgbClr val="677C8D"/>
                </a:solidFill>
                <a:latin typeface="Arial"/>
                <a:ea typeface="Arial"/>
                <a:cs typeface="Arial"/>
              </a:defRPr>
            </a:lvl4pPr>
            <a:lvl5pPr algn="r">
              <a:defRPr sz="1125" b="0">
                <a:solidFill>
                  <a:srgbClr val="677C8D"/>
                </a:solidFill>
                <a:latin typeface="Arial"/>
                <a:ea typeface="Arial"/>
                <a:cs typeface="Arial"/>
              </a:defRPr>
            </a:lvl5pPr>
            <a:lvl6pPr algn="r">
              <a:defRPr sz="1125" b="0">
                <a:solidFill>
                  <a:srgbClr val="677C8D"/>
                </a:solidFill>
                <a:latin typeface="Arial"/>
                <a:ea typeface="Arial"/>
                <a:cs typeface="Arial"/>
              </a:defRPr>
            </a:lvl6pPr>
            <a:lvl7pPr algn="r">
              <a:defRPr sz="1125" b="0">
                <a:solidFill>
                  <a:srgbClr val="677C8D"/>
                </a:solidFill>
                <a:latin typeface="Arial"/>
                <a:ea typeface="Arial"/>
                <a:cs typeface="Arial"/>
              </a:defRPr>
            </a:lvl7pPr>
            <a:lvl8pPr algn="r">
              <a:defRPr sz="1125" b="0">
                <a:solidFill>
                  <a:srgbClr val="677C8D"/>
                </a:solidFill>
                <a:latin typeface="Arial"/>
                <a:ea typeface="Arial"/>
                <a:cs typeface="Arial"/>
              </a:defRPr>
            </a:lvl8pPr>
            <a:lvl9pPr algn="r">
              <a:defRPr sz="1125" b="0">
                <a:solidFill>
                  <a:srgbClr val="677C8D"/>
                </a:solidFill>
                <a:latin typeface="Arial"/>
                <a:ea typeface="Arial"/>
                <a:cs typeface="Arial"/>
              </a:defRPr>
            </a:lvl9pPr>
          </a:lstStyle>
          <a:p xmlns:a="http://schemas.openxmlformats.org/drawingml/2006/main">
            <a:pPr algn="r">
              <a:defRPr sz="1125" b="0">
                <a:solidFill>
                  <a:srgbClr val="677C8D"/>
                </a:solidFill>
                <a:latin typeface="Arial"/>
                <a:ea typeface="Arial"/>
                <a:cs typeface="Arial"/>
              </a:defRPr>
            </a:pPr>
            <a:r>
              <a:rPr sz="1125" b="0">
                <a:solidFill>
                  <a:srgbClr val="677C8D"/>
                </a:solidFill>
                <a:latin typeface="Arial"/>
                <a:ea typeface="Arial"/>
                <a:cs typeface="Arial"/>
              </a:rPr>
              <a:t>6 / 8</a:t>
            </a:r>
          </a:p>
        </p:txBody>
      </p:sp>
      <p:sp>
        <p:nvSpPr>
          <p:cNvPr id="5" name="group-head-a">
            <a:extLst xmlns:a="http://schemas.openxmlformats.org/drawingml/2006/main">
              <a:ext uri="{FF2B5EF4-FFF2-40B4-BE49-F238E27FC236}">
                <a16:creationId xmlns:a16="http://schemas.microsoft.com/office/drawing/2014/main" id="{4D49D153-42F1-4400-A449-7C7E72E0239B}"/>
              </a:ext>
            </a:extLst>
          </p:cNvPr>
          <p:cNvSpPr>
            <a:spLocks xmlns:a="http://schemas.openxmlformats.org/drawingml/2006/main" noGrp="1"/>
          </p:cNvSpPr>
          <p:nvPr/>
        </p:nvSpPr>
        <p:spPr>
          <a:xfrm xmlns:a="http://schemas.openxmlformats.org/drawingml/2006/main">
            <a:off x="723900" y="17335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Segment</a:t>
            </a:r>
          </a:p>
        </p:txBody>
      </p:sp>
      <p:sp>
        <p:nvSpPr>
          <p:cNvPr id="6" name="group-head-b">
            <a:extLst xmlns:a="http://schemas.openxmlformats.org/drawingml/2006/main">
              <a:ext uri="{FF2B5EF4-FFF2-40B4-BE49-F238E27FC236}">
                <a16:creationId xmlns:a16="http://schemas.microsoft.com/office/drawing/2014/main" id="{00162363-C7A7-4B2D-B12F-0DE9B5D3B780}"/>
              </a:ext>
            </a:extLst>
          </p:cNvPr>
          <p:cNvSpPr>
            <a:spLocks xmlns:a="http://schemas.openxmlformats.org/drawingml/2006/main" noGrp="1"/>
          </p:cNvSpPr>
          <p:nvPr/>
        </p:nvSpPr>
        <p:spPr>
          <a:xfrm xmlns:a="http://schemas.openxmlformats.org/drawingml/2006/main">
            <a:off x="4810125" y="17335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Customers</a:t>
            </a:r>
          </a:p>
        </p:txBody>
      </p:sp>
      <p:sp>
        <p:nvSpPr>
          <p:cNvPr id="7" name="group-head-c">
            <a:extLst xmlns:a="http://schemas.openxmlformats.org/drawingml/2006/main">
              <a:ext uri="{FF2B5EF4-FFF2-40B4-BE49-F238E27FC236}">
                <a16:creationId xmlns:a16="http://schemas.microsoft.com/office/drawing/2014/main" id="{BA059B07-FB58-47FC-9F65-A537EDAE5BE3}"/>
              </a:ext>
            </a:extLst>
          </p:cNvPr>
          <p:cNvSpPr>
            <a:spLocks xmlns:a="http://schemas.openxmlformats.org/drawingml/2006/main" noGrp="1"/>
          </p:cNvSpPr>
          <p:nvPr/>
        </p:nvSpPr>
        <p:spPr>
          <a:xfrm xmlns:a="http://schemas.openxmlformats.org/drawingml/2006/main">
            <a:off x="6905625" y="17335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Repeaters</a:t>
            </a:r>
          </a:p>
        </p:txBody>
      </p:sp>
      <p:sp>
        <p:nvSpPr>
          <p:cNvPr id="8" name="group-head-d">
            <a:extLst xmlns:a="http://schemas.openxmlformats.org/drawingml/2006/main">
              <a:ext uri="{FF2B5EF4-FFF2-40B4-BE49-F238E27FC236}">
                <a16:creationId xmlns:a16="http://schemas.microsoft.com/office/drawing/2014/main" id="{9F043004-144C-48A0-8446-A5C3A384131C}"/>
              </a:ext>
            </a:extLst>
          </p:cNvPr>
          <p:cNvSpPr>
            <a:spLocks xmlns:a="http://schemas.openxmlformats.org/drawingml/2006/main" noGrp="1"/>
          </p:cNvSpPr>
          <p:nvPr/>
        </p:nvSpPr>
        <p:spPr>
          <a:xfrm xmlns:a="http://schemas.openxmlformats.org/drawingml/2006/main">
            <a:off x="9048750" y="1733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90-day rate</a:t>
            </a:r>
          </a:p>
        </p:txBody>
      </p:sp>
      <p:sp>
        <p:nvSpPr>
          <p:cNvPr id="9" name="group-0-a">
            <a:extLst xmlns:a="http://schemas.openxmlformats.org/drawingml/2006/main">
              <a:ext uri="{FF2B5EF4-FFF2-40B4-BE49-F238E27FC236}">
                <a16:creationId xmlns:a16="http://schemas.microsoft.com/office/drawing/2014/main" id="{51B64843-E5C8-4BF5-A2CF-3DBC67DB3D05}"/>
              </a:ext>
            </a:extLst>
          </p:cNvPr>
          <p:cNvSpPr>
            <a:spLocks xmlns:a="http://schemas.openxmlformats.org/drawingml/2006/main" noGrp="1"/>
          </p:cNvSpPr>
          <p:nvPr/>
        </p:nvSpPr>
        <p:spPr>
          <a:xfrm xmlns:a="http://schemas.openxmlformats.org/drawingml/2006/main">
            <a:off x="723900" y="2333625"/>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Group 0</a:t>
            </a:r>
          </a:p>
        </p:txBody>
      </p:sp>
      <p:sp>
        <p:nvSpPr>
          <p:cNvPr id="10" name="group-0-b">
            <a:extLst xmlns:a="http://schemas.openxmlformats.org/drawingml/2006/main">
              <a:ext uri="{FF2B5EF4-FFF2-40B4-BE49-F238E27FC236}">
                <a16:creationId xmlns:a16="http://schemas.microsoft.com/office/drawing/2014/main" id="{E766E041-7FE5-4BBF-A75D-34398755779E}"/>
              </a:ext>
            </a:extLst>
          </p:cNvPr>
          <p:cNvSpPr>
            <a:spLocks xmlns:a="http://schemas.openxmlformats.org/drawingml/2006/main" noGrp="1"/>
          </p:cNvSpPr>
          <p:nvPr/>
        </p:nvSpPr>
        <p:spPr>
          <a:xfrm xmlns:a="http://schemas.openxmlformats.org/drawingml/2006/main">
            <a:off x="4810125" y="2333625"/>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11,680</a:t>
            </a:r>
          </a:p>
        </p:txBody>
      </p:sp>
      <p:sp>
        <p:nvSpPr>
          <p:cNvPr id="11" name="group-0-c">
            <a:extLst xmlns:a="http://schemas.openxmlformats.org/drawingml/2006/main">
              <a:ext uri="{FF2B5EF4-FFF2-40B4-BE49-F238E27FC236}">
                <a16:creationId xmlns:a16="http://schemas.microsoft.com/office/drawing/2014/main" id="{A1A4C99B-70DD-40E1-8344-F8E14867C8D4}"/>
              </a:ext>
            </a:extLst>
          </p:cNvPr>
          <p:cNvSpPr>
            <a:spLocks xmlns:a="http://schemas.openxmlformats.org/drawingml/2006/main" noGrp="1"/>
          </p:cNvSpPr>
          <p:nvPr/>
        </p:nvSpPr>
        <p:spPr>
          <a:xfrm xmlns:a="http://schemas.openxmlformats.org/drawingml/2006/main">
            <a:off x="6905625" y="2333625"/>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73</a:t>
            </a:r>
          </a:p>
        </p:txBody>
      </p:sp>
      <p:sp>
        <p:nvSpPr>
          <p:cNvPr id="12" name="group-0-d">
            <a:extLst xmlns:a="http://schemas.openxmlformats.org/drawingml/2006/main">
              <a:ext uri="{FF2B5EF4-FFF2-40B4-BE49-F238E27FC236}">
                <a16:creationId xmlns:a16="http://schemas.microsoft.com/office/drawing/2014/main" id="{484E9CC4-F970-4D02-AF20-859765D80DEF}"/>
              </a:ext>
            </a:extLst>
          </p:cNvPr>
          <p:cNvSpPr>
            <a:spLocks xmlns:a="http://schemas.openxmlformats.org/drawingml/2006/main" noGrp="1"/>
          </p:cNvSpPr>
          <p:nvPr/>
        </p:nvSpPr>
        <p:spPr>
          <a:xfrm xmlns:a="http://schemas.openxmlformats.org/drawingml/2006/main">
            <a:off x="9048750" y="233362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0.63%</a:t>
            </a:r>
          </a:p>
        </p:txBody>
      </p:sp>
      <p:sp>
        <p:nvSpPr>
          <p:cNvPr id="13" name="group-1-a">
            <a:extLst xmlns:a="http://schemas.openxmlformats.org/drawingml/2006/main">
              <a:ext uri="{FF2B5EF4-FFF2-40B4-BE49-F238E27FC236}">
                <a16:creationId xmlns:a16="http://schemas.microsoft.com/office/drawing/2014/main" id="{BB261064-9B18-403E-92E6-C26B745C1972}"/>
              </a:ext>
            </a:extLst>
          </p:cNvPr>
          <p:cNvSpPr>
            <a:spLocks xmlns:a="http://schemas.openxmlformats.org/drawingml/2006/main" noGrp="1"/>
          </p:cNvSpPr>
          <p:nvPr/>
        </p:nvSpPr>
        <p:spPr>
          <a:xfrm xmlns:a="http://schemas.openxmlformats.org/drawingml/2006/main">
            <a:off x="723900" y="28956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Group 1</a:t>
            </a:r>
          </a:p>
        </p:txBody>
      </p:sp>
      <p:sp>
        <p:nvSpPr>
          <p:cNvPr id="14" name="group-1-b">
            <a:extLst xmlns:a="http://schemas.openxmlformats.org/drawingml/2006/main">
              <a:ext uri="{FF2B5EF4-FFF2-40B4-BE49-F238E27FC236}">
                <a16:creationId xmlns:a16="http://schemas.microsoft.com/office/drawing/2014/main" id="{85051381-DD34-4FA6-96BE-AC23F1173631}"/>
              </a:ext>
            </a:extLst>
          </p:cNvPr>
          <p:cNvSpPr>
            <a:spLocks xmlns:a="http://schemas.openxmlformats.org/drawingml/2006/main" noGrp="1"/>
          </p:cNvSpPr>
          <p:nvPr/>
        </p:nvSpPr>
        <p:spPr>
          <a:xfrm xmlns:a="http://schemas.openxmlformats.org/drawingml/2006/main">
            <a:off x="4810125" y="28956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11,575</a:t>
            </a:r>
          </a:p>
        </p:txBody>
      </p:sp>
      <p:sp>
        <p:nvSpPr>
          <p:cNvPr id="15" name="group-1-c">
            <a:extLst xmlns:a="http://schemas.openxmlformats.org/drawingml/2006/main">
              <a:ext uri="{FF2B5EF4-FFF2-40B4-BE49-F238E27FC236}">
                <a16:creationId xmlns:a16="http://schemas.microsoft.com/office/drawing/2014/main" id="{34202796-672C-49A9-ABF6-95E9DEF276CD}"/>
              </a:ext>
            </a:extLst>
          </p:cNvPr>
          <p:cNvSpPr>
            <a:spLocks xmlns:a="http://schemas.openxmlformats.org/drawingml/2006/main" noGrp="1"/>
          </p:cNvSpPr>
          <p:nvPr/>
        </p:nvSpPr>
        <p:spPr>
          <a:xfrm xmlns:a="http://schemas.openxmlformats.org/drawingml/2006/main">
            <a:off x="6905625" y="28956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81</a:t>
            </a:r>
          </a:p>
        </p:txBody>
      </p:sp>
      <p:sp>
        <p:nvSpPr>
          <p:cNvPr id="16" name="group-1-d">
            <a:extLst xmlns:a="http://schemas.openxmlformats.org/drawingml/2006/main">
              <a:ext uri="{FF2B5EF4-FFF2-40B4-BE49-F238E27FC236}">
                <a16:creationId xmlns:a16="http://schemas.microsoft.com/office/drawing/2014/main" id="{1FD94C5F-F6C1-4A1A-938C-BAF64FB8C869}"/>
              </a:ext>
            </a:extLst>
          </p:cNvPr>
          <p:cNvSpPr>
            <a:spLocks xmlns:a="http://schemas.openxmlformats.org/drawingml/2006/main" noGrp="1"/>
          </p:cNvSpPr>
          <p:nvPr/>
        </p:nvSpPr>
        <p:spPr>
          <a:xfrm xmlns:a="http://schemas.openxmlformats.org/drawingml/2006/main">
            <a:off x="9048750" y="28956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0.70%</a:t>
            </a:r>
          </a:p>
        </p:txBody>
      </p:sp>
      <p:sp>
        <p:nvSpPr>
          <p:cNvPr id="17" name="group-2-a">
            <a:extLst xmlns:a="http://schemas.openxmlformats.org/drawingml/2006/main">
              <a:ext uri="{FF2B5EF4-FFF2-40B4-BE49-F238E27FC236}">
                <a16:creationId xmlns:a16="http://schemas.microsoft.com/office/drawing/2014/main" id="{43851918-F4D6-4D0C-8CF3-D4743658662C}"/>
              </a:ext>
            </a:extLst>
          </p:cNvPr>
          <p:cNvSpPr>
            <a:spLocks xmlns:a="http://schemas.openxmlformats.org/drawingml/2006/main" noGrp="1"/>
          </p:cNvSpPr>
          <p:nvPr/>
        </p:nvSpPr>
        <p:spPr>
          <a:xfrm xmlns:a="http://schemas.openxmlformats.org/drawingml/2006/main">
            <a:off x="723900" y="3457575"/>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Group 2</a:t>
            </a:r>
          </a:p>
        </p:txBody>
      </p:sp>
      <p:sp>
        <p:nvSpPr>
          <p:cNvPr id="18" name="group-2-b">
            <a:extLst xmlns:a="http://schemas.openxmlformats.org/drawingml/2006/main">
              <a:ext uri="{FF2B5EF4-FFF2-40B4-BE49-F238E27FC236}">
                <a16:creationId xmlns:a16="http://schemas.microsoft.com/office/drawing/2014/main" id="{3C66A561-6DD3-4F7A-959E-7BEBF10CE532}"/>
              </a:ext>
            </a:extLst>
          </p:cNvPr>
          <p:cNvSpPr>
            <a:spLocks xmlns:a="http://schemas.openxmlformats.org/drawingml/2006/main" noGrp="1"/>
          </p:cNvSpPr>
          <p:nvPr/>
        </p:nvSpPr>
        <p:spPr>
          <a:xfrm xmlns:a="http://schemas.openxmlformats.org/drawingml/2006/main">
            <a:off x="4810125" y="3457575"/>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5,410</a:t>
            </a:r>
          </a:p>
        </p:txBody>
      </p:sp>
      <p:sp>
        <p:nvSpPr>
          <p:cNvPr id="19" name="group-2-c">
            <a:extLst xmlns:a="http://schemas.openxmlformats.org/drawingml/2006/main">
              <a:ext uri="{FF2B5EF4-FFF2-40B4-BE49-F238E27FC236}">
                <a16:creationId xmlns:a16="http://schemas.microsoft.com/office/drawing/2014/main" id="{E024D537-F523-43C5-8E6F-C7435A7E0EBD}"/>
              </a:ext>
            </a:extLst>
          </p:cNvPr>
          <p:cNvSpPr>
            <a:spLocks xmlns:a="http://schemas.openxmlformats.org/drawingml/2006/main" noGrp="1"/>
          </p:cNvSpPr>
          <p:nvPr/>
        </p:nvSpPr>
        <p:spPr>
          <a:xfrm xmlns:a="http://schemas.openxmlformats.org/drawingml/2006/main">
            <a:off x="6905625" y="3457575"/>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48</a:t>
            </a:r>
          </a:p>
        </p:txBody>
      </p:sp>
      <p:sp>
        <p:nvSpPr>
          <p:cNvPr id="20" name="group-2-d">
            <a:extLst xmlns:a="http://schemas.openxmlformats.org/drawingml/2006/main">
              <a:ext uri="{FF2B5EF4-FFF2-40B4-BE49-F238E27FC236}">
                <a16:creationId xmlns:a16="http://schemas.microsoft.com/office/drawing/2014/main" id="{DF8AE046-D55E-438F-B16F-132AFDF90488}"/>
              </a:ext>
            </a:extLst>
          </p:cNvPr>
          <p:cNvSpPr>
            <a:spLocks xmlns:a="http://schemas.openxmlformats.org/drawingml/2006/main" noGrp="1"/>
          </p:cNvSpPr>
          <p:nvPr/>
        </p:nvSpPr>
        <p:spPr>
          <a:xfrm xmlns:a="http://schemas.openxmlformats.org/drawingml/2006/main">
            <a:off x="9048750" y="345757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638"/>
                </a:solidFill>
                <a:latin typeface="Arial"/>
                <a:ea typeface="Arial"/>
                <a:cs typeface="Arial"/>
              </a:defRPr>
            </a:defPPr>
            <a:lvl1pPr algn="l">
              <a:defRPr sz="1725" b="0">
                <a:solidFill>
                  <a:srgbClr val="172638"/>
                </a:solidFill>
                <a:latin typeface="Arial"/>
                <a:ea typeface="Arial"/>
                <a:cs typeface="Arial"/>
              </a:defRPr>
            </a:lvl1pPr>
            <a:lvl2pPr algn="l">
              <a:defRPr sz="1725" b="0">
                <a:solidFill>
                  <a:srgbClr val="172638"/>
                </a:solidFill>
                <a:latin typeface="Arial"/>
                <a:ea typeface="Arial"/>
                <a:cs typeface="Arial"/>
              </a:defRPr>
            </a:lvl2pPr>
            <a:lvl3pPr algn="l">
              <a:defRPr sz="1725" b="0">
                <a:solidFill>
                  <a:srgbClr val="172638"/>
                </a:solidFill>
                <a:latin typeface="Arial"/>
                <a:ea typeface="Arial"/>
                <a:cs typeface="Arial"/>
              </a:defRPr>
            </a:lvl3pPr>
            <a:lvl4pPr algn="l">
              <a:defRPr sz="1725" b="0">
                <a:solidFill>
                  <a:srgbClr val="172638"/>
                </a:solidFill>
                <a:latin typeface="Arial"/>
                <a:ea typeface="Arial"/>
                <a:cs typeface="Arial"/>
              </a:defRPr>
            </a:lvl4pPr>
            <a:lvl5pPr algn="l">
              <a:defRPr sz="1725" b="0">
                <a:solidFill>
                  <a:srgbClr val="172638"/>
                </a:solidFill>
                <a:latin typeface="Arial"/>
                <a:ea typeface="Arial"/>
                <a:cs typeface="Arial"/>
              </a:defRPr>
            </a:lvl5pPr>
            <a:lvl6pPr algn="l">
              <a:defRPr sz="1725" b="0">
                <a:solidFill>
                  <a:srgbClr val="172638"/>
                </a:solidFill>
                <a:latin typeface="Arial"/>
                <a:ea typeface="Arial"/>
                <a:cs typeface="Arial"/>
              </a:defRPr>
            </a:lvl6pPr>
            <a:lvl7pPr algn="l">
              <a:defRPr sz="1725" b="0">
                <a:solidFill>
                  <a:srgbClr val="172638"/>
                </a:solidFill>
                <a:latin typeface="Arial"/>
                <a:ea typeface="Arial"/>
                <a:cs typeface="Arial"/>
              </a:defRPr>
            </a:lvl7pPr>
            <a:lvl8pPr algn="l">
              <a:defRPr sz="1725" b="0">
                <a:solidFill>
                  <a:srgbClr val="172638"/>
                </a:solidFill>
                <a:latin typeface="Arial"/>
                <a:ea typeface="Arial"/>
                <a:cs typeface="Arial"/>
              </a:defRPr>
            </a:lvl8pPr>
            <a:lvl9pPr algn="l">
              <a:defRPr sz="1725" b="0">
                <a:solidFill>
                  <a:srgbClr val="172638"/>
                </a:solidFill>
                <a:latin typeface="Arial"/>
                <a:ea typeface="Arial"/>
                <a:cs typeface="Arial"/>
              </a:defRPr>
            </a:lvl9pPr>
          </a:lstStyle>
          <a:p xmlns:a="http://schemas.openxmlformats.org/drawingml/2006/main">
            <a:pPr algn="l">
              <a:defRPr sz="1725" b="0">
                <a:solidFill>
                  <a:srgbClr val="172638"/>
                </a:solidFill>
                <a:latin typeface="Arial"/>
                <a:ea typeface="Arial"/>
                <a:cs typeface="Arial"/>
              </a:defRPr>
            </a:pPr>
            <a:r>
              <a:rPr sz="1725" b="0">
                <a:solidFill>
                  <a:srgbClr val="172638"/>
                </a:solidFill>
                <a:latin typeface="Arial"/>
                <a:ea typeface="Arial"/>
                <a:cs typeface="Arial"/>
              </a:rPr>
              <a:t>0.89%</a:t>
            </a:r>
          </a:p>
        </p:txBody>
      </p:sp>
      <p:sp>
        <p:nvSpPr>
          <p:cNvPr id="21" name="group-3-a">
            <a:extLst xmlns:a="http://schemas.openxmlformats.org/drawingml/2006/main">
              <a:ext uri="{FF2B5EF4-FFF2-40B4-BE49-F238E27FC236}">
                <a16:creationId xmlns:a16="http://schemas.microsoft.com/office/drawing/2014/main" id="{565DC1D3-49B6-411A-9868-C0B55065A400}"/>
              </a:ext>
            </a:extLst>
          </p:cNvPr>
          <p:cNvSpPr>
            <a:spLocks xmlns:a="http://schemas.openxmlformats.org/drawingml/2006/main" noGrp="1"/>
          </p:cNvSpPr>
          <p:nvPr/>
        </p:nvSpPr>
        <p:spPr>
          <a:xfrm xmlns:a="http://schemas.openxmlformats.org/drawingml/2006/main">
            <a:off x="723900" y="40195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Group 3</a:t>
            </a:r>
          </a:p>
        </p:txBody>
      </p:sp>
      <p:sp>
        <p:nvSpPr>
          <p:cNvPr id="22" name="group-3-b">
            <a:extLst xmlns:a="http://schemas.openxmlformats.org/drawingml/2006/main">
              <a:ext uri="{FF2B5EF4-FFF2-40B4-BE49-F238E27FC236}">
                <a16:creationId xmlns:a16="http://schemas.microsoft.com/office/drawing/2014/main" id="{01788FD0-760F-43D5-99CF-538F21DD09FA}"/>
              </a:ext>
            </a:extLst>
          </p:cNvPr>
          <p:cNvSpPr>
            <a:spLocks xmlns:a="http://schemas.openxmlformats.org/drawingml/2006/main" noGrp="1"/>
          </p:cNvSpPr>
          <p:nvPr/>
        </p:nvSpPr>
        <p:spPr>
          <a:xfrm xmlns:a="http://schemas.openxmlformats.org/drawingml/2006/main">
            <a:off x="4810125" y="40195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703</a:t>
            </a:r>
          </a:p>
        </p:txBody>
      </p:sp>
      <p:sp>
        <p:nvSpPr>
          <p:cNvPr id="23" name="group-3-c">
            <a:extLst xmlns:a="http://schemas.openxmlformats.org/drawingml/2006/main">
              <a:ext uri="{FF2B5EF4-FFF2-40B4-BE49-F238E27FC236}">
                <a16:creationId xmlns:a16="http://schemas.microsoft.com/office/drawing/2014/main" id="{EF7BED2D-0F0C-4C3C-9C0A-2A510943D3E2}"/>
              </a:ext>
            </a:extLst>
          </p:cNvPr>
          <p:cNvSpPr>
            <a:spLocks xmlns:a="http://schemas.openxmlformats.org/drawingml/2006/main" noGrp="1"/>
          </p:cNvSpPr>
          <p:nvPr/>
        </p:nvSpPr>
        <p:spPr>
          <a:xfrm xmlns:a="http://schemas.openxmlformats.org/drawingml/2006/main">
            <a:off x="6905625" y="401955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28</a:t>
            </a:r>
          </a:p>
        </p:txBody>
      </p:sp>
      <p:sp>
        <p:nvSpPr>
          <p:cNvPr id="24" name="group-3-d">
            <a:extLst xmlns:a="http://schemas.openxmlformats.org/drawingml/2006/main">
              <a:ext uri="{FF2B5EF4-FFF2-40B4-BE49-F238E27FC236}">
                <a16:creationId xmlns:a16="http://schemas.microsoft.com/office/drawing/2014/main" id="{62F3BA4E-F0AD-4C41-8D66-A7D45BF04EA0}"/>
              </a:ext>
            </a:extLst>
          </p:cNvPr>
          <p:cNvSpPr>
            <a:spLocks xmlns:a="http://schemas.openxmlformats.org/drawingml/2006/main" noGrp="1"/>
          </p:cNvSpPr>
          <p:nvPr/>
        </p:nvSpPr>
        <p:spPr>
          <a:xfrm xmlns:a="http://schemas.openxmlformats.org/drawingml/2006/main">
            <a:off x="90487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46895"/>
                </a:solidFill>
                <a:latin typeface="Arial"/>
                <a:ea typeface="Arial"/>
                <a:cs typeface="Arial"/>
              </a:defRPr>
            </a:defPPr>
            <a:lvl1pPr algn="l">
              <a:defRPr sz="1725" b="1">
                <a:solidFill>
                  <a:srgbClr val="246895"/>
                </a:solidFill>
                <a:latin typeface="Arial"/>
                <a:ea typeface="Arial"/>
                <a:cs typeface="Arial"/>
              </a:defRPr>
            </a:lvl1pPr>
            <a:lvl2pPr algn="l">
              <a:defRPr sz="1725" b="1">
                <a:solidFill>
                  <a:srgbClr val="246895"/>
                </a:solidFill>
                <a:latin typeface="Arial"/>
                <a:ea typeface="Arial"/>
                <a:cs typeface="Arial"/>
              </a:defRPr>
            </a:lvl2pPr>
            <a:lvl3pPr algn="l">
              <a:defRPr sz="1725" b="1">
                <a:solidFill>
                  <a:srgbClr val="246895"/>
                </a:solidFill>
                <a:latin typeface="Arial"/>
                <a:ea typeface="Arial"/>
                <a:cs typeface="Arial"/>
              </a:defRPr>
            </a:lvl3pPr>
            <a:lvl4pPr algn="l">
              <a:defRPr sz="1725" b="1">
                <a:solidFill>
                  <a:srgbClr val="246895"/>
                </a:solidFill>
                <a:latin typeface="Arial"/>
                <a:ea typeface="Arial"/>
                <a:cs typeface="Arial"/>
              </a:defRPr>
            </a:lvl4pPr>
            <a:lvl5pPr algn="l">
              <a:defRPr sz="1725" b="1">
                <a:solidFill>
                  <a:srgbClr val="246895"/>
                </a:solidFill>
                <a:latin typeface="Arial"/>
                <a:ea typeface="Arial"/>
                <a:cs typeface="Arial"/>
              </a:defRPr>
            </a:lvl5pPr>
            <a:lvl6pPr algn="l">
              <a:defRPr sz="1725" b="1">
                <a:solidFill>
                  <a:srgbClr val="246895"/>
                </a:solidFill>
                <a:latin typeface="Arial"/>
                <a:ea typeface="Arial"/>
                <a:cs typeface="Arial"/>
              </a:defRPr>
            </a:lvl6pPr>
            <a:lvl7pPr algn="l">
              <a:defRPr sz="1725" b="1">
                <a:solidFill>
                  <a:srgbClr val="246895"/>
                </a:solidFill>
                <a:latin typeface="Arial"/>
                <a:ea typeface="Arial"/>
                <a:cs typeface="Arial"/>
              </a:defRPr>
            </a:lvl7pPr>
            <a:lvl8pPr algn="l">
              <a:defRPr sz="1725" b="1">
                <a:solidFill>
                  <a:srgbClr val="246895"/>
                </a:solidFill>
                <a:latin typeface="Arial"/>
                <a:ea typeface="Arial"/>
                <a:cs typeface="Arial"/>
              </a:defRPr>
            </a:lvl8pPr>
            <a:lvl9pPr algn="l">
              <a:defRPr sz="1725" b="1">
                <a:solidFill>
                  <a:srgbClr val="246895"/>
                </a:solidFill>
                <a:latin typeface="Arial"/>
                <a:ea typeface="Arial"/>
                <a:cs typeface="Arial"/>
              </a:defRPr>
            </a:lvl9pPr>
          </a:lstStyle>
          <a:p xmlns:a="http://schemas.openxmlformats.org/drawingml/2006/main">
            <a:pPr algn="l">
              <a:defRPr sz="1725" b="1">
                <a:solidFill>
                  <a:srgbClr val="246895"/>
                </a:solidFill>
                <a:latin typeface="Arial"/>
                <a:ea typeface="Arial"/>
                <a:cs typeface="Arial"/>
              </a:defRPr>
            </a:pPr>
            <a:r>
              <a:rPr sz="1725" b="1">
                <a:solidFill>
                  <a:srgbClr val="246895"/>
                </a:solidFill>
                <a:latin typeface="Arial"/>
                <a:ea typeface="Arial"/>
                <a:cs typeface="Arial"/>
              </a:rPr>
              <a:t>3.98%</a:t>
            </a:r>
          </a:p>
        </p:txBody>
      </p:sp>
      <p:sp>
        <p:nvSpPr>
          <p:cNvPr id="25" name="group-context">
            <a:extLst xmlns:a="http://schemas.openxmlformats.org/drawingml/2006/main">
              <a:ext uri="{FF2B5EF4-FFF2-40B4-BE49-F238E27FC236}">
                <a16:creationId xmlns:a16="http://schemas.microsoft.com/office/drawing/2014/main" id="{7D4CEA19-F20D-46B1-8A2D-C819ACF08EC5}"/>
              </a:ext>
            </a:extLst>
          </p:cNvPr>
          <p:cNvSpPr>
            <a:spLocks xmlns:a="http://schemas.openxmlformats.org/drawingml/2006/main" noGrp="1"/>
          </p:cNvSpPr>
          <p:nvPr/>
        </p:nvSpPr>
        <p:spPr>
          <a:xfrm xmlns:a="http://schemas.openxmlformats.org/drawingml/2006/main">
            <a:off x="723900" y="4781550"/>
            <a:ext cx="1038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72638"/>
                </a:solidFill>
                <a:latin typeface="Arial"/>
                <a:ea typeface="Arial"/>
                <a:cs typeface="Arial"/>
              </a:defRPr>
            </a:defPPr>
            <a:lvl1pPr algn="l">
              <a:defRPr sz="1875" b="1">
                <a:solidFill>
                  <a:srgbClr val="172638"/>
                </a:solidFill>
                <a:latin typeface="Arial"/>
                <a:ea typeface="Arial"/>
                <a:cs typeface="Arial"/>
              </a:defRPr>
            </a:lvl1pPr>
            <a:lvl2pPr algn="l">
              <a:defRPr sz="1875" b="1">
                <a:solidFill>
                  <a:srgbClr val="172638"/>
                </a:solidFill>
                <a:latin typeface="Arial"/>
                <a:ea typeface="Arial"/>
                <a:cs typeface="Arial"/>
              </a:defRPr>
            </a:lvl2pPr>
            <a:lvl3pPr algn="l">
              <a:defRPr sz="1875" b="1">
                <a:solidFill>
                  <a:srgbClr val="172638"/>
                </a:solidFill>
                <a:latin typeface="Arial"/>
                <a:ea typeface="Arial"/>
                <a:cs typeface="Arial"/>
              </a:defRPr>
            </a:lvl3pPr>
            <a:lvl4pPr algn="l">
              <a:defRPr sz="1875" b="1">
                <a:solidFill>
                  <a:srgbClr val="172638"/>
                </a:solidFill>
                <a:latin typeface="Arial"/>
                <a:ea typeface="Arial"/>
                <a:cs typeface="Arial"/>
              </a:defRPr>
            </a:lvl4pPr>
            <a:lvl5pPr algn="l">
              <a:defRPr sz="1875" b="1">
                <a:solidFill>
                  <a:srgbClr val="172638"/>
                </a:solidFill>
                <a:latin typeface="Arial"/>
                <a:ea typeface="Arial"/>
                <a:cs typeface="Arial"/>
              </a:defRPr>
            </a:lvl5pPr>
            <a:lvl6pPr algn="l">
              <a:defRPr sz="1875" b="1">
                <a:solidFill>
                  <a:srgbClr val="172638"/>
                </a:solidFill>
                <a:latin typeface="Arial"/>
                <a:ea typeface="Arial"/>
                <a:cs typeface="Arial"/>
              </a:defRPr>
            </a:lvl6pPr>
            <a:lvl7pPr algn="l">
              <a:defRPr sz="1875" b="1">
                <a:solidFill>
                  <a:srgbClr val="172638"/>
                </a:solidFill>
                <a:latin typeface="Arial"/>
                <a:ea typeface="Arial"/>
                <a:cs typeface="Arial"/>
              </a:defRPr>
            </a:lvl7pPr>
            <a:lvl8pPr algn="l">
              <a:defRPr sz="1875" b="1">
                <a:solidFill>
                  <a:srgbClr val="172638"/>
                </a:solidFill>
                <a:latin typeface="Arial"/>
                <a:ea typeface="Arial"/>
                <a:cs typeface="Arial"/>
              </a:defRPr>
            </a:lvl8pPr>
            <a:lvl9pPr algn="l">
              <a:defRPr sz="1875" b="1">
                <a:solidFill>
                  <a:srgbClr val="172638"/>
                </a:solidFill>
                <a:latin typeface="Arial"/>
                <a:ea typeface="Arial"/>
                <a:cs typeface="Arial"/>
              </a:defRPr>
            </a:lvl9pPr>
          </a:lstStyle>
          <a:p xmlns:a="http://schemas.openxmlformats.org/drawingml/2006/main">
            <a:pPr algn="l">
              <a:defRPr sz="1875" b="1">
                <a:solidFill>
                  <a:srgbClr val="172638"/>
                </a:solidFill>
                <a:latin typeface="Arial"/>
                <a:ea typeface="Arial"/>
                <a:cs typeface="Arial"/>
              </a:defRPr>
            </a:pPr>
            <a:r>
              <a:rPr sz="1875" b="1">
                <a:solidFill>
                  <a:srgbClr val="172638"/>
                </a:solidFill>
                <a:latin typeface="Arial"/>
                <a:ea typeface="Arial"/>
                <a:cs typeface="Arial"/>
              </a:rPr>
              <a:t>Group 3 had a median of two prior orders; the other groups had one.</a:t>
            </a:r>
          </a:p>
        </p:txBody>
      </p:sp>
      <p:sp>
        <p:nvSpPr>
          <p:cNvPr id="26" name="group-caveat">
            <a:extLst xmlns:a="http://schemas.openxmlformats.org/drawingml/2006/main">
              <a:ext uri="{FF2B5EF4-FFF2-40B4-BE49-F238E27FC236}">
                <a16:creationId xmlns:a16="http://schemas.microsoft.com/office/drawing/2014/main" id="{BC508949-6547-4442-9CE7-5CED4199ADCA}"/>
              </a:ext>
            </a:extLst>
          </p:cNvPr>
          <p:cNvSpPr>
            <a:spLocks xmlns:a="http://schemas.openxmlformats.org/drawingml/2006/main" noGrp="1"/>
          </p:cNvSpPr>
          <p:nvPr/>
        </p:nvSpPr>
        <p:spPr>
          <a:xfrm xmlns:a="http://schemas.openxmlformats.org/drawingml/2006/main">
            <a:off x="723900" y="5362575"/>
            <a:ext cx="10382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94842"/>
                </a:solidFill>
                <a:latin typeface="Arial"/>
                <a:ea typeface="Arial"/>
                <a:cs typeface="Arial"/>
              </a:defRPr>
            </a:defPPr>
            <a:lvl1pPr algn="l">
              <a:defRPr sz="1725" b="0">
                <a:solidFill>
                  <a:srgbClr val="A94842"/>
                </a:solidFill>
                <a:latin typeface="Arial"/>
                <a:ea typeface="Arial"/>
                <a:cs typeface="Arial"/>
              </a:defRPr>
            </a:lvl1pPr>
            <a:lvl2pPr algn="l">
              <a:defRPr sz="1725" b="0">
                <a:solidFill>
                  <a:srgbClr val="A94842"/>
                </a:solidFill>
                <a:latin typeface="Arial"/>
                <a:ea typeface="Arial"/>
                <a:cs typeface="Arial"/>
              </a:defRPr>
            </a:lvl2pPr>
            <a:lvl3pPr algn="l">
              <a:defRPr sz="1725" b="0">
                <a:solidFill>
                  <a:srgbClr val="A94842"/>
                </a:solidFill>
                <a:latin typeface="Arial"/>
                <a:ea typeface="Arial"/>
                <a:cs typeface="Arial"/>
              </a:defRPr>
            </a:lvl3pPr>
            <a:lvl4pPr algn="l">
              <a:defRPr sz="1725" b="0">
                <a:solidFill>
                  <a:srgbClr val="A94842"/>
                </a:solidFill>
                <a:latin typeface="Arial"/>
                <a:ea typeface="Arial"/>
                <a:cs typeface="Arial"/>
              </a:defRPr>
            </a:lvl4pPr>
            <a:lvl5pPr algn="l">
              <a:defRPr sz="1725" b="0">
                <a:solidFill>
                  <a:srgbClr val="A94842"/>
                </a:solidFill>
                <a:latin typeface="Arial"/>
                <a:ea typeface="Arial"/>
                <a:cs typeface="Arial"/>
              </a:defRPr>
            </a:lvl5pPr>
            <a:lvl6pPr algn="l">
              <a:defRPr sz="1725" b="0">
                <a:solidFill>
                  <a:srgbClr val="A94842"/>
                </a:solidFill>
                <a:latin typeface="Arial"/>
                <a:ea typeface="Arial"/>
                <a:cs typeface="Arial"/>
              </a:defRPr>
            </a:lvl6pPr>
            <a:lvl7pPr algn="l">
              <a:defRPr sz="1725" b="0">
                <a:solidFill>
                  <a:srgbClr val="A94842"/>
                </a:solidFill>
                <a:latin typeface="Arial"/>
                <a:ea typeface="Arial"/>
                <a:cs typeface="Arial"/>
              </a:defRPr>
            </a:lvl7pPr>
            <a:lvl8pPr algn="l">
              <a:defRPr sz="1725" b="0">
                <a:solidFill>
                  <a:srgbClr val="A94842"/>
                </a:solidFill>
                <a:latin typeface="Arial"/>
                <a:ea typeface="Arial"/>
                <a:cs typeface="Arial"/>
              </a:defRPr>
            </a:lvl8pPr>
            <a:lvl9pPr algn="l">
              <a:defRPr sz="1725" b="0">
                <a:solidFill>
                  <a:srgbClr val="A94842"/>
                </a:solidFill>
                <a:latin typeface="Arial"/>
                <a:ea typeface="Arial"/>
                <a:cs typeface="Arial"/>
              </a:defRPr>
            </a:lvl9pPr>
          </a:lstStyle>
          <a:p xmlns:a="http://schemas.openxmlformats.org/drawingml/2006/main">
            <a:pPr algn="l">
              <a:defRPr sz="1725" b="0">
                <a:solidFill>
                  <a:srgbClr val="A94842"/>
                </a:solidFill>
                <a:latin typeface="Arial"/>
                <a:ea typeface="Arial"/>
                <a:cs typeface="Arial"/>
              </a:defRPr>
            </a:pPr>
            <a:r>
              <a:rPr sz="1725" b="0">
                <a:solidFill>
                  <a:srgbClr val="A94842"/>
                </a:solidFill>
                <a:latin typeface="Arial"/>
                <a:ea typeface="Arial"/>
                <a:cs typeface="Arial"/>
              </a:rPr>
              <a:t>Its higher category coverage can reflect more purchase opportunities.</a:t>
            </a:r>
          </a:p>
        </p:txBody>
      </p:sp>
    </p:spTree>
    <p:extLst>
      <p:ext uri="{BB962C8B-B14F-4D97-AF65-F5344CB8AC3E}">
        <p14:creationId xmlns:p14="http://schemas.microsoft.com/office/powerpoint/2010/main" val="10829784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yebrow-7">
            <a:extLst xmlns:a="http://schemas.openxmlformats.org/drawingml/2006/main">
              <a:ext uri="{FF2B5EF4-FFF2-40B4-BE49-F238E27FC236}">
                <a16:creationId xmlns:a16="http://schemas.microsoft.com/office/drawing/2014/main" id="{C17C922C-9609-4560-ACF6-8091D1360BD4}"/>
              </a:ext>
            </a:extLst>
          </p:cNvPr>
          <p:cNvSpPr>
            <a:spLocks xmlns:a="http://schemas.openxmlformats.org/drawingml/2006/main" noGrp="1"/>
          </p:cNvSpPr>
          <p:nvPr/>
        </p:nvSpPr>
        <p:spPr>
          <a:xfrm xmlns:a="http://schemas.openxmlformats.org/drawingml/2006/main">
            <a:off x="647700" y="2667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46895"/>
                </a:solidFill>
                <a:latin typeface="Arial"/>
                <a:ea typeface="Arial"/>
                <a:cs typeface="Arial"/>
              </a:defRPr>
            </a:defPPr>
            <a:lvl1pPr algn="l">
              <a:defRPr sz="1200" b="1">
                <a:solidFill>
                  <a:srgbClr val="246895"/>
                </a:solidFill>
                <a:latin typeface="Arial"/>
                <a:ea typeface="Arial"/>
                <a:cs typeface="Arial"/>
              </a:defRPr>
            </a:lvl1pPr>
            <a:lvl2pPr algn="l">
              <a:defRPr sz="1200" b="1">
                <a:solidFill>
                  <a:srgbClr val="246895"/>
                </a:solidFill>
                <a:latin typeface="Arial"/>
                <a:ea typeface="Arial"/>
                <a:cs typeface="Arial"/>
              </a:defRPr>
            </a:lvl2pPr>
            <a:lvl3pPr algn="l">
              <a:defRPr sz="1200" b="1">
                <a:solidFill>
                  <a:srgbClr val="246895"/>
                </a:solidFill>
                <a:latin typeface="Arial"/>
                <a:ea typeface="Arial"/>
                <a:cs typeface="Arial"/>
              </a:defRPr>
            </a:lvl3pPr>
            <a:lvl4pPr algn="l">
              <a:defRPr sz="1200" b="1">
                <a:solidFill>
                  <a:srgbClr val="246895"/>
                </a:solidFill>
                <a:latin typeface="Arial"/>
                <a:ea typeface="Arial"/>
                <a:cs typeface="Arial"/>
              </a:defRPr>
            </a:lvl4pPr>
            <a:lvl5pPr algn="l">
              <a:defRPr sz="1200" b="1">
                <a:solidFill>
                  <a:srgbClr val="246895"/>
                </a:solidFill>
                <a:latin typeface="Arial"/>
                <a:ea typeface="Arial"/>
                <a:cs typeface="Arial"/>
              </a:defRPr>
            </a:lvl5pPr>
            <a:lvl6pPr algn="l">
              <a:defRPr sz="1200" b="1">
                <a:solidFill>
                  <a:srgbClr val="246895"/>
                </a:solidFill>
                <a:latin typeface="Arial"/>
                <a:ea typeface="Arial"/>
                <a:cs typeface="Arial"/>
              </a:defRPr>
            </a:lvl6pPr>
            <a:lvl7pPr algn="l">
              <a:defRPr sz="1200" b="1">
                <a:solidFill>
                  <a:srgbClr val="246895"/>
                </a:solidFill>
                <a:latin typeface="Arial"/>
                <a:ea typeface="Arial"/>
                <a:cs typeface="Arial"/>
              </a:defRPr>
            </a:lvl7pPr>
            <a:lvl8pPr algn="l">
              <a:defRPr sz="1200" b="1">
                <a:solidFill>
                  <a:srgbClr val="246895"/>
                </a:solidFill>
                <a:latin typeface="Arial"/>
                <a:ea typeface="Arial"/>
                <a:cs typeface="Arial"/>
              </a:defRPr>
            </a:lvl8pPr>
            <a:lvl9pPr algn="l">
              <a:defRPr sz="1200" b="1">
                <a:solidFill>
                  <a:srgbClr val="246895"/>
                </a:solidFill>
                <a:latin typeface="Arial"/>
                <a:ea typeface="Arial"/>
                <a:cs typeface="Arial"/>
              </a:defRPr>
            </a:lvl9pPr>
          </a:lstStyle>
          <a:p xmlns:a="http://schemas.openxmlformats.org/drawingml/2006/main">
            <a:pPr algn="l">
              <a:defRPr sz="1200" b="1">
                <a:solidFill>
                  <a:srgbClr val="246895"/>
                </a:solidFill>
                <a:latin typeface="Arial"/>
                <a:ea typeface="Arial"/>
                <a:cs typeface="Arial"/>
              </a:defRPr>
            </a:pPr>
            <a:r>
              <a:rPr sz="1200" b="1">
                <a:solidFill>
                  <a:srgbClr val="246895"/>
                </a:solidFill>
                <a:latin typeface="Arial"/>
                <a:ea typeface="Arial"/>
                <a:cs typeface="Arial"/>
              </a:rPr>
              <a:t>IS6400  /  OLIST REPURCHASE</a:t>
            </a:r>
          </a:p>
        </p:txBody>
      </p:sp>
      <p:sp>
        <p:nvSpPr>
          <p:cNvPr id="2" name="title-7">
            <a:extLst xmlns:a="http://schemas.openxmlformats.org/drawingml/2006/main">
              <a:ext uri="{FF2B5EF4-FFF2-40B4-BE49-F238E27FC236}">
                <a16:creationId xmlns:a16="http://schemas.microsoft.com/office/drawing/2014/main" id="{D41A7121-441E-4325-95A3-35F1AFE0E259}"/>
              </a:ext>
            </a:extLst>
          </p:cNvPr>
          <p:cNvSpPr>
            <a:spLocks xmlns:a="http://schemas.openxmlformats.org/drawingml/2006/main" noGrp="1"/>
          </p:cNvSpPr>
          <p:nvPr/>
        </p:nvSpPr>
        <p:spPr>
          <a:xfrm xmlns:a="http://schemas.openxmlformats.org/drawingml/2006/main">
            <a:off x="647700" y="6667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23452"/>
                </a:solidFill>
                <a:latin typeface="Arial"/>
                <a:ea typeface="Arial"/>
                <a:cs typeface="Arial"/>
              </a:defRPr>
            </a:defPPr>
            <a:lvl1pPr algn="l">
              <a:defRPr sz="3225" b="1">
                <a:solidFill>
                  <a:srgbClr val="123452"/>
                </a:solidFill>
                <a:latin typeface="Arial"/>
                <a:ea typeface="Arial"/>
                <a:cs typeface="Arial"/>
              </a:defRPr>
            </a:lvl1pPr>
            <a:lvl2pPr algn="l">
              <a:defRPr sz="3225" b="1">
                <a:solidFill>
                  <a:srgbClr val="123452"/>
                </a:solidFill>
                <a:latin typeface="Arial"/>
                <a:ea typeface="Arial"/>
                <a:cs typeface="Arial"/>
              </a:defRPr>
            </a:lvl2pPr>
            <a:lvl3pPr algn="l">
              <a:defRPr sz="3225" b="1">
                <a:solidFill>
                  <a:srgbClr val="123452"/>
                </a:solidFill>
                <a:latin typeface="Arial"/>
                <a:ea typeface="Arial"/>
                <a:cs typeface="Arial"/>
              </a:defRPr>
            </a:lvl3pPr>
            <a:lvl4pPr algn="l">
              <a:defRPr sz="3225" b="1">
                <a:solidFill>
                  <a:srgbClr val="123452"/>
                </a:solidFill>
                <a:latin typeface="Arial"/>
                <a:ea typeface="Arial"/>
                <a:cs typeface="Arial"/>
              </a:defRPr>
            </a:lvl4pPr>
            <a:lvl5pPr algn="l">
              <a:defRPr sz="3225" b="1">
                <a:solidFill>
                  <a:srgbClr val="123452"/>
                </a:solidFill>
                <a:latin typeface="Arial"/>
                <a:ea typeface="Arial"/>
                <a:cs typeface="Arial"/>
              </a:defRPr>
            </a:lvl5pPr>
            <a:lvl6pPr algn="l">
              <a:defRPr sz="3225" b="1">
                <a:solidFill>
                  <a:srgbClr val="123452"/>
                </a:solidFill>
                <a:latin typeface="Arial"/>
                <a:ea typeface="Arial"/>
                <a:cs typeface="Arial"/>
              </a:defRPr>
            </a:lvl6pPr>
            <a:lvl7pPr algn="l">
              <a:defRPr sz="3225" b="1">
                <a:solidFill>
                  <a:srgbClr val="123452"/>
                </a:solidFill>
                <a:latin typeface="Arial"/>
                <a:ea typeface="Arial"/>
                <a:cs typeface="Arial"/>
              </a:defRPr>
            </a:lvl7pPr>
            <a:lvl8pPr algn="l">
              <a:defRPr sz="3225" b="1">
                <a:solidFill>
                  <a:srgbClr val="123452"/>
                </a:solidFill>
                <a:latin typeface="Arial"/>
                <a:ea typeface="Arial"/>
                <a:cs typeface="Arial"/>
              </a:defRPr>
            </a:lvl8pPr>
            <a:lvl9pPr algn="l">
              <a:defRPr sz="3225" b="1">
                <a:solidFill>
                  <a:srgbClr val="123452"/>
                </a:solidFill>
                <a:latin typeface="Arial"/>
                <a:ea typeface="Arial"/>
                <a:cs typeface="Arial"/>
              </a:defRPr>
            </a:lvl9pPr>
          </a:lstStyle>
          <a:p xmlns:a="http://schemas.openxmlformats.org/drawingml/2006/main">
            <a:pPr algn="l">
              <a:defRPr sz="3225" b="1">
                <a:solidFill>
                  <a:srgbClr val="123452"/>
                </a:solidFill>
                <a:latin typeface="Arial"/>
                <a:ea typeface="Arial"/>
                <a:cs typeface="Arial"/>
              </a:defRPr>
            </a:pPr>
            <a:r>
              <a:rPr sz="3225" b="1">
                <a:solidFill>
                  <a:srgbClr val="123452"/>
                </a:solidFill>
                <a:latin typeface="Arial"/>
                <a:ea typeface="Arial"/>
                <a:cs typeface="Arial"/>
              </a:rPr>
              <a:t>The feature gain did not survive the later check</a:t>
            </a:r>
          </a:p>
        </p:txBody>
      </p:sp>
      <p:sp>
        <p:nvSpPr>
          <p:cNvPr id="3" name="footer-7">
            <a:extLst xmlns:a="http://schemas.openxmlformats.org/drawingml/2006/main">
              <a:ext uri="{FF2B5EF4-FFF2-40B4-BE49-F238E27FC236}">
                <a16:creationId xmlns:a16="http://schemas.microsoft.com/office/drawing/2014/main" id="{89949070-A073-4816-AC61-BF8A3132D07E}"/>
              </a:ext>
            </a:extLst>
          </p:cNvPr>
          <p:cNvSpPr>
            <a:spLocks xmlns:a="http://schemas.openxmlformats.org/drawingml/2006/main" noGrp="1"/>
          </p:cNvSpPr>
          <p:nvPr/>
        </p:nvSpPr>
        <p:spPr>
          <a:xfrm xmlns:a="http://schemas.openxmlformats.org/drawingml/2006/main">
            <a:off x="647700" y="6248400"/>
            <a:ext cx="923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77C8D"/>
                </a:solidFill>
                <a:latin typeface="Arial"/>
                <a:ea typeface="Arial"/>
                <a:cs typeface="Arial"/>
              </a:defRPr>
            </a:defPPr>
            <a:lvl1pPr algn="l">
              <a:defRPr sz="1125" b="0">
                <a:solidFill>
                  <a:srgbClr val="677C8D"/>
                </a:solidFill>
                <a:latin typeface="Arial"/>
                <a:ea typeface="Arial"/>
                <a:cs typeface="Arial"/>
              </a:defRPr>
            </a:lvl1pPr>
            <a:lvl2pPr algn="l">
              <a:defRPr sz="1125" b="0">
                <a:solidFill>
                  <a:srgbClr val="677C8D"/>
                </a:solidFill>
                <a:latin typeface="Arial"/>
                <a:ea typeface="Arial"/>
                <a:cs typeface="Arial"/>
              </a:defRPr>
            </a:lvl2pPr>
            <a:lvl3pPr algn="l">
              <a:defRPr sz="1125" b="0">
                <a:solidFill>
                  <a:srgbClr val="677C8D"/>
                </a:solidFill>
                <a:latin typeface="Arial"/>
                <a:ea typeface="Arial"/>
                <a:cs typeface="Arial"/>
              </a:defRPr>
            </a:lvl3pPr>
            <a:lvl4pPr algn="l">
              <a:defRPr sz="1125" b="0">
                <a:solidFill>
                  <a:srgbClr val="677C8D"/>
                </a:solidFill>
                <a:latin typeface="Arial"/>
                <a:ea typeface="Arial"/>
                <a:cs typeface="Arial"/>
              </a:defRPr>
            </a:lvl4pPr>
            <a:lvl5pPr algn="l">
              <a:defRPr sz="1125" b="0">
                <a:solidFill>
                  <a:srgbClr val="677C8D"/>
                </a:solidFill>
                <a:latin typeface="Arial"/>
                <a:ea typeface="Arial"/>
                <a:cs typeface="Arial"/>
              </a:defRPr>
            </a:lvl5pPr>
            <a:lvl6pPr algn="l">
              <a:defRPr sz="1125" b="0">
                <a:solidFill>
                  <a:srgbClr val="677C8D"/>
                </a:solidFill>
                <a:latin typeface="Arial"/>
                <a:ea typeface="Arial"/>
                <a:cs typeface="Arial"/>
              </a:defRPr>
            </a:lvl6pPr>
            <a:lvl7pPr algn="l">
              <a:defRPr sz="1125" b="0">
                <a:solidFill>
                  <a:srgbClr val="677C8D"/>
                </a:solidFill>
                <a:latin typeface="Arial"/>
                <a:ea typeface="Arial"/>
                <a:cs typeface="Arial"/>
              </a:defRPr>
            </a:lvl7pPr>
            <a:lvl8pPr algn="l">
              <a:defRPr sz="1125" b="0">
                <a:solidFill>
                  <a:srgbClr val="677C8D"/>
                </a:solidFill>
                <a:latin typeface="Arial"/>
                <a:ea typeface="Arial"/>
                <a:cs typeface="Arial"/>
              </a:defRPr>
            </a:lvl8pPr>
            <a:lvl9pPr algn="l">
              <a:defRPr sz="1125" b="0">
                <a:solidFill>
                  <a:srgbClr val="677C8D"/>
                </a:solidFill>
                <a:latin typeface="Arial"/>
                <a:ea typeface="Arial"/>
                <a:cs typeface="Arial"/>
              </a:defRPr>
            </a:lvl9pPr>
          </a:lstStyle>
          <a:p xmlns:a="http://schemas.openxmlformats.org/drawingml/2006/main">
            <a:pPr algn="l">
              <a:defRPr sz="1125" b="0">
                <a:solidFill>
                  <a:srgbClr val="677C8D"/>
                </a:solidFill>
                <a:latin typeface="Arial"/>
                <a:ea typeface="Arial"/>
                <a:cs typeface="Arial"/>
              </a:defRPr>
            </a:pPr>
            <a:r>
              <a:rPr sz="1125" b="0">
                <a:solidFill>
                  <a:srgbClr val="677C8D"/>
                </a:solidFill>
                <a:latin typeface="Arial"/>
                <a:ea typeface="Arial"/>
                <a:cs typeface="Arial"/>
              </a:rPr>
              <a:t>Olist historical orders, 2016–2018  •  Exploratory evidence</a:t>
            </a:r>
          </a:p>
        </p:txBody>
      </p:sp>
      <p:sp>
        <p:nvSpPr>
          <p:cNvPr id="4" name="page-7">
            <a:extLst xmlns:a="http://schemas.openxmlformats.org/drawingml/2006/main">
              <a:ext uri="{FF2B5EF4-FFF2-40B4-BE49-F238E27FC236}">
                <a16:creationId xmlns:a16="http://schemas.microsoft.com/office/drawing/2014/main" id="{598584B0-5D75-4AEC-B87A-48BA5F53A756}"/>
              </a:ext>
            </a:extLst>
          </p:cNvPr>
          <p:cNvSpPr>
            <a:spLocks xmlns:a="http://schemas.openxmlformats.org/drawingml/2006/main" noGrp="1"/>
          </p:cNvSpPr>
          <p:nvPr/>
        </p:nvSpPr>
        <p:spPr>
          <a:xfrm xmlns:a="http://schemas.openxmlformats.org/drawingml/2006/main">
            <a:off x="10763250" y="6248400"/>
            <a:ext cx="76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677C8D"/>
                </a:solidFill>
                <a:latin typeface="Arial"/>
                <a:ea typeface="Arial"/>
                <a:cs typeface="Arial"/>
              </a:defRPr>
            </a:defPPr>
            <a:lvl1pPr algn="r">
              <a:defRPr sz="1125" b="0">
                <a:solidFill>
                  <a:srgbClr val="677C8D"/>
                </a:solidFill>
                <a:latin typeface="Arial"/>
                <a:ea typeface="Arial"/>
                <a:cs typeface="Arial"/>
              </a:defRPr>
            </a:lvl1pPr>
            <a:lvl2pPr algn="r">
              <a:defRPr sz="1125" b="0">
                <a:solidFill>
                  <a:srgbClr val="677C8D"/>
                </a:solidFill>
                <a:latin typeface="Arial"/>
                <a:ea typeface="Arial"/>
                <a:cs typeface="Arial"/>
              </a:defRPr>
            </a:lvl2pPr>
            <a:lvl3pPr algn="r">
              <a:defRPr sz="1125" b="0">
                <a:solidFill>
                  <a:srgbClr val="677C8D"/>
                </a:solidFill>
                <a:latin typeface="Arial"/>
                <a:ea typeface="Arial"/>
                <a:cs typeface="Arial"/>
              </a:defRPr>
            </a:lvl3pPr>
            <a:lvl4pPr algn="r">
              <a:defRPr sz="1125" b="0">
                <a:solidFill>
                  <a:srgbClr val="677C8D"/>
                </a:solidFill>
                <a:latin typeface="Arial"/>
                <a:ea typeface="Arial"/>
                <a:cs typeface="Arial"/>
              </a:defRPr>
            </a:lvl4pPr>
            <a:lvl5pPr algn="r">
              <a:defRPr sz="1125" b="0">
                <a:solidFill>
                  <a:srgbClr val="677C8D"/>
                </a:solidFill>
                <a:latin typeface="Arial"/>
                <a:ea typeface="Arial"/>
                <a:cs typeface="Arial"/>
              </a:defRPr>
            </a:lvl5pPr>
            <a:lvl6pPr algn="r">
              <a:defRPr sz="1125" b="0">
                <a:solidFill>
                  <a:srgbClr val="677C8D"/>
                </a:solidFill>
                <a:latin typeface="Arial"/>
                <a:ea typeface="Arial"/>
                <a:cs typeface="Arial"/>
              </a:defRPr>
            </a:lvl6pPr>
            <a:lvl7pPr algn="r">
              <a:defRPr sz="1125" b="0">
                <a:solidFill>
                  <a:srgbClr val="677C8D"/>
                </a:solidFill>
                <a:latin typeface="Arial"/>
                <a:ea typeface="Arial"/>
                <a:cs typeface="Arial"/>
              </a:defRPr>
            </a:lvl7pPr>
            <a:lvl8pPr algn="r">
              <a:defRPr sz="1125" b="0">
                <a:solidFill>
                  <a:srgbClr val="677C8D"/>
                </a:solidFill>
                <a:latin typeface="Arial"/>
                <a:ea typeface="Arial"/>
                <a:cs typeface="Arial"/>
              </a:defRPr>
            </a:lvl8pPr>
            <a:lvl9pPr algn="r">
              <a:defRPr sz="1125" b="0">
                <a:solidFill>
                  <a:srgbClr val="677C8D"/>
                </a:solidFill>
                <a:latin typeface="Arial"/>
                <a:ea typeface="Arial"/>
                <a:cs typeface="Arial"/>
              </a:defRPr>
            </a:lvl9pPr>
          </a:lstStyle>
          <a:p xmlns:a="http://schemas.openxmlformats.org/drawingml/2006/main">
            <a:pPr algn="r">
              <a:defRPr sz="1125" b="0">
                <a:solidFill>
                  <a:srgbClr val="677C8D"/>
                </a:solidFill>
                <a:latin typeface="Arial"/>
                <a:ea typeface="Arial"/>
                <a:cs typeface="Arial"/>
              </a:defRPr>
            </a:pPr>
            <a:r>
              <a:rPr sz="1125" b="0">
                <a:solidFill>
                  <a:srgbClr val="677C8D"/>
                </a:solidFill>
                <a:latin typeface="Arial"/>
                <a:ea typeface="Arial"/>
                <a:cs typeface="Arial"/>
              </a:rPr>
              <a:t>7 / 8</a:t>
            </a:r>
          </a:p>
        </p:txBody>
      </p:sp>
      <p:sp>
        <p:nvSpPr>
          <p:cNvPr id="5" name="val-title">
            <a:extLst xmlns:a="http://schemas.openxmlformats.org/drawingml/2006/main">
              <a:ext uri="{FF2B5EF4-FFF2-40B4-BE49-F238E27FC236}">
                <a16:creationId xmlns:a16="http://schemas.microsoft.com/office/drawing/2014/main" id="{7CA795C4-6DFB-454B-9349-64F82E425428}"/>
              </a:ext>
            </a:extLst>
          </p:cNvPr>
          <p:cNvSpPr>
            <a:spLocks xmlns:a="http://schemas.openxmlformats.org/drawingml/2006/main" noGrp="1"/>
          </p:cNvSpPr>
          <p:nvPr/>
        </p:nvSpPr>
        <p:spPr>
          <a:xfrm xmlns:a="http://schemas.openxmlformats.org/drawingml/2006/main">
            <a:off x="704850" y="1752600"/>
            <a:ext cx="4810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246895"/>
                </a:solidFill>
                <a:latin typeface="Arial"/>
                <a:ea typeface="Arial"/>
                <a:cs typeface="Arial"/>
              </a:defRPr>
            </a:defPPr>
            <a:lvl1pPr algn="l">
              <a:defRPr sz="2250" b="1">
                <a:solidFill>
                  <a:srgbClr val="246895"/>
                </a:solidFill>
                <a:latin typeface="Arial"/>
                <a:ea typeface="Arial"/>
                <a:cs typeface="Arial"/>
              </a:defRPr>
            </a:lvl1pPr>
            <a:lvl2pPr algn="l">
              <a:defRPr sz="2250" b="1">
                <a:solidFill>
                  <a:srgbClr val="246895"/>
                </a:solidFill>
                <a:latin typeface="Arial"/>
                <a:ea typeface="Arial"/>
                <a:cs typeface="Arial"/>
              </a:defRPr>
            </a:lvl2pPr>
            <a:lvl3pPr algn="l">
              <a:defRPr sz="2250" b="1">
                <a:solidFill>
                  <a:srgbClr val="246895"/>
                </a:solidFill>
                <a:latin typeface="Arial"/>
                <a:ea typeface="Arial"/>
                <a:cs typeface="Arial"/>
              </a:defRPr>
            </a:lvl3pPr>
            <a:lvl4pPr algn="l">
              <a:defRPr sz="2250" b="1">
                <a:solidFill>
                  <a:srgbClr val="246895"/>
                </a:solidFill>
                <a:latin typeface="Arial"/>
                <a:ea typeface="Arial"/>
                <a:cs typeface="Arial"/>
              </a:defRPr>
            </a:lvl4pPr>
            <a:lvl5pPr algn="l">
              <a:defRPr sz="2250" b="1">
                <a:solidFill>
                  <a:srgbClr val="246895"/>
                </a:solidFill>
                <a:latin typeface="Arial"/>
                <a:ea typeface="Arial"/>
                <a:cs typeface="Arial"/>
              </a:defRPr>
            </a:lvl5pPr>
            <a:lvl6pPr algn="l">
              <a:defRPr sz="2250" b="1">
                <a:solidFill>
                  <a:srgbClr val="246895"/>
                </a:solidFill>
                <a:latin typeface="Arial"/>
                <a:ea typeface="Arial"/>
                <a:cs typeface="Arial"/>
              </a:defRPr>
            </a:lvl6pPr>
            <a:lvl7pPr algn="l">
              <a:defRPr sz="2250" b="1">
                <a:solidFill>
                  <a:srgbClr val="246895"/>
                </a:solidFill>
                <a:latin typeface="Arial"/>
                <a:ea typeface="Arial"/>
                <a:cs typeface="Arial"/>
              </a:defRPr>
            </a:lvl7pPr>
            <a:lvl8pPr algn="l">
              <a:defRPr sz="2250" b="1">
                <a:solidFill>
                  <a:srgbClr val="246895"/>
                </a:solidFill>
                <a:latin typeface="Arial"/>
                <a:ea typeface="Arial"/>
                <a:cs typeface="Arial"/>
              </a:defRPr>
            </a:lvl8pPr>
            <a:lvl9pPr algn="l">
              <a:defRPr sz="2250" b="1">
                <a:solidFill>
                  <a:srgbClr val="246895"/>
                </a:solidFill>
                <a:latin typeface="Arial"/>
                <a:ea typeface="Arial"/>
                <a:cs typeface="Arial"/>
              </a:defRPr>
            </a:lvl9pPr>
          </a:lstStyle>
          <a:p xmlns:a="http://schemas.openxmlformats.org/drawingml/2006/main">
            <a:pPr algn="l">
              <a:defRPr sz="2250" b="1">
                <a:solidFill>
                  <a:srgbClr val="246895"/>
                </a:solidFill>
                <a:latin typeface="Arial"/>
                <a:ea typeface="Arial"/>
                <a:cs typeface="Arial"/>
              </a:defRPr>
            </a:pPr>
            <a:r>
              <a:rPr sz="2250" b="1">
                <a:solidFill>
                  <a:srgbClr val="246895"/>
                </a:solidFill>
                <a:latin typeface="Arial"/>
                <a:ea typeface="Arial"/>
                <a:cs typeface="Arial"/>
              </a:rPr>
              <a:t>Validation AP</a:t>
            </a:r>
          </a:p>
        </p:txBody>
      </p:sp>
      <p:sp>
        <p:nvSpPr>
          <p:cNvPr id="6" name="val-value">
            <a:extLst xmlns:a="http://schemas.openxmlformats.org/drawingml/2006/main">
              <a:ext uri="{FF2B5EF4-FFF2-40B4-BE49-F238E27FC236}">
                <a16:creationId xmlns:a16="http://schemas.microsoft.com/office/drawing/2014/main" id="{BBE94ABF-3D81-4C4D-A23C-F223646EA798}"/>
              </a:ext>
            </a:extLst>
          </p:cNvPr>
          <p:cNvSpPr>
            <a:spLocks xmlns:a="http://schemas.openxmlformats.org/drawingml/2006/main" noGrp="1"/>
          </p:cNvSpPr>
          <p:nvPr/>
        </p:nvSpPr>
        <p:spPr>
          <a:xfrm xmlns:a="http://schemas.openxmlformats.org/drawingml/2006/main">
            <a:off x="704850" y="2333625"/>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276D63"/>
                </a:solidFill>
                <a:latin typeface="Arial"/>
                <a:ea typeface="Arial"/>
                <a:cs typeface="Arial"/>
              </a:defRPr>
            </a:defPPr>
            <a:lvl1pPr algn="l">
              <a:defRPr sz="3225" b="1">
                <a:solidFill>
                  <a:srgbClr val="276D63"/>
                </a:solidFill>
                <a:latin typeface="Arial"/>
                <a:ea typeface="Arial"/>
                <a:cs typeface="Arial"/>
              </a:defRPr>
            </a:lvl1pPr>
            <a:lvl2pPr algn="l">
              <a:defRPr sz="3225" b="1">
                <a:solidFill>
                  <a:srgbClr val="276D63"/>
                </a:solidFill>
                <a:latin typeface="Arial"/>
                <a:ea typeface="Arial"/>
                <a:cs typeface="Arial"/>
              </a:defRPr>
            </a:lvl2pPr>
            <a:lvl3pPr algn="l">
              <a:defRPr sz="3225" b="1">
                <a:solidFill>
                  <a:srgbClr val="276D63"/>
                </a:solidFill>
                <a:latin typeface="Arial"/>
                <a:ea typeface="Arial"/>
                <a:cs typeface="Arial"/>
              </a:defRPr>
            </a:lvl3pPr>
            <a:lvl4pPr algn="l">
              <a:defRPr sz="3225" b="1">
                <a:solidFill>
                  <a:srgbClr val="276D63"/>
                </a:solidFill>
                <a:latin typeface="Arial"/>
                <a:ea typeface="Arial"/>
                <a:cs typeface="Arial"/>
              </a:defRPr>
            </a:lvl4pPr>
            <a:lvl5pPr algn="l">
              <a:defRPr sz="3225" b="1">
                <a:solidFill>
                  <a:srgbClr val="276D63"/>
                </a:solidFill>
                <a:latin typeface="Arial"/>
                <a:ea typeface="Arial"/>
                <a:cs typeface="Arial"/>
              </a:defRPr>
            </a:lvl5pPr>
            <a:lvl6pPr algn="l">
              <a:defRPr sz="3225" b="1">
                <a:solidFill>
                  <a:srgbClr val="276D63"/>
                </a:solidFill>
                <a:latin typeface="Arial"/>
                <a:ea typeface="Arial"/>
                <a:cs typeface="Arial"/>
              </a:defRPr>
            </a:lvl6pPr>
            <a:lvl7pPr algn="l">
              <a:defRPr sz="3225" b="1">
                <a:solidFill>
                  <a:srgbClr val="276D63"/>
                </a:solidFill>
                <a:latin typeface="Arial"/>
                <a:ea typeface="Arial"/>
                <a:cs typeface="Arial"/>
              </a:defRPr>
            </a:lvl7pPr>
            <a:lvl8pPr algn="l">
              <a:defRPr sz="3225" b="1">
                <a:solidFill>
                  <a:srgbClr val="276D63"/>
                </a:solidFill>
                <a:latin typeface="Arial"/>
                <a:ea typeface="Arial"/>
                <a:cs typeface="Arial"/>
              </a:defRPr>
            </a:lvl8pPr>
            <a:lvl9pPr algn="l">
              <a:defRPr sz="3225" b="1">
                <a:solidFill>
                  <a:srgbClr val="276D63"/>
                </a:solidFill>
                <a:latin typeface="Arial"/>
                <a:ea typeface="Arial"/>
                <a:cs typeface="Arial"/>
              </a:defRPr>
            </a:lvl9pPr>
          </a:lstStyle>
          <a:p xmlns:a="http://schemas.openxmlformats.org/drawingml/2006/main">
            <a:pPr algn="l">
              <a:defRPr sz="3225" b="1">
                <a:solidFill>
                  <a:srgbClr val="276D63"/>
                </a:solidFill>
                <a:latin typeface="Arial"/>
                <a:ea typeface="Arial"/>
                <a:cs typeface="Arial"/>
              </a:defRPr>
            </a:pPr>
            <a:r>
              <a:rPr sz="3225" b="1">
                <a:solidFill>
                  <a:srgbClr val="276D63"/>
                </a:solidFill>
                <a:latin typeface="Arial"/>
                <a:ea typeface="Arial"/>
                <a:cs typeface="Arial"/>
              </a:rPr>
              <a:t>0.02596  →  0.02851</a:t>
            </a:r>
          </a:p>
        </p:txBody>
      </p:sp>
      <p:sp>
        <p:nvSpPr>
          <p:cNvPr id="7" name="val-caption">
            <a:extLst xmlns:a="http://schemas.openxmlformats.org/drawingml/2006/main">
              <a:ext uri="{FF2B5EF4-FFF2-40B4-BE49-F238E27FC236}">
                <a16:creationId xmlns:a16="http://schemas.microsoft.com/office/drawing/2014/main" id="{EF0B2FF5-94EF-4A43-A1F9-2A2EA0AB0733}"/>
              </a:ext>
            </a:extLst>
          </p:cNvPr>
          <p:cNvSpPr>
            <a:spLocks xmlns:a="http://schemas.openxmlformats.org/drawingml/2006/main" noGrp="1"/>
          </p:cNvSpPr>
          <p:nvPr/>
        </p:nvSpPr>
        <p:spPr>
          <a:xfrm xmlns:a="http://schemas.openxmlformats.org/drawingml/2006/main">
            <a:off x="704850" y="3209925"/>
            <a:ext cx="500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76072"/>
                </a:solidFill>
                <a:latin typeface="Arial"/>
                <a:ea typeface="Arial"/>
                <a:cs typeface="Arial"/>
              </a:defRPr>
            </a:defPPr>
            <a:lvl1pPr algn="l">
              <a:defRPr sz="1800" b="0">
                <a:solidFill>
                  <a:srgbClr val="476072"/>
                </a:solidFill>
                <a:latin typeface="Arial"/>
                <a:ea typeface="Arial"/>
                <a:cs typeface="Arial"/>
              </a:defRPr>
            </a:lvl1pPr>
            <a:lvl2pPr algn="l">
              <a:defRPr sz="1800" b="0">
                <a:solidFill>
                  <a:srgbClr val="476072"/>
                </a:solidFill>
                <a:latin typeface="Arial"/>
                <a:ea typeface="Arial"/>
                <a:cs typeface="Arial"/>
              </a:defRPr>
            </a:lvl2pPr>
            <a:lvl3pPr algn="l">
              <a:defRPr sz="1800" b="0">
                <a:solidFill>
                  <a:srgbClr val="476072"/>
                </a:solidFill>
                <a:latin typeface="Arial"/>
                <a:ea typeface="Arial"/>
                <a:cs typeface="Arial"/>
              </a:defRPr>
            </a:lvl3pPr>
            <a:lvl4pPr algn="l">
              <a:defRPr sz="1800" b="0">
                <a:solidFill>
                  <a:srgbClr val="476072"/>
                </a:solidFill>
                <a:latin typeface="Arial"/>
                <a:ea typeface="Arial"/>
                <a:cs typeface="Arial"/>
              </a:defRPr>
            </a:lvl4pPr>
            <a:lvl5pPr algn="l">
              <a:defRPr sz="1800" b="0">
                <a:solidFill>
                  <a:srgbClr val="476072"/>
                </a:solidFill>
                <a:latin typeface="Arial"/>
                <a:ea typeface="Arial"/>
                <a:cs typeface="Arial"/>
              </a:defRPr>
            </a:lvl5pPr>
            <a:lvl6pPr algn="l">
              <a:defRPr sz="1800" b="0">
                <a:solidFill>
                  <a:srgbClr val="476072"/>
                </a:solidFill>
                <a:latin typeface="Arial"/>
                <a:ea typeface="Arial"/>
                <a:cs typeface="Arial"/>
              </a:defRPr>
            </a:lvl6pPr>
            <a:lvl7pPr algn="l">
              <a:defRPr sz="1800" b="0">
                <a:solidFill>
                  <a:srgbClr val="476072"/>
                </a:solidFill>
                <a:latin typeface="Arial"/>
                <a:ea typeface="Arial"/>
                <a:cs typeface="Arial"/>
              </a:defRPr>
            </a:lvl7pPr>
            <a:lvl8pPr algn="l">
              <a:defRPr sz="1800" b="0">
                <a:solidFill>
                  <a:srgbClr val="476072"/>
                </a:solidFill>
                <a:latin typeface="Arial"/>
                <a:ea typeface="Arial"/>
                <a:cs typeface="Arial"/>
              </a:defRPr>
            </a:lvl8pPr>
            <a:lvl9pPr algn="l">
              <a:defRPr sz="1800" b="0">
                <a:solidFill>
                  <a:srgbClr val="476072"/>
                </a:solidFill>
                <a:latin typeface="Arial"/>
                <a:ea typeface="Arial"/>
                <a:cs typeface="Arial"/>
              </a:defRPr>
            </a:lvl9pPr>
          </a:lstStyle>
          <a:p xmlns:a="http://schemas.openxmlformats.org/drawingml/2006/main">
            <a:pPr algn="l">
              <a:defRPr sz="1800" b="0">
                <a:solidFill>
                  <a:srgbClr val="476072"/>
                </a:solidFill>
                <a:latin typeface="Arial"/>
                <a:ea typeface="Arial"/>
                <a:cs typeface="Arial"/>
              </a:defRPr>
            </a:pPr>
            <a:r>
              <a:rPr sz="1800" b="0">
                <a:solidFill>
                  <a:srgbClr val="476072"/>
                </a:solidFill>
                <a:latin typeface="Arial"/>
                <a:ea typeface="Arial"/>
                <a:cs typeface="Arial"/>
              </a:rPr>
              <a:t>Original → add segment</a:t>
            </a:r>
          </a:p>
        </p:txBody>
      </p:sp>
      <p:sp>
        <p:nvSpPr>
          <p:cNvPr id="8" name="test-title">
            <a:extLst xmlns:a="http://schemas.openxmlformats.org/drawingml/2006/main">
              <a:ext uri="{FF2B5EF4-FFF2-40B4-BE49-F238E27FC236}">
                <a16:creationId xmlns:a16="http://schemas.microsoft.com/office/drawing/2014/main" id="{F1B4F523-E849-4EA1-A7E6-CE1F67DC2741}"/>
              </a:ext>
            </a:extLst>
          </p:cNvPr>
          <p:cNvSpPr>
            <a:spLocks xmlns:a="http://schemas.openxmlformats.org/drawingml/2006/main" noGrp="1"/>
          </p:cNvSpPr>
          <p:nvPr/>
        </p:nvSpPr>
        <p:spPr>
          <a:xfrm xmlns:a="http://schemas.openxmlformats.org/drawingml/2006/main">
            <a:off x="6477000" y="1752600"/>
            <a:ext cx="4810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246895"/>
                </a:solidFill>
                <a:latin typeface="Arial"/>
                <a:ea typeface="Arial"/>
                <a:cs typeface="Arial"/>
              </a:defRPr>
            </a:defPPr>
            <a:lvl1pPr algn="l">
              <a:defRPr sz="2250" b="1">
                <a:solidFill>
                  <a:srgbClr val="246895"/>
                </a:solidFill>
                <a:latin typeface="Arial"/>
                <a:ea typeface="Arial"/>
                <a:cs typeface="Arial"/>
              </a:defRPr>
            </a:lvl1pPr>
            <a:lvl2pPr algn="l">
              <a:defRPr sz="2250" b="1">
                <a:solidFill>
                  <a:srgbClr val="246895"/>
                </a:solidFill>
                <a:latin typeface="Arial"/>
                <a:ea typeface="Arial"/>
                <a:cs typeface="Arial"/>
              </a:defRPr>
            </a:lvl2pPr>
            <a:lvl3pPr algn="l">
              <a:defRPr sz="2250" b="1">
                <a:solidFill>
                  <a:srgbClr val="246895"/>
                </a:solidFill>
                <a:latin typeface="Arial"/>
                <a:ea typeface="Arial"/>
                <a:cs typeface="Arial"/>
              </a:defRPr>
            </a:lvl3pPr>
            <a:lvl4pPr algn="l">
              <a:defRPr sz="2250" b="1">
                <a:solidFill>
                  <a:srgbClr val="246895"/>
                </a:solidFill>
                <a:latin typeface="Arial"/>
                <a:ea typeface="Arial"/>
                <a:cs typeface="Arial"/>
              </a:defRPr>
            </a:lvl4pPr>
            <a:lvl5pPr algn="l">
              <a:defRPr sz="2250" b="1">
                <a:solidFill>
                  <a:srgbClr val="246895"/>
                </a:solidFill>
                <a:latin typeface="Arial"/>
                <a:ea typeface="Arial"/>
                <a:cs typeface="Arial"/>
              </a:defRPr>
            </a:lvl5pPr>
            <a:lvl6pPr algn="l">
              <a:defRPr sz="2250" b="1">
                <a:solidFill>
                  <a:srgbClr val="246895"/>
                </a:solidFill>
                <a:latin typeface="Arial"/>
                <a:ea typeface="Arial"/>
                <a:cs typeface="Arial"/>
              </a:defRPr>
            </a:lvl6pPr>
            <a:lvl7pPr algn="l">
              <a:defRPr sz="2250" b="1">
                <a:solidFill>
                  <a:srgbClr val="246895"/>
                </a:solidFill>
                <a:latin typeface="Arial"/>
                <a:ea typeface="Arial"/>
                <a:cs typeface="Arial"/>
              </a:defRPr>
            </a:lvl7pPr>
            <a:lvl8pPr algn="l">
              <a:defRPr sz="2250" b="1">
                <a:solidFill>
                  <a:srgbClr val="246895"/>
                </a:solidFill>
                <a:latin typeface="Arial"/>
                <a:ea typeface="Arial"/>
                <a:cs typeface="Arial"/>
              </a:defRPr>
            </a:lvl8pPr>
            <a:lvl9pPr algn="l">
              <a:defRPr sz="2250" b="1">
                <a:solidFill>
                  <a:srgbClr val="246895"/>
                </a:solidFill>
                <a:latin typeface="Arial"/>
                <a:ea typeface="Arial"/>
                <a:cs typeface="Arial"/>
              </a:defRPr>
            </a:lvl9pPr>
          </a:lstStyle>
          <a:p xmlns:a="http://schemas.openxmlformats.org/drawingml/2006/main">
            <a:pPr algn="l">
              <a:defRPr sz="2250" b="1">
                <a:solidFill>
                  <a:srgbClr val="246895"/>
                </a:solidFill>
                <a:latin typeface="Arial"/>
                <a:ea typeface="Arial"/>
                <a:cs typeface="Arial"/>
              </a:defRPr>
            </a:pPr>
            <a:r>
              <a:rPr sz="2250" b="1">
                <a:solidFill>
                  <a:srgbClr val="246895"/>
                </a:solidFill>
                <a:latin typeface="Arial"/>
                <a:ea typeface="Arial"/>
                <a:cs typeface="Arial"/>
              </a:rPr>
              <a:t>Later test AP</a:t>
            </a:r>
          </a:p>
        </p:txBody>
      </p:sp>
      <p:sp>
        <p:nvSpPr>
          <p:cNvPr id="9" name="test-value">
            <a:extLst xmlns:a="http://schemas.openxmlformats.org/drawingml/2006/main">
              <a:ext uri="{FF2B5EF4-FFF2-40B4-BE49-F238E27FC236}">
                <a16:creationId xmlns:a16="http://schemas.microsoft.com/office/drawing/2014/main" id="{A1A0386E-9664-4C12-B293-219AB0C624EC}"/>
              </a:ext>
            </a:extLst>
          </p:cNvPr>
          <p:cNvSpPr>
            <a:spLocks xmlns:a="http://schemas.openxmlformats.org/drawingml/2006/main" noGrp="1"/>
          </p:cNvSpPr>
          <p:nvPr/>
        </p:nvSpPr>
        <p:spPr>
          <a:xfrm xmlns:a="http://schemas.openxmlformats.org/drawingml/2006/main">
            <a:off x="6477000" y="2333625"/>
            <a:ext cx="4953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A94842"/>
                </a:solidFill>
                <a:latin typeface="Arial"/>
                <a:ea typeface="Arial"/>
                <a:cs typeface="Arial"/>
              </a:defRPr>
            </a:defPPr>
            <a:lvl1pPr algn="l">
              <a:defRPr sz="3225" b="1">
                <a:solidFill>
                  <a:srgbClr val="A94842"/>
                </a:solidFill>
                <a:latin typeface="Arial"/>
                <a:ea typeface="Arial"/>
                <a:cs typeface="Arial"/>
              </a:defRPr>
            </a:lvl1pPr>
            <a:lvl2pPr algn="l">
              <a:defRPr sz="3225" b="1">
                <a:solidFill>
                  <a:srgbClr val="A94842"/>
                </a:solidFill>
                <a:latin typeface="Arial"/>
                <a:ea typeface="Arial"/>
                <a:cs typeface="Arial"/>
              </a:defRPr>
            </a:lvl2pPr>
            <a:lvl3pPr algn="l">
              <a:defRPr sz="3225" b="1">
                <a:solidFill>
                  <a:srgbClr val="A94842"/>
                </a:solidFill>
                <a:latin typeface="Arial"/>
                <a:ea typeface="Arial"/>
                <a:cs typeface="Arial"/>
              </a:defRPr>
            </a:lvl3pPr>
            <a:lvl4pPr algn="l">
              <a:defRPr sz="3225" b="1">
                <a:solidFill>
                  <a:srgbClr val="A94842"/>
                </a:solidFill>
                <a:latin typeface="Arial"/>
                <a:ea typeface="Arial"/>
                <a:cs typeface="Arial"/>
              </a:defRPr>
            </a:lvl4pPr>
            <a:lvl5pPr algn="l">
              <a:defRPr sz="3225" b="1">
                <a:solidFill>
                  <a:srgbClr val="A94842"/>
                </a:solidFill>
                <a:latin typeface="Arial"/>
                <a:ea typeface="Arial"/>
                <a:cs typeface="Arial"/>
              </a:defRPr>
            </a:lvl5pPr>
            <a:lvl6pPr algn="l">
              <a:defRPr sz="3225" b="1">
                <a:solidFill>
                  <a:srgbClr val="A94842"/>
                </a:solidFill>
                <a:latin typeface="Arial"/>
                <a:ea typeface="Arial"/>
                <a:cs typeface="Arial"/>
              </a:defRPr>
            </a:lvl6pPr>
            <a:lvl7pPr algn="l">
              <a:defRPr sz="3225" b="1">
                <a:solidFill>
                  <a:srgbClr val="A94842"/>
                </a:solidFill>
                <a:latin typeface="Arial"/>
                <a:ea typeface="Arial"/>
                <a:cs typeface="Arial"/>
              </a:defRPr>
            </a:lvl7pPr>
            <a:lvl8pPr algn="l">
              <a:defRPr sz="3225" b="1">
                <a:solidFill>
                  <a:srgbClr val="A94842"/>
                </a:solidFill>
                <a:latin typeface="Arial"/>
                <a:ea typeface="Arial"/>
                <a:cs typeface="Arial"/>
              </a:defRPr>
            </a:lvl8pPr>
            <a:lvl9pPr algn="l">
              <a:defRPr sz="3225" b="1">
                <a:solidFill>
                  <a:srgbClr val="A94842"/>
                </a:solidFill>
                <a:latin typeface="Arial"/>
                <a:ea typeface="Arial"/>
                <a:cs typeface="Arial"/>
              </a:defRPr>
            </a:lvl9pPr>
          </a:lstStyle>
          <a:p xmlns:a="http://schemas.openxmlformats.org/drawingml/2006/main">
            <a:pPr algn="l">
              <a:defRPr sz="3225" b="1">
                <a:solidFill>
                  <a:srgbClr val="A94842"/>
                </a:solidFill>
                <a:latin typeface="Arial"/>
                <a:ea typeface="Arial"/>
                <a:cs typeface="Arial"/>
              </a:defRPr>
            </a:pPr>
            <a:r>
              <a:rPr sz="3225" b="1">
                <a:solidFill>
                  <a:srgbClr val="A94842"/>
                </a:solidFill>
                <a:latin typeface="Arial"/>
                <a:ea typeface="Arial"/>
                <a:cs typeface="Arial"/>
              </a:rPr>
              <a:t>0.02158  →  0.02094</a:t>
            </a:r>
          </a:p>
        </p:txBody>
      </p:sp>
      <p:sp>
        <p:nvSpPr>
          <p:cNvPr id="10" name="test-caption">
            <a:extLst xmlns:a="http://schemas.openxmlformats.org/drawingml/2006/main">
              <a:ext uri="{FF2B5EF4-FFF2-40B4-BE49-F238E27FC236}">
                <a16:creationId xmlns:a16="http://schemas.microsoft.com/office/drawing/2014/main" id="{33C65B22-711A-4C59-A9B8-0413CE694E78}"/>
              </a:ext>
            </a:extLst>
          </p:cNvPr>
          <p:cNvSpPr>
            <a:spLocks xmlns:a="http://schemas.openxmlformats.org/drawingml/2006/main" noGrp="1"/>
          </p:cNvSpPr>
          <p:nvPr/>
        </p:nvSpPr>
        <p:spPr>
          <a:xfrm xmlns:a="http://schemas.openxmlformats.org/drawingml/2006/main">
            <a:off x="6477000" y="3209925"/>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76072"/>
                </a:solidFill>
                <a:latin typeface="Arial"/>
                <a:ea typeface="Arial"/>
                <a:cs typeface="Arial"/>
              </a:defRPr>
            </a:defPPr>
            <a:lvl1pPr algn="l">
              <a:defRPr sz="1800" b="0">
                <a:solidFill>
                  <a:srgbClr val="476072"/>
                </a:solidFill>
                <a:latin typeface="Arial"/>
                <a:ea typeface="Arial"/>
                <a:cs typeface="Arial"/>
              </a:defRPr>
            </a:lvl1pPr>
            <a:lvl2pPr algn="l">
              <a:defRPr sz="1800" b="0">
                <a:solidFill>
                  <a:srgbClr val="476072"/>
                </a:solidFill>
                <a:latin typeface="Arial"/>
                <a:ea typeface="Arial"/>
                <a:cs typeface="Arial"/>
              </a:defRPr>
            </a:lvl2pPr>
            <a:lvl3pPr algn="l">
              <a:defRPr sz="1800" b="0">
                <a:solidFill>
                  <a:srgbClr val="476072"/>
                </a:solidFill>
                <a:latin typeface="Arial"/>
                <a:ea typeface="Arial"/>
                <a:cs typeface="Arial"/>
              </a:defRPr>
            </a:lvl3pPr>
            <a:lvl4pPr algn="l">
              <a:defRPr sz="1800" b="0">
                <a:solidFill>
                  <a:srgbClr val="476072"/>
                </a:solidFill>
                <a:latin typeface="Arial"/>
                <a:ea typeface="Arial"/>
                <a:cs typeface="Arial"/>
              </a:defRPr>
            </a:lvl4pPr>
            <a:lvl5pPr algn="l">
              <a:defRPr sz="1800" b="0">
                <a:solidFill>
                  <a:srgbClr val="476072"/>
                </a:solidFill>
                <a:latin typeface="Arial"/>
                <a:ea typeface="Arial"/>
                <a:cs typeface="Arial"/>
              </a:defRPr>
            </a:lvl5pPr>
            <a:lvl6pPr algn="l">
              <a:defRPr sz="1800" b="0">
                <a:solidFill>
                  <a:srgbClr val="476072"/>
                </a:solidFill>
                <a:latin typeface="Arial"/>
                <a:ea typeface="Arial"/>
                <a:cs typeface="Arial"/>
              </a:defRPr>
            </a:lvl6pPr>
            <a:lvl7pPr algn="l">
              <a:defRPr sz="1800" b="0">
                <a:solidFill>
                  <a:srgbClr val="476072"/>
                </a:solidFill>
                <a:latin typeface="Arial"/>
                <a:ea typeface="Arial"/>
                <a:cs typeface="Arial"/>
              </a:defRPr>
            </a:lvl7pPr>
            <a:lvl8pPr algn="l">
              <a:defRPr sz="1800" b="0">
                <a:solidFill>
                  <a:srgbClr val="476072"/>
                </a:solidFill>
                <a:latin typeface="Arial"/>
                <a:ea typeface="Arial"/>
                <a:cs typeface="Arial"/>
              </a:defRPr>
            </a:lvl8pPr>
            <a:lvl9pPr algn="l">
              <a:defRPr sz="1800" b="0">
                <a:solidFill>
                  <a:srgbClr val="476072"/>
                </a:solidFill>
                <a:latin typeface="Arial"/>
                <a:ea typeface="Arial"/>
                <a:cs typeface="Arial"/>
              </a:defRPr>
            </a:lvl9pPr>
          </a:lstStyle>
          <a:p xmlns:a="http://schemas.openxmlformats.org/drawingml/2006/main">
            <a:pPr algn="l">
              <a:defRPr sz="1800" b="0">
                <a:solidFill>
                  <a:srgbClr val="476072"/>
                </a:solidFill>
                <a:latin typeface="Arial"/>
                <a:ea typeface="Arial"/>
                <a:cs typeface="Arial"/>
              </a:defRPr>
            </a:pPr>
            <a:r>
              <a:rPr sz="1800" b="0">
                <a:solidFill>
                  <a:srgbClr val="476072"/>
                </a:solidFill>
                <a:latin typeface="Arial"/>
                <a:ea typeface="Arial"/>
                <a:cs typeface="Arial"/>
              </a:rPr>
              <a:t>Top 10% hits: 73 → 68</a:t>
            </a:r>
          </a:p>
        </p:txBody>
      </p:sp>
      <p:sp>
        <p:nvSpPr>
          <p:cNvPr id="11" name="decision">
            <a:extLst xmlns:a="http://schemas.openxmlformats.org/drawingml/2006/main">
              <a:ext uri="{FF2B5EF4-FFF2-40B4-BE49-F238E27FC236}">
                <a16:creationId xmlns:a16="http://schemas.microsoft.com/office/drawing/2014/main" id="{01E74DAA-7749-40FD-B161-A97FEA118569}"/>
              </a:ext>
            </a:extLst>
          </p:cNvPr>
          <p:cNvSpPr>
            <a:spLocks xmlns:a="http://schemas.openxmlformats.org/drawingml/2006/main" noGrp="1"/>
          </p:cNvSpPr>
          <p:nvPr/>
        </p:nvSpPr>
        <p:spPr>
          <a:xfrm xmlns:a="http://schemas.openxmlformats.org/drawingml/2006/main">
            <a:off x="704850" y="4495800"/>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23452"/>
                </a:solidFill>
                <a:latin typeface="Arial"/>
                <a:ea typeface="Arial"/>
                <a:cs typeface="Arial"/>
              </a:defRPr>
            </a:defPPr>
            <a:lvl1pPr algn="l">
              <a:defRPr sz="2550" b="1">
                <a:solidFill>
                  <a:srgbClr val="123452"/>
                </a:solidFill>
                <a:latin typeface="Arial"/>
                <a:ea typeface="Arial"/>
                <a:cs typeface="Arial"/>
              </a:defRPr>
            </a:lvl1pPr>
            <a:lvl2pPr algn="l">
              <a:defRPr sz="2550" b="1">
                <a:solidFill>
                  <a:srgbClr val="123452"/>
                </a:solidFill>
                <a:latin typeface="Arial"/>
                <a:ea typeface="Arial"/>
                <a:cs typeface="Arial"/>
              </a:defRPr>
            </a:lvl2pPr>
            <a:lvl3pPr algn="l">
              <a:defRPr sz="2550" b="1">
                <a:solidFill>
                  <a:srgbClr val="123452"/>
                </a:solidFill>
                <a:latin typeface="Arial"/>
                <a:ea typeface="Arial"/>
                <a:cs typeface="Arial"/>
              </a:defRPr>
            </a:lvl3pPr>
            <a:lvl4pPr algn="l">
              <a:defRPr sz="2550" b="1">
                <a:solidFill>
                  <a:srgbClr val="123452"/>
                </a:solidFill>
                <a:latin typeface="Arial"/>
                <a:ea typeface="Arial"/>
                <a:cs typeface="Arial"/>
              </a:defRPr>
            </a:lvl4pPr>
            <a:lvl5pPr algn="l">
              <a:defRPr sz="2550" b="1">
                <a:solidFill>
                  <a:srgbClr val="123452"/>
                </a:solidFill>
                <a:latin typeface="Arial"/>
                <a:ea typeface="Arial"/>
                <a:cs typeface="Arial"/>
              </a:defRPr>
            </a:lvl5pPr>
            <a:lvl6pPr algn="l">
              <a:defRPr sz="2550" b="1">
                <a:solidFill>
                  <a:srgbClr val="123452"/>
                </a:solidFill>
                <a:latin typeface="Arial"/>
                <a:ea typeface="Arial"/>
                <a:cs typeface="Arial"/>
              </a:defRPr>
            </a:lvl6pPr>
            <a:lvl7pPr algn="l">
              <a:defRPr sz="2550" b="1">
                <a:solidFill>
                  <a:srgbClr val="123452"/>
                </a:solidFill>
                <a:latin typeface="Arial"/>
                <a:ea typeface="Arial"/>
                <a:cs typeface="Arial"/>
              </a:defRPr>
            </a:lvl7pPr>
            <a:lvl8pPr algn="l">
              <a:defRPr sz="2550" b="1">
                <a:solidFill>
                  <a:srgbClr val="123452"/>
                </a:solidFill>
                <a:latin typeface="Arial"/>
                <a:ea typeface="Arial"/>
                <a:cs typeface="Arial"/>
              </a:defRPr>
            </a:lvl8pPr>
            <a:lvl9pPr algn="l">
              <a:defRPr sz="2550" b="1">
                <a:solidFill>
                  <a:srgbClr val="123452"/>
                </a:solidFill>
                <a:latin typeface="Arial"/>
                <a:ea typeface="Arial"/>
                <a:cs typeface="Arial"/>
              </a:defRPr>
            </a:lvl9pPr>
          </a:lstStyle>
          <a:p xmlns:a="http://schemas.openxmlformats.org/drawingml/2006/main">
            <a:pPr algn="l">
              <a:defRPr sz="2550" b="1">
                <a:solidFill>
                  <a:srgbClr val="123452"/>
                </a:solidFill>
                <a:latin typeface="Arial"/>
                <a:ea typeface="Arial"/>
                <a:cs typeface="Arial"/>
              </a:defRPr>
            </a:pPr>
            <a:r>
              <a:rPr sz="2550" b="1">
                <a:solidFill>
                  <a:srgbClr val="123452"/>
                </a:solidFill>
                <a:latin typeface="Arial"/>
                <a:ea typeface="Arial"/>
                <a:cs typeface="Arial"/>
              </a:rPr>
              <a:t>Keep the original classifier as the demonstration baseline.</a:t>
            </a:r>
          </a:p>
        </p:txBody>
      </p:sp>
      <p:sp>
        <p:nvSpPr>
          <p:cNvPr id="12" name="disclosure">
            <a:extLst xmlns:a="http://schemas.openxmlformats.org/drawingml/2006/main">
              <a:ext uri="{FF2B5EF4-FFF2-40B4-BE49-F238E27FC236}">
                <a16:creationId xmlns:a16="http://schemas.microsoft.com/office/drawing/2014/main" id="{D8074C77-ACF5-4BD6-A3EA-763EB9E47176}"/>
              </a:ext>
            </a:extLst>
          </p:cNvPr>
          <p:cNvSpPr>
            <a:spLocks xmlns:a="http://schemas.openxmlformats.org/drawingml/2006/main" noGrp="1"/>
          </p:cNvSpPr>
          <p:nvPr/>
        </p:nvSpPr>
        <p:spPr>
          <a:xfrm xmlns:a="http://schemas.openxmlformats.org/drawingml/2006/main">
            <a:off x="704850" y="5286375"/>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94842"/>
                </a:solidFill>
                <a:latin typeface="Arial"/>
                <a:ea typeface="Arial"/>
                <a:cs typeface="Arial"/>
              </a:defRPr>
            </a:defPPr>
            <a:lvl1pPr algn="l">
              <a:defRPr sz="1725" b="0">
                <a:solidFill>
                  <a:srgbClr val="A94842"/>
                </a:solidFill>
                <a:latin typeface="Arial"/>
                <a:ea typeface="Arial"/>
                <a:cs typeface="Arial"/>
              </a:defRPr>
            </a:lvl1pPr>
            <a:lvl2pPr algn="l">
              <a:defRPr sz="1725" b="0">
                <a:solidFill>
                  <a:srgbClr val="A94842"/>
                </a:solidFill>
                <a:latin typeface="Arial"/>
                <a:ea typeface="Arial"/>
                <a:cs typeface="Arial"/>
              </a:defRPr>
            </a:lvl2pPr>
            <a:lvl3pPr algn="l">
              <a:defRPr sz="1725" b="0">
                <a:solidFill>
                  <a:srgbClr val="A94842"/>
                </a:solidFill>
                <a:latin typeface="Arial"/>
                <a:ea typeface="Arial"/>
                <a:cs typeface="Arial"/>
              </a:defRPr>
            </a:lvl3pPr>
            <a:lvl4pPr algn="l">
              <a:defRPr sz="1725" b="0">
                <a:solidFill>
                  <a:srgbClr val="A94842"/>
                </a:solidFill>
                <a:latin typeface="Arial"/>
                <a:ea typeface="Arial"/>
                <a:cs typeface="Arial"/>
              </a:defRPr>
            </a:lvl4pPr>
            <a:lvl5pPr algn="l">
              <a:defRPr sz="1725" b="0">
                <a:solidFill>
                  <a:srgbClr val="A94842"/>
                </a:solidFill>
                <a:latin typeface="Arial"/>
                <a:ea typeface="Arial"/>
                <a:cs typeface="Arial"/>
              </a:defRPr>
            </a:lvl5pPr>
            <a:lvl6pPr algn="l">
              <a:defRPr sz="1725" b="0">
                <a:solidFill>
                  <a:srgbClr val="A94842"/>
                </a:solidFill>
                <a:latin typeface="Arial"/>
                <a:ea typeface="Arial"/>
                <a:cs typeface="Arial"/>
              </a:defRPr>
            </a:lvl6pPr>
            <a:lvl7pPr algn="l">
              <a:defRPr sz="1725" b="0">
                <a:solidFill>
                  <a:srgbClr val="A94842"/>
                </a:solidFill>
                <a:latin typeface="Arial"/>
                <a:ea typeface="Arial"/>
                <a:cs typeface="Arial"/>
              </a:defRPr>
            </a:lvl7pPr>
            <a:lvl8pPr algn="l">
              <a:defRPr sz="1725" b="0">
                <a:solidFill>
                  <a:srgbClr val="A94842"/>
                </a:solidFill>
                <a:latin typeface="Arial"/>
                <a:ea typeface="Arial"/>
                <a:cs typeface="Arial"/>
              </a:defRPr>
            </a:lvl8pPr>
            <a:lvl9pPr algn="l">
              <a:defRPr sz="1725" b="0">
                <a:solidFill>
                  <a:srgbClr val="A94842"/>
                </a:solidFill>
                <a:latin typeface="Arial"/>
                <a:ea typeface="Arial"/>
                <a:cs typeface="Arial"/>
              </a:defRPr>
            </a:lvl9pPr>
          </a:lstStyle>
          <a:p xmlns:a="http://schemas.openxmlformats.org/drawingml/2006/main">
            <a:pPr algn="l">
              <a:defRPr sz="1725" b="0">
                <a:solidFill>
                  <a:srgbClr val="A94842"/>
                </a:solidFill>
                <a:latin typeface="Arial"/>
                <a:ea typeface="Arial"/>
                <a:cs typeface="Arial"/>
              </a:defRPr>
            </a:pPr>
            <a:r>
              <a:rPr sz="1725" b="0">
                <a:solidFill>
                  <a:srgbClr val="A94842"/>
                </a:solidFill>
                <a:latin typeface="Arial"/>
                <a:ea typeface="Arial"/>
                <a:cs typeface="Arial"/>
              </a:rPr>
              <a:t>The later quarter was already public; more periods or new data are needed.</a:t>
            </a:r>
          </a:p>
        </p:txBody>
      </p:sp>
    </p:spTree>
    <p:extLst>
      <p:ext uri="{BB962C8B-B14F-4D97-AF65-F5344CB8AC3E}">
        <p14:creationId xmlns:p14="http://schemas.microsoft.com/office/powerpoint/2010/main" val="10691061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yebrow-8">
            <a:extLst xmlns:a="http://schemas.openxmlformats.org/drawingml/2006/main">
              <a:ext uri="{FF2B5EF4-FFF2-40B4-BE49-F238E27FC236}">
                <a16:creationId xmlns:a16="http://schemas.microsoft.com/office/drawing/2014/main" id="{79DD1D7B-2A04-4660-ABB5-AD598916E9D8}"/>
              </a:ext>
            </a:extLst>
          </p:cNvPr>
          <p:cNvSpPr>
            <a:spLocks xmlns:a="http://schemas.openxmlformats.org/drawingml/2006/main" noGrp="1"/>
          </p:cNvSpPr>
          <p:nvPr/>
        </p:nvSpPr>
        <p:spPr>
          <a:xfrm xmlns:a="http://schemas.openxmlformats.org/drawingml/2006/main">
            <a:off x="647700" y="2667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46895"/>
                </a:solidFill>
                <a:latin typeface="Arial"/>
                <a:ea typeface="Arial"/>
                <a:cs typeface="Arial"/>
              </a:defRPr>
            </a:defPPr>
            <a:lvl1pPr algn="l">
              <a:defRPr sz="1200" b="1">
                <a:solidFill>
                  <a:srgbClr val="246895"/>
                </a:solidFill>
                <a:latin typeface="Arial"/>
                <a:ea typeface="Arial"/>
                <a:cs typeface="Arial"/>
              </a:defRPr>
            </a:lvl1pPr>
            <a:lvl2pPr algn="l">
              <a:defRPr sz="1200" b="1">
                <a:solidFill>
                  <a:srgbClr val="246895"/>
                </a:solidFill>
                <a:latin typeface="Arial"/>
                <a:ea typeface="Arial"/>
                <a:cs typeface="Arial"/>
              </a:defRPr>
            </a:lvl2pPr>
            <a:lvl3pPr algn="l">
              <a:defRPr sz="1200" b="1">
                <a:solidFill>
                  <a:srgbClr val="246895"/>
                </a:solidFill>
                <a:latin typeface="Arial"/>
                <a:ea typeface="Arial"/>
                <a:cs typeface="Arial"/>
              </a:defRPr>
            </a:lvl3pPr>
            <a:lvl4pPr algn="l">
              <a:defRPr sz="1200" b="1">
                <a:solidFill>
                  <a:srgbClr val="246895"/>
                </a:solidFill>
                <a:latin typeface="Arial"/>
                <a:ea typeface="Arial"/>
                <a:cs typeface="Arial"/>
              </a:defRPr>
            </a:lvl4pPr>
            <a:lvl5pPr algn="l">
              <a:defRPr sz="1200" b="1">
                <a:solidFill>
                  <a:srgbClr val="246895"/>
                </a:solidFill>
                <a:latin typeface="Arial"/>
                <a:ea typeface="Arial"/>
                <a:cs typeface="Arial"/>
              </a:defRPr>
            </a:lvl5pPr>
            <a:lvl6pPr algn="l">
              <a:defRPr sz="1200" b="1">
                <a:solidFill>
                  <a:srgbClr val="246895"/>
                </a:solidFill>
                <a:latin typeface="Arial"/>
                <a:ea typeface="Arial"/>
                <a:cs typeface="Arial"/>
              </a:defRPr>
            </a:lvl6pPr>
            <a:lvl7pPr algn="l">
              <a:defRPr sz="1200" b="1">
                <a:solidFill>
                  <a:srgbClr val="246895"/>
                </a:solidFill>
                <a:latin typeface="Arial"/>
                <a:ea typeface="Arial"/>
                <a:cs typeface="Arial"/>
              </a:defRPr>
            </a:lvl7pPr>
            <a:lvl8pPr algn="l">
              <a:defRPr sz="1200" b="1">
                <a:solidFill>
                  <a:srgbClr val="246895"/>
                </a:solidFill>
                <a:latin typeface="Arial"/>
                <a:ea typeface="Arial"/>
                <a:cs typeface="Arial"/>
              </a:defRPr>
            </a:lvl8pPr>
            <a:lvl9pPr algn="l">
              <a:defRPr sz="1200" b="1">
                <a:solidFill>
                  <a:srgbClr val="246895"/>
                </a:solidFill>
                <a:latin typeface="Arial"/>
                <a:ea typeface="Arial"/>
                <a:cs typeface="Arial"/>
              </a:defRPr>
            </a:lvl9pPr>
          </a:lstStyle>
          <a:p xmlns:a="http://schemas.openxmlformats.org/drawingml/2006/main">
            <a:pPr algn="l">
              <a:defRPr sz="1200" b="1">
                <a:solidFill>
                  <a:srgbClr val="246895"/>
                </a:solidFill>
                <a:latin typeface="Arial"/>
                <a:ea typeface="Arial"/>
                <a:cs typeface="Arial"/>
              </a:defRPr>
            </a:pPr>
            <a:r>
              <a:rPr sz="1200" b="1">
                <a:solidFill>
                  <a:srgbClr val="246895"/>
                </a:solidFill>
                <a:latin typeface="Arial"/>
                <a:ea typeface="Arial"/>
                <a:cs typeface="Arial"/>
              </a:rPr>
              <a:t>IS6400  /  OLIST REPURCHASE</a:t>
            </a:r>
          </a:p>
        </p:txBody>
      </p:sp>
      <p:sp>
        <p:nvSpPr>
          <p:cNvPr id="2" name="title-8">
            <a:extLst xmlns:a="http://schemas.openxmlformats.org/drawingml/2006/main">
              <a:ext uri="{FF2B5EF4-FFF2-40B4-BE49-F238E27FC236}">
                <a16:creationId xmlns:a16="http://schemas.microsoft.com/office/drawing/2014/main" id="{7298BCEE-67A1-4E73-B579-7C780EE8D57A}"/>
              </a:ext>
            </a:extLst>
          </p:cNvPr>
          <p:cNvSpPr>
            <a:spLocks xmlns:a="http://schemas.openxmlformats.org/drawingml/2006/main" noGrp="1"/>
          </p:cNvSpPr>
          <p:nvPr/>
        </p:nvSpPr>
        <p:spPr>
          <a:xfrm xmlns:a="http://schemas.openxmlformats.org/drawingml/2006/main">
            <a:off x="647700" y="6667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23452"/>
                </a:solidFill>
                <a:latin typeface="Arial"/>
                <a:ea typeface="Arial"/>
                <a:cs typeface="Arial"/>
              </a:defRPr>
            </a:defPPr>
            <a:lvl1pPr algn="l">
              <a:defRPr sz="3225" b="1">
                <a:solidFill>
                  <a:srgbClr val="123452"/>
                </a:solidFill>
                <a:latin typeface="Arial"/>
                <a:ea typeface="Arial"/>
                <a:cs typeface="Arial"/>
              </a:defRPr>
            </a:lvl1pPr>
            <a:lvl2pPr algn="l">
              <a:defRPr sz="3225" b="1">
                <a:solidFill>
                  <a:srgbClr val="123452"/>
                </a:solidFill>
                <a:latin typeface="Arial"/>
                <a:ea typeface="Arial"/>
                <a:cs typeface="Arial"/>
              </a:defRPr>
            </a:lvl2pPr>
            <a:lvl3pPr algn="l">
              <a:defRPr sz="3225" b="1">
                <a:solidFill>
                  <a:srgbClr val="123452"/>
                </a:solidFill>
                <a:latin typeface="Arial"/>
                <a:ea typeface="Arial"/>
                <a:cs typeface="Arial"/>
              </a:defRPr>
            </a:lvl3pPr>
            <a:lvl4pPr algn="l">
              <a:defRPr sz="3225" b="1">
                <a:solidFill>
                  <a:srgbClr val="123452"/>
                </a:solidFill>
                <a:latin typeface="Arial"/>
                <a:ea typeface="Arial"/>
                <a:cs typeface="Arial"/>
              </a:defRPr>
            </a:lvl4pPr>
            <a:lvl5pPr algn="l">
              <a:defRPr sz="3225" b="1">
                <a:solidFill>
                  <a:srgbClr val="123452"/>
                </a:solidFill>
                <a:latin typeface="Arial"/>
                <a:ea typeface="Arial"/>
                <a:cs typeface="Arial"/>
              </a:defRPr>
            </a:lvl5pPr>
            <a:lvl6pPr algn="l">
              <a:defRPr sz="3225" b="1">
                <a:solidFill>
                  <a:srgbClr val="123452"/>
                </a:solidFill>
                <a:latin typeface="Arial"/>
                <a:ea typeface="Arial"/>
                <a:cs typeface="Arial"/>
              </a:defRPr>
            </a:lvl6pPr>
            <a:lvl7pPr algn="l">
              <a:defRPr sz="3225" b="1">
                <a:solidFill>
                  <a:srgbClr val="123452"/>
                </a:solidFill>
                <a:latin typeface="Arial"/>
                <a:ea typeface="Arial"/>
                <a:cs typeface="Arial"/>
              </a:defRPr>
            </a:lvl7pPr>
            <a:lvl8pPr algn="l">
              <a:defRPr sz="3225" b="1">
                <a:solidFill>
                  <a:srgbClr val="123452"/>
                </a:solidFill>
                <a:latin typeface="Arial"/>
                <a:ea typeface="Arial"/>
                <a:cs typeface="Arial"/>
              </a:defRPr>
            </a:lvl8pPr>
            <a:lvl9pPr algn="l">
              <a:defRPr sz="3225" b="1">
                <a:solidFill>
                  <a:srgbClr val="123452"/>
                </a:solidFill>
                <a:latin typeface="Arial"/>
                <a:ea typeface="Arial"/>
                <a:cs typeface="Arial"/>
              </a:defRPr>
            </a:lvl9pPr>
          </a:lstStyle>
          <a:p xmlns:a="http://schemas.openxmlformats.org/drawingml/2006/main">
            <a:pPr algn="l">
              <a:defRPr sz="3225" b="1">
                <a:solidFill>
                  <a:srgbClr val="123452"/>
                </a:solidFill>
                <a:latin typeface="Arial"/>
                <a:ea typeface="Arial"/>
                <a:cs typeface="Arial"/>
              </a:defRPr>
            </a:pPr>
            <a:r>
              <a:rPr sz="3225" b="1">
                <a:solidFill>
                  <a:srgbClr val="123452"/>
                </a:solidFill>
                <a:latin typeface="Arial"/>
                <a:ea typeface="Arial"/>
                <a:cs typeface="Arial"/>
              </a:rPr>
              <a:t>Use the profiles to design tests, not to claim lift</a:t>
            </a:r>
          </a:p>
        </p:txBody>
      </p:sp>
      <p:sp>
        <p:nvSpPr>
          <p:cNvPr id="3" name="footer-8">
            <a:extLst xmlns:a="http://schemas.openxmlformats.org/drawingml/2006/main">
              <a:ext uri="{FF2B5EF4-FFF2-40B4-BE49-F238E27FC236}">
                <a16:creationId xmlns:a16="http://schemas.microsoft.com/office/drawing/2014/main" id="{13CE7F91-F663-478F-ABA3-7A1E3F9AAB28}"/>
              </a:ext>
            </a:extLst>
          </p:cNvPr>
          <p:cNvSpPr>
            <a:spLocks xmlns:a="http://schemas.openxmlformats.org/drawingml/2006/main" noGrp="1"/>
          </p:cNvSpPr>
          <p:nvPr/>
        </p:nvSpPr>
        <p:spPr>
          <a:xfrm xmlns:a="http://schemas.openxmlformats.org/drawingml/2006/main">
            <a:off x="647700" y="6248400"/>
            <a:ext cx="923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77C8D"/>
                </a:solidFill>
                <a:latin typeface="Arial"/>
                <a:ea typeface="Arial"/>
                <a:cs typeface="Arial"/>
              </a:defRPr>
            </a:defPPr>
            <a:lvl1pPr algn="l">
              <a:defRPr sz="1125" b="0">
                <a:solidFill>
                  <a:srgbClr val="677C8D"/>
                </a:solidFill>
                <a:latin typeface="Arial"/>
                <a:ea typeface="Arial"/>
                <a:cs typeface="Arial"/>
              </a:defRPr>
            </a:lvl1pPr>
            <a:lvl2pPr algn="l">
              <a:defRPr sz="1125" b="0">
                <a:solidFill>
                  <a:srgbClr val="677C8D"/>
                </a:solidFill>
                <a:latin typeface="Arial"/>
                <a:ea typeface="Arial"/>
                <a:cs typeface="Arial"/>
              </a:defRPr>
            </a:lvl2pPr>
            <a:lvl3pPr algn="l">
              <a:defRPr sz="1125" b="0">
                <a:solidFill>
                  <a:srgbClr val="677C8D"/>
                </a:solidFill>
                <a:latin typeface="Arial"/>
                <a:ea typeface="Arial"/>
                <a:cs typeface="Arial"/>
              </a:defRPr>
            </a:lvl3pPr>
            <a:lvl4pPr algn="l">
              <a:defRPr sz="1125" b="0">
                <a:solidFill>
                  <a:srgbClr val="677C8D"/>
                </a:solidFill>
                <a:latin typeface="Arial"/>
                <a:ea typeface="Arial"/>
                <a:cs typeface="Arial"/>
              </a:defRPr>
            </a:lvl4pPr>
            <a:lvl5pPr algn="l">
              <a:defRPr sz="1125" b="0">
                <a:solidFill>
                  <a:srgbClr val="677C8D"/>
                </a:solidFill>
                <a:latin typeface="Arial"/>
                <a:ea typeface="Arial"/>
                <a:cs typeface="Arial"/>
              </a:defRPr>
            </a:lvl5pPr>
            <a:lvl6pPr algn="l">
              <a:defRPr sz="1125" b="0">
                <a:solidFill>
                  <a:srgbClr val="677C8D"/>
                </a:solidFill>
                <a:latin typeface="Arial"/>
                <a:ea typeface="Arial"/>
                <a:cs typeface="Arial"/>
              </a:defRPr>
            </a:lvl6pPr>
            <a:lvl7pPr algn="l">
              <a:defRPr sz="1125" b="0">
                <a:solidFill>
                  <a:srgbClr val="677C8D"/>
                </a:solidFill>
                <a:latin typeface="Arial"/>
                <a:ea typeface="Arial"/>
                <a:cs typeface="Arial"/>
              </a:defRPr>
            </a:lvl7pPr>
            <a:lvl8pPr algn="l">
              <a:defRPr sz="1125" b="0">
                <a:solidFill>
                  <a:srgbClr val="677C8D"/>
                </a:solidFill>
                <a:latin typeface="Arial"/>
                <a:ea typeface="Arial"/>
                <a:cs typeface="Arial"/>
              </a:defRPr>
            </a:lvl8pPr>
            <a:lvl9pPr algn="l">
              <a:defRPr sz="1125" b="0">
                <a:solidFill>
                  <a:srgbClr val="677C8D"/>
                </a:solidFill>
                <a:latin typeface="Arial"/>
                <a:ea typeface="Arial"/>
                <a:cs typeface="Arial"/>
              </a:defRPr>
            </a:lvl9pPr>
          </a:lstStyle>
          <a:p xmlns:a="http://schemas.openxmlformats.org/drawingml/2006/main">
            <a:pPr algn="l">
              <a:defRPr sz="1125" b="0">
                <a:solidFill>
                  <a:srgbClr val="677C8D"/>
                </a:solidFill>
                <a:latin typeface="Arial"/>
                <a:ea typeface="Arial"/>
                <a:cs typeface="Arial"/>
              </a:defRPr>
            </a:pPr>
            <a:r>
              <a:rPr sz="1125" b="0">
                <a:solidFill>
                  <a:srgbClr val="677C8D"/>
                </a:solidFill>
                <a:latin typeface="Arial"/>
                <a:ea typeface="Arial"/>
                <a:cs typeface="Arial"/>
              </a:rPr>
              <a:t>Olist historical orders, 2016–2018  •  Exploratory evidence</a:t>
            </a:r>
          </a:p>
        </p:txBody>
      </p:sp>
      <p:sp>
        <p:nvSpPr>
          <p:cNvPr id="4" name="page-8">
            <a:extLst xmlns:a="http://schemas.openxmlformats.org/drawingml/2006/main">
              <a:ext uri="{FF2B5EF4-FFF2-40B4-BE49-F238E27FC236}">
                <a16:creationId xmlns:a16="http://schemas.microsoft.com/office/drawing/2014/main" id="{4015DA7D-19C2-45C7-A6E3-399D411E335E}"/>
              </a:ext>
            </a:extLst>
          </p:cNvPr>
          <p:cNvSpPr>
            <a:spLocks xmlns:a="http://schemas.openxmlformats.org/drawingml/2006/main" noGrp="1"/>
          </p:cNvSpPr>
          <p:nvPr/>
        </p:nvSpPr>
        <p:spPr>
          <a:xfrm xmlns:a="http://schemas.openxmlformats.org/drawingml/2006/main">
            <a:off x="10763250" y="6248400"/>
            <a:ext cx="76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0">
                <a:solidFill>
                  <a:srgbClr val="677C8D"/>
                </a:solidFill>
                <a:latin typeface="Arial"/>
                <a:ea typeface="Arial"/>
                <a:cs typeface="Arial"/>
              </a:defRPr>
            </a:defPPr>
            <a:lvl1pPr algn="r">
              <a:defRPr sz="1125" b="0">
                <a:solidFill>
                  <a:srgbClr val="677C8D"/>
                </a:solidFill>
                <a:latin typeface="Arial"/>
                <a:ea typeface="Arial"/>
                <a:cs typeface="Arial"/>
              </a:defRPr>
            </a:lvl1pPr>
            <a:lvl2pPr algn="r">
              <a:defRPr sz="1125" b="0">
                <a:solidFill>
                  <a:srgbClr val="677C8D"/>
                </a:solidFill>
                <a:latin typeface="Arial"/>
                <a:ea typeface="Arial"/>
                <a:cs typeface="Arial"/>
              </a:defRPr>
            </a:lvl2pPr>
            <a:lvl3pPr algn="r">
              <a:defRPr sz="1125" b="0">
                <a:solidFill>
                  <a:srgbClr val="677C8D"/>
                </a:solidFill>
                <a:latin typeface="Arial"/>
                <a:ea typeface="Arial"/>
                <a:cs typeface="Arial"/>
              </a:defRPr>
            </a:lvl3pPr>
            <a:lvl4pPr algn="r">
              <a:defRPr sz="1125" b="0">
                <a:solidFill>
                  <a:srgbClr val="677C8D"/>
                </a:solidFill>
                <a:latin typeface="Arial"/>
                <a:ea typeface="Arial"/>
                <a:cs typeface="Arial"/>
              </a:defRPr>
            </a:lvl4pPr>
            <a:lvl5pPr algn="r">
              <a:defRPr sz="1125" b="0">
                <a:solidFill>
                  <a:srgbClr val="677C8D"/>
                </a:solidFill>
                <a:latin typeface="Arial"/>
                <a:ea typeface="Arial"/>
                <a:cs typeface="Arial"/>
              </a:defRPr>
            </a:lvl5pPr>
            <a:lvl6pPr algn="r">
              <a:defRPr sz="1125" b="0">
                <a:solidFill>
                  <a:srgbClr val="677C8D"/>
                </a:solidFill>
                <a:latin typeface="Arial"/>
                <a:ea typeface="Arial"/>
                <a:cs typeface="Arial"/>
              </a:defRPr>
            </a:lvl6pPr>
            <a:lvl7pPr algn="r">
              <a:defRPr sz="1125" b="0">
                <a:solidFill>
                  <a:srgbClr val="677C8D"/>
                </a:solidFill>
                <a:latin typeface="Arial"/>
                <a:ea typeface="Arial"/>
                <a:cs typeface="Arial"/>
              </a:defRPr>
            </a:lvl7pPr>
            <a:lvl8pPr algn="r">
              <a:defRPr sz="1125" b="0">
                <a:solidFill>
                  <a:srgbClr val="677C8D"/>
                </a:solidFill>
                <a:latin typeface="Arial"/>
                <a:ea typeface="Arial"/>
                <a:cs typeface="Arial"/>
              </a:defRPr>
            </a:lvl8pPr>
            <a:lvl9pPr algn="r">
              <a:defRPr sz="1125" b="0">
                <a:solidFill>
                  <a:srgbClr val="677C8D"/>
                </a:solidFill>
                <a:latin typeface="Arial"/>
                <a:ea typeface="Arial"/>
                <a:cs typeface="Arial"/>
              </a:defRPr>
            </a:lvl9pPr>
          </a:lstStyle>
          <a:p xmlns:a="http://schemas.openxmlformats.org/drawingml/2006/main">
            <a:pPr algn="r">
              <a:defRPr sz="1125" b="0">
                <a:solidFill>
                  <a:srgbClr val="677C8D"/>
                </a:solidFill>
                <a:latin typeface="Arial"/>
                <a:ea typeface="Arial"/>
                <a:cs typeface="Arial"/>
              </a:defRPr>
            </a:pPr>
            <a:r>
              <a:rPr sz="1125" b="0">
                <a:solidFill>
                  <a:srgbClr val="677C8D"/>
                </a:solidFill>
                <a:latin typeface="Arial"/>
                <a:ea typeface="Arial"/>
                <a:cs typeface="Arial"/>
              </a:rPr>
              <a:t>8 / 8</a:t>
            </a:r>
          </a:p>
        </p:txBody>
      </p:sp>
      <p:sp>
        <p:nvSpPr>
          <p:cNvPr id="5" name="action1">
            <a:extLst xmlns:a="http://schemas.openxmlformats.org/drawingml/2006/main">
              <a:ext uri="{FF2B5EF4-FFF2-40B4-BE49-F238E27FC236}">
                <a16:creationId xmlns:a16="http://schemas.microsoft.com/office/drawing/2014/main" id="{89E22614-6561-4293-81B1-1F83785F4A5A}"/>
              </a:ext>
            </a:extLst>
          </p:cNvPr>
          <p:cNvSpPr>
            <a:spLocks xmlns:a="http://schemas.openxmlformats.org/drawingml/2006/main" noGrp="1"/>
          </p:cNvSpPr>
          <p:nvPr/>
        </p:nvSpPr>
        <p:spPr>
          <a:xfrm xmlns:a="http://schemas.openxmlformats.org/drawingml/2006/main">
            <a:off x="704850" y="1762125"/>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72638"/>
                </a:solidFill>
                <a:latin typeface="Arial"/>
                <a:ea typeface="Arial"/>
                <a:cs typeface="Arial"/>
              </a:defRPr>
            </a:defPPr>
            <a:lvl1pPr algn="l">
              <a:defRPr sz="2250" b="1">
                <a:solidFill>
                  <a:srgbClr val="172638"/>
                </a:solidFill>
                <a:latin typeface="Arial"/>
                <a:ea typeface="Arial"/>
                <a:cs typeface="Arial"/>
              </a:defRPr>
            </a:lvl1pPr>
            <a:lvl2pPr algn="l">
              <a:defRPr sz="2250" b="1">
                <a:solidFill>
                  <a:srgbClr val="172638"/>
                </a:solidFill>
                <a:latin typeface="Arial"/>
                <a:ea typeface="Arial"/>
                <a:cs typeface="Arial"/>
              </a:defRPr>
            </a:lvl2pPr>
            <a:lvl3pPr algn="l">
              <a:defRPr sz="2250" b="1">
                <a:solidFill>
                  <a:srgbClr val="172638"/>
                </a:solidFill>
                <a:latin typeface="Arial"/>
                <a:ea typeface="Arial"/>
                <a:cs typeface="Arial"/>
              </a:defRPr>
            </a:lvl3pPr>
            <a:lvl4pPr algn="l">
              <a:defRPr sz="2250" b="1">
                <a:solidFill>
                  <a:srgbClr val="172638"/>
                </a:solidFill>
                <a:latin typeface="Arial"/>
                <a:ea typeface="Arial"/>
                <a:cs typeface="Arial"/>
              </a:defRPr>
            </a:lvl4pPr>
            <a:lvl5pPr algn="l">
              <a:defRPr sz="2250" b="1">
                <a:solidFill>
                  <a:srgbClr val="172638"/>
                </a:solidFill>
                <a:latin typeface="Arial"/>
                <a:ea typeface="Arial"/>
                <a:cs typeface="Arial"/>
              </a:defRPr>
            </a:lvl5pPr>
            <a:lvl6pPr algn="l">
              <a:defRPr sz="2250" b="1">
                <a:solidFill>
                  <a:srgbClr val="172638"/>
                </a:solidFill>
                <a:latin typeface="Arial"/>
                <a:ea typeface="Arial"/>
                <a:cs typeface="Arial"/>
              </a:defRPr>
            </a:lvl6pPr>
            <a:lvl7pPr algn="l">
              <a:defRPr sz="2250" b="1">
                <a:solidFill>
                  <a:srgbClr val="172638"/>
                </a:solidFill>
                <a:latin typeface="Arial"/>
                <a:ea typeface="Arial"/>
                <a:cs typeface="Arial"/>
              </a:defRPr>
            </a:lvl7pPr>
            <a:lvl8pPr algn="l">
              <a:defRPr sz="2250" b="1">
                <a:solidFill>
                  <a:srgbClr val="172638"/>
                </a:solidFill>
                <a:latin typeface="Arial"/>
                <a:ea typeface="Arial"/>
                <a:cs typeface="Arial"/>
              </a:defRPr>
            </a:lvl8pPr>
            <a:lvl9pPr algn="l">
              <a:defRPr sz="2250" b="1">
                <a:solidFill>
                  <a:srgbClr val="172638"/>
                </a:solidFill>
                <a:latin typeface="Arial"/>
                <a:ea typeface="Arial"/>
                <a:cs typeface="Arial"/>
              </a:defRPr>
            </a:lvl9pPr>
          </a:lstStyle>
          <a:p xmlns:a="http://schemas.openxmlformats.org/drawingml/2006/main">
            <a:pPr algn="l">
              <a:defRPr sz="2250" b="1">
                <a:solidFill>
                  <a:srgbClr val="172638"/>
                </a:solidFill>
                <a:latin typeface="Arial"/>
                <a:ea typeface="Arial"/>
                <a:cs typeface="Arial"/>
              </a:defRPr>
            </a:pPr>
            <a:r>
              <a:rPr sz="2250" b="1">
                <a:solidFill>
                  <a:srgbClr val="172638"/>
                </a:solidFill>
                <a:latin typeface="Arial"/>
                <a:ea typeface="Arial"/>
                <a:cs typeface="Arial"/>
              </a:rPr>
              <a:t>1   Review the ranked 10% list as a prioritization aid.</a:t>
            </a:r>
          </a:p>
        </p:txBody>
      </p:sp>
      <p:sp>
        <p:nvSpPr>
          <p:cNvPr id="6" name="action2">
            <a:extLst xmlns:a="http://schemas.openxmlformats.org/drawingml/2006/main">
              <a:ext uri="{FF2B5EF4-FFF2-40B4-BE49-F238E27FC236}">
                <a16:creationId xmlns:a16="http://schemas.microsoft.com/office/drawing/2014/main" id="{4F584B3E-8BF9-4E78-AAAF-4D3C022DF7C5}"/>
              </a:ext>
            </a:extLst>
          </p:cNvPr>
          <p:cNvSpPr>
            <a:spLocks xmlns:a="http://schemas.openxmlformats.org/drawingml/2006/main" noGrp="1"/>
          </p:cNvSpPr>
          <p:nvPr/>
        </p:nvSpPr>
        <p:spPr>
          <a:xfrm xmlns:a="http://schemas.openxmlformats.org/drawingml/2006/main">
            <a:off x="704850" y="2619375"/>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72638"/>
                </a:solidFill>
                <a:latin typeface="Arial"/>
                <a:ea typeface="Arial"/>
                <a:cs typeface="Arial"/>
              </a:defRPr>
            </a:defPPr>
            <a:lvl1pPr algn="l">
              <a:defRPr sz="2250" b="1">
                <a:solidFill>
                  <a:srgbClr val="172638"/>
                </a:solidFill>
                <a:latin typeface="Arial"/>
                <a:ea typeface="Arial"/>
                <a:cs typeface="Arial"/>
              </a:defRPr>
            </a:lvl1pPr>
            <a:lvl2pPr algn="l">
              <a:defRPr sz="2250" b="1">
                <a:solidFill>
                  <a:srgbClr val="172638"/>
                </a:solidFill>
                <a:latin typeface="Arial"/>
                <a:ea typeface="Arial"/>
                <a:cs typeface="Arial"/>
              </a:defRPr>
            </a:lvl2pPr>
            <a:lvl3pPr algn="l">
              <a:defRPr sz="2250" b="1">
                <a:solidFill>
                  <a:srgbClr val="172638"/>
                </a:solidFill>
                <a:latin typeface="Arial"/>
                <a:ea typeface="Arial"/>
                <a:cs typeface="Arial"/>
              </a:defRPr>
            </a:lvl3pPr>
            <a:lvl4pPr algn="l">
              <a:defRPr sz="2250" b="1">
                <a:solidFill>
                  <a:srgbClr val="172638"/>
                </a:solidFill>
                <a:latin typeface="Arial"/>
                <a:ea typeface="Arial"/>
                <a:cs typeface="Arial"/>
              </a:defRPr>
            </a:lvl4pPr>
            <a:lvl5pPr algn="l">
              <a:defRPr sz="2250" b="1">
                <a:solidFill>
                  <a:srgbClr val="172638"/>
                </a:solidFill>
                <a:latin typeface="Arial"/>
                <a:ea typeface="Arial"/>
                <a:cs typeface="Arial"/>
              </a:defRPr>
            </a:lvl5pPr>
            <a:lvl6pPr algn="l">
              <a:defRPr sz="2250" b="1">
                <a:solidFill>
                  <a:srgbClr val="172638"/>
                </a:solidFill>
                <a:latin typeface="Arial"/>
                <a:ea typeface="Arial"/>
                <a:cs typeface="Arial"/>
              </a:defRPr>
            </a:lvl6pPr>
            <a:lvl7pPr algn="l">
              <a:defRPr sz="2250" b="1">
                <a:solidFill>
                  <a:srgbClr val="172638"/>
                </a:solidFill>
                <a:latin typeface="Arial"/>
                <a:ea typeface="Arial"/>
                <a:cs typeface="Arial"/>
              </a:defRPr>
            </a:lvl7pPr>
            <a:lvl8pPr algn="l">
              <a:defRPr sz="2250" b="1">
                <a:solidFill>
                  <a:srgbClr val="172638"/>
                </a:solidFill>
                <a:latin typeface="Arial"/>
                <a:ea typeface="Arial"/>
                <a:cs typeface="Arial"/>
              </a:defRPr>
            </a:lvl8pPr>
            <a:lvl9pPr algn="l">
              <a:defRPr sz="2250" b="1">
                <a:solidFill>
                  <a:srgbClr val="172638"/>
                </a:solidFill>
                <a:latin typeface="Arial"/>
                <a:ea typeface="Arial"/>
                <a:cs typeface="Arial"/>
              </a:defRPr>
            </a:lvl9pPr>
          </a:lstStyle>
          <a:p xmlns:a="http://schemas.openxmlformats.org/drawingml/2006/main">
            <a:pPr algn="l">
              <a:defRPr sz="2250" b="1">
                <a:solidFill>
                  <a:srgbClr val="172638"/>
                </a:solidFill>
                <a:latin typeface="Arial"/>
                <a:ea typeface="Arial"/>
                <a:cs typeface="Arial"/>
              </a:defRPr>
            </a:pPr>
            <a:r>
              <a:rPr sz="2250" b="1">
                <a:solidFill>
                  <a:srgbClr val="172638"/>
                </a:solidFill>
                <a:latin typeface="Arial"/>
                <a:ea typeface="Arial"/>
                <a:cs typeface="Arial"/>
              </a:rPr>
              <a:t>2   Test different service or content for repeat-history groups.</a:t>
            </a:r>
          </a:p>
        </p:txBody>
      </p:sp>
      <p:sp>
        <p:nvSpPr>
          <p:cNvPr id="7" name="action3">
            <a:extLst xmlns:a="http://schemas.openxmlformats.org/drawingml/2006/main">
              <a:ext uri="{FF2B5EF4-FFF2-40B4-BE49-F238E27FC236}">
                <a16:creationId xmlns:a16="http://schemas.microsoft.com/office/drawing/2014/main" id="{5A4DE67C-EB1B-4388-9E3F-2CBA3DE2F450}"/>
              </a:ext>
            </a:extLst>
          </p:cNvPr>
          <p:cNvSpPr>
            <a:spLocks xmlns:a="http://schemas.openxmlformats.org/drawingml/2006/main" noGrp="1"/>
          </p:cNvSpPr>
          <p:nvPr/>
        </p:nvSpPr>
        <p:spPr>
          <a:xfrm xmlns:a="http://schemas.openxmlformats.org/drawingml/2006/main">
            <a:off x="704850" y="3476625"/>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72638"/>
                </a:solidFill>
                <a:latin typeface="Arial"/>
                <a:ea typeface="Arial"/>
                <a:cs typeface="Arial"/>
              </a:defRPr>
            </a:defPPr>
            <a:lvl1pPr algn="l">
              <a:defRPr sz="2250" b="1">
                <a:solidFill>
                  <a:srgbClr val="172638"/>
                </a:solidFill>
                <a:latin typeface="Arial"/>
                <a:ea typeface="Arial"/>
                <a:cs typeface="Arial"/>
              </a:defRPr>
            </a:lvl1pPr>
            <a:lvl2pPr algn="l">
              <a:defRPr sz="2250" b="1">
                <a:solidFill>
                  <a:srgbClr val="172638"/>
                </a:solidFill>
                <a:latin typeface="Arial"/>
                <a:ea typeface="Arial"/>
                <a:cs typeface="Arial"/>
              </a:defRPr>
            </a:lvl2pPr>
            <a:lvl3pPr algn="l">
              <a:defRPr sz="2250" b="1">
                <a:solidFill>
                  <a:srgbClr val="172638"/>
                </a:solidFill>
                <a:latin typeface="Arial"/>
                <a:ea typeface="Arial"/>
                <a:cs typeface="Arial"/>
              </a:defRPr>
            </a:lvl3pPr>
            <a:lvl4pPr algn="l">
              <a:defRPr sz="2250" b="1">
                <a:solidFill>
                  <a:srgbClr val="172638"/>
                </a:solidFill>
                <a:latin typeface="Arial"/>
                <a:ea typeface="Arial"/>
                <a:cs typeface="Arial"/>
              </a:defRPr>
            </a:lvl4pPr>
            <a:lvl5pPr algn="l">
              <a:defRPr sz="2250" b="1">
                <a:solidFill>
                  <a:srgbClr val="172638"/>
                </a:solidFill>
                <a:latin typeface="Arial"/>
                <a:ea typeface="Arial"/>
                <a:cs typeface="Arial"/>
              </a:defRPr>
            </a:lvl5pPr>
            <a:lvl6pPr algn="l">
              <a:defRPr sz="2250" b="1">
                <a:solidFill>
                  <a:srgbClr val="172638"/>
                </a:solidFill>
                <a:latin typeface="Arial"/>
                <a:ea typeface="Arial"/>
                <a:cs typeface="Arial"/>
              </a:defRPr>
            </a:lvl6pPr>
            <a:lvl7pPr algn="l">
              <a:defRPr sz="2250" b="1">
                <a:solidFill>
                  <a:srgbClr val="172638"/>
                </a:solidFill>
                <a:latin typeface="Arial"/>
                <a:ea typeface="Arial"/>
                <a:cs typeface="Arial"/>
              </a:defRPr>
            </a:lvl7pPr>
            <a:lvl8pPr algn="l">
              <a:defRPr sz="2250" b="1">
                <a:solidFill>
                  <a:srgbClr val="172638"/>
                </a:solidFill>
                <a:latin typeface="Arial"/>
                <a:ea typeface="Arial"/>
                <a:cs typeface="Arial"/>
              </a:defRPr>
            </a:lvl8pPr>
            <a:lvl9pPr algn="l">
              <a:defRPr sz="2250" b="1">
                <a:solidFill>
                  <a:srgbClr val="172638"/>
                </a:solidFill>
                <a:latin typeface="Arial"/>
                <a:ea typeface="Arial"/>
                <a:cs typeface="Arial"/>
              </a:defRPr>
            </a:lvl9pPr>
          </a:lstStyle>
          <a:p xmlns:a="http://schemas.openxmlformats.org/drawingml/2006/main">
            <a:pPr algn="l">
              <a:defRPr sz="2250" b="1">
                <a:solidFill>
                  <a:srgbClr val="172638"/>
                </a:solidFill>
                <a:latin typeface="Arial"/>
                <a:ea typeface="Arial"/>
                <a:cs typeface="Arial"/>
              </a:defRPr>
            </a:pPr>
            <a:r>
              <a:rPr sz="2250" b="1">
                <a:solidFill>
                  <a:srgbClr val="172638"/>
                </a:solidFill>
                <a:latin typeface="Arial"/>
                <a:ea typeface="Arial"/>
                <a:cs typeface="Arial"/>
              </a:rPr>
              <a:t>3   Randomize outreach and measure incremental orders and cost.</a:t>
            </a:r>
          </a:p>
        </p:txBody>
      </p:sp>
      <p:sp>
        <p:nvSpPr>
          <p:cNvPr id="8" name="limitation">
            <a:extLst xmlns:a="http://schemas.openxmlformats.org/drawingml/2006/main">
              <a:ext uri="{FF2B5EF4-FFF2-40B4-BE49-F238E27FC236}">
                <a16:creationId xmlns:a16="http://schemas.microsoft.com/office/drawing/2014/main" id="{C57F348B-36A2-44C7-A8B4-63A258F0FBA8}"/>
              </a:ext>
            </a:extLst>
          </p:cNvPr>
          <p:cNvSpPr>
            <a:spLocks xmlns:a="http://schemas.openxmlformats.org/drawingml/2006/main" noGrp="1"/>
          </p:cNvSpPr>
          <p:nvPr/>
        </p:nvSpPr>
        <p:spPr>
          <a:xfrm xmlns:a="http://schemas.openxmlformats.org/drawingml/2006/main">
            <a:off x="704850" y="4848225"/>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A94842"/>
                </a:solidFill>
                <a:latin typeface="Arial"/>
                <a:ea typeface="Arial"/>
                <a:cs typeface="Arial"/>
              </a:defRPr>
            </a:defPPr>
            <a:lvl1pPr algn="l">
              <a:defRPr sz="1950" b="0">
                <a:solidFill>
                  <a:srgbClr val="A94842"/>
                </a:solidFill>
                <a:latin typeface="Arial"/>
                <a:ea typeface="Arial"/>
                <a:cs typeface="Arial"/>
              </a:defRPr>
            </a:lvl1pPr>
            <a:lvl2pPr algn="l">
              <a:defRPr sz="1950" b="0">
                <a:solidFill>
                  <a:srgbClr val="A94842"/>
                </a:solidFill>
                <a:latin typeface="Arial"/>
                <a:ea typeface="Arial"/>
                <a:cs typeface="Arial"/>
              </a:defRPr>
            </a:lvl2pPr>
            <a:lvl3pPr algn="l">
              <a:defRPr sz="1950" b="0">
                <a:solidFill>
                  <a:srgbClr val="A94842"/>
                </a:solidFill>
                <a:latin typeface="Arial"/>
                <a:ea typeface="Arial"/>
                <a:cs typeface="Arial"/>
              </a:defRPr>
            </a:lvl3pPr>
            <a:lvl4pPr algn="l">
              <a:defRPr sz="1950" b="0">
                <a:solidFill>
                  <a:srgbClr val="A94842"/>
                </a:solidFill>
                <a:latin typeface="Arial"/>
                <a:ea typeface="Arial"/>
                <a:cs typeface="Arial"/>
              </a:defRPr>
            </a:lvl4pPr>
            <a:lvl5pPr algn="l">
              <a:defRPr sz="1950" b="0">
                <a:solidFill>
                  <a:srgbClr val="A94842"/>
                </a:solidFill>
                <a:latin typeface="Arial"/>
                <a:ea typeface="Arial"/>
                <a:cs typeface="Arial"/>
              </a:defRPr>
            </a:lvl5pPr>
            <a:lvl6pPr algn="l">
              <a:defRPr sz="1950" b="0">
                <a:solidFill>
                  <a:srgbClr val="A94842"/>
                </a:solidFill>
                <a:latin typeface="Arial"/>
                <a:ea typeface="Arial"/>
                <a:cs typeface="Arial"/>
              </a:defRPr>
            </a:lvl6pPr>
            <a:lvl7pPr algn="l">
              <a:defRPr sz="1950" b="0">
                <a:solidFill>
                  <a:srgbClr val="A94842"/>
                </a:solidFill>
                <a:latin typeface="Arial"/>
                <a:ea typeface="Arial"/>
                <a:cs typeface="Arial"/>
              </a:defRPr>
            </a:lvl7pPr>
            <a:lvl8pPr algn="l">
              <a:defRPr sz="1950" b="0">
                <a:solidFill>
                  <a:srgbClr val="A94842"/>
                </a:solidFill>
                <a:latin typeface="Arial"/>
                <a:ea typeface="Arial"/>
                <a:cs typeface="Arial"/>
              </a:defRPr>
            </a:lvl8pPr>
            <a:lvl9pPr algn="l">
              <a:defRPr sz="1950" b="0">
                <a:solidFill>
                  <a:srgbClr val="A94842"/>
                </a:solidFill>
                <a:latin typeface="Arial"/>
                <a:ea typeface="Arial"/>
                <a:cs typeface="Arial"/>
              </a:defRPr>
            </a:lvl9pPr>
          </a:lstStyle>
          <a:p xmlns:a="http://schemas.openxmlformats.org/drawingml/2006/main">
            <a:pPr algn="l">
              <a:defRPr sz="1950" b="0">
                <a:solidFill>
                  <a:srgbClr val="A94842"/>
                </a:solidFill>
                <a:latin typeface="Arial"/>
                <a:ea typeface="Arial"/>
                <a:cs typeface="Arial"/>
              </a:defRPr>
            </a:pPr>
            <a:r>
              <a:rPr sz="1950" b="0">
                <a:solidFill>
                  <a:srgbClr val="A94842"/>
                </a:solidFill>
                <a:latin typeface="Arial"/>
                <a:ea typeface="Arial"/>
                <a:cs typeface="Arial"/>
              </a:rPr>
              <a:t>Historical Olist approvals do not reveal today's behavior, full purchase history or treatment effects.</a:t>
            </a:r>
          </a:p>
        </p:txBody>
      </p:sp>
    </p:spTree>
    <p:extLst>
      <p:ext uri="{BB962C8B-B14F-4D97-AF65-F5344CB8AC3E}">
        <p14:creationId xmlns:p14="http://schemas.microsoft.com/office/powerpoint/2010/main" val="460863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2026-10-25T04:45:32.6800000Z</dcterms:created>
  <dcterms:modified xsi:type="dcterms:W3CDTF">2026-10-25T04:45:32.6800000Z</dcterms:modified>
</coreProperties>
</file>